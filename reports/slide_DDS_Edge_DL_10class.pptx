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 macro-F1 (epoch tốt nhất)</c:v>
                </c:pt>
              </c:strCache>
            </c:strRef>
          </c:tx>
          <c:spPr>
            <a:solidFill>
              <a:srgbClr val="C7D5F3"/>
            </a:solidFill>
          </c:spPr>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0.914</c:v>
                </c:pt>
                <c:pt idx="1">
                  <c:v>0.918</c:v>
                </c:pt>
                <c:pt idx="2">
                  <c:v>0.911</c:v>
                </c:pt>
                <c:pt idx="3">
                  <c:v>0.94</c:v>
                </c:pt>
              </c:numCache>
            </c:numRef>
          </c:val>
        </c:ser>
        <c:ser>
          <c:idx val="1"/>
          <c:order val="1"/>
          <c:tx>
            <c:strRef>
              <c:f>Sheet1!$C$1</c:f>
              <c:strCache>
                <c:ptCount val="1"/>
                <c:pt idx="0">
                  <c:v>Test macro-F1</c:v>
                </c:pt>
              </c:strCache>
            </c:strRef>
          </c:tx>
          <c:spPr>
            <a:solidFill>
              <a:srgbClr val="3B6FF0"/>
            </a:solidFill>
          </c:spPr>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0.864</c:v>
                </c:pt>
                <c:pt idx="1">
                  <c:v>0.844</c:v>
                </c:pt>
                <c:pt idx="2">
                  <c:v>0.826</c:v>
                </c:pt>
                <c:pt idx="3">
                  <c:v>0.851</c:v>
                </c:pt>
              </c:numCache>
            </c:numRef>
          </c:val>
        </c:ser>
        <c:dLbls>
          <c:numFmt formatCode="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400">
                <a:solidFill>
                  <a:srgbClr val="1E2A4A"/>
                </a:solidFill>
                <a:latin typeface="Arial"/>
              </a:defRPr>
            </a:pPr>
          </a:p>
        </c:txPr>
        <c:crossAx val="-2113994440"/>
        <c:crosses val="autoZero"/>
        <c:auto val="1"/>
        <c:lblAlgn val="ctr"/>
        <c:lblOffset val="100"/>
        <c:noMultiLvlLbl val="0"/>
      </c:catAx>
      <c:valAx>
        <c:axId val="-2113994440"/>
        <c:scaling>
          <c:max val="1.0"/>
          <c:min val="0.6"/>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1"/>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Một lần chia</c:v>
                </c:pt>
              </c:strCache>
            </c:strRef>
          </c:tx>
          <c:spPr>
            <a:solidFill>
              <a:srgbClr val="C7D5F3"/>
            </a:solidFill>
          </c:spPr>
          <c:cat>
            <c:strRef>
              <c:f>Sheet1!$A$2:$A$4</c:f>
              <c:strCache>
                <c:ptCount val="3"/>
                <c:pt idx="0">
                  <c:v>MobileNetV3-S</c:v>
                </c:pt>
                <c:pt idx="1">
                  <c:v>EfficientNet-Lite0</c:v>
                </c:pt>
                <c:pt idx="2">
                  <c:v>ResNet18</c:v>
                </c:pt>
              </c:strCache>
            </c:strRef>
          </c:cat>
          <c:val>
            <c:numRef>
              <c:f>Sheet1!$B$2:$B$4</c:f>
              <c:numCache>
                <c:formatCode>General</c:formatCode>
                <c:ptCount val="3"/>
                <c:pt idx="0">
                  <c:v>0.864</c:v>
                </c:pt>
                <c:pt idx="1">
                  <c:v>0.844</c:v>
                </c:pt>
                <c:pt idx="2">
                  <c:v>0.826</c:v>
                </c:pt>
              </c:numCache>
            </c:numRef>
          </c:val>
        </c:ser>
        <c:ser>
          <c:idx val="1"/>
          <c:order val="1"/>
          <c:tx>
            <c:strRef>
              <c:f>Sheet1!$C$1</c:f>
              <c:strCache>
                <c:ptCount val="1"/>
                <c:pt idx="0">
                  <c:v>CV 5 fold (trung bình)</c:v>
                </c:pt>
              </c:strCache>
            </c:strRef>
          </c:tx>
          <c:spPr>
            <a:solidFill>
              <a:srgbClr val="3B6FF0"/>
            </a:solidFill>
          </c:spPr>
          <c:cat>
            <c:strRef>
              <c:f>Sheet1!$A$2:$A$4</c:f>
              <c:strCache>
                <c:ptCount val="3"/>
                <c:pt idx="0">
                  <c:v>MobileNetV3-S</c:v>
                </c:pt>
                <c:pt idx="1">
                  <c:v>EfficientNet-Lite0</c:v>
                </c:pt>
                <c:pt idx="2">
                  <c:v>ResNet18</c:v>
                </c:pt>
              </c:strCache>
            </c:strRef>
          </c:cat>
          <c:val>
            <c:numRef>
              <c:f>Sheet1!$C$2:$C$4</c:f>
              <c:numCache>
                <c:formatCode>General</c:formatCode>
                <c:ptCount val="3"/>
                <c:pt idx="0">
                  <c:v>0.793</c:v>
                </c:pt>
                <c:pt idx="1">
                  <c:v>0.863</c:v>
                </c:pt>
                <c:pt idx="2">
                  <c:v>0.855</c:v>
                </c:pt>
              </c:numCache>
            </c:numRef>
          </c:val>
        </c:ser>
        <c:dLbls>
          <c:numFmt formatCode="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300">
                <a:solidFill>
                  <a:srgbClr val="1E2A4A"/>
                </a:solidFill>
                <a:latin typeface="Arial"/>
              </a:defRPr>
            </a:pPr>
          </a:p>
        </c:txPr>
        <c:crossAx val="-2113994440"/>
        <c:crosses val="autoZero"/>
        <c:auto val="1"/>
        <c:lblAlgn val="ctr"/>
        <c:lblOffset val="100"/>
        <c:noMultiLvlLbl val="0"/>
      </c:catAx>
      <c:valAx>
        <c:axId val="-2113994440"/>
        <c:scaling>
          <c:max val="1.0"/>
          <c:min val="0.6"/>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1"/>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c:v>
                </c:pt>
              </c:strCache>
            </c:strRef>
          </c:tx>
          <c:spPr>
            <a:solidFill>
              <a:srgbClr val="C7D5F3"/>
            </a:solidFill>
          </c:spPr>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0.864</c:v>
                </c:pt>
                <c:pt idx="1">
                  <c:v>0.844</c:v>
                </c:pt>
                <c:pt idx="2">
                  <c:v>0.826</c:v>
                </c:pt>
                <c:pt idx="3">
                  <c:v>0.851</c:v>
                </c:pt>
              </c:numCache>
            </c:numRef>
          </c:val>
        </c:ser>
        <c:ser>
          <c:idx val="1"/>
          <c:order val="1"/>
          <c:tx>
            <c:strRef>
              <c:f>Sheet1!$C$1</c:f>
              <c:strCache>
                <c:ptCount val="1"/>
                <c:pt idx="0">
                  <c:v>INT8</c:v>
                </c:pt>
              </c:strCache>
            </c:strRef>
          </c:tx>
          <c:spPr>
            <a:solidFill>
              <a:srgbClr val="3B6FF0"/>
            </a:solidFill>
          </c:spPr>
          <c:dPt>
            <c:idx val="0"/>
            <c:spPr>
              <a:solidFill>
                <a:srgbClr val="8E5CF0"/>
              </a:solidFill>
            </c:spPr>
          </c:dPt>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0.067</c:v>
                </c:pt>
                <c:pt idx="1">
                  <c:v>0.842</c:v>
                </c:pt>
                <c:pt idx="2">
                  <c:v>0.826</c:v>
                </c:pt>
                <c:pt idx="3">
                  <c:v>0.843</c:v>
                </c:pt>
              </c:numCache>
            </c:numRef>
          </c:val>
        </c:ser>
        <c:dLbls>
          <c:numFmt formatCode="0.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400">
                <a:solidFill>
                  <a:srgbClr val="1E2A4A"/>
                </a:solidFill>
                <a:latin typeface="Aria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2"/>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FP32</c:v>
                </c:pt>
              </c:strCache>
            </c:strRef>
          </c:tx>
          <c:spPr>
            <a:ln w="47625">
              <a:noFill/>
            </a:ln>
          </c:spPr>
          <c:marker>
            <c:symbol val="diamond"/>
            <c:size val="12"/>
            <c:spPr>
              <a:solidFill>
                <a:srgbClr val="C7D5F3"/>
              </a:solidFill>
              <a:ln>
                <a:solidFill>
                  <a:srgbClr val="FFFFFF"/>
                </a:solidFill>
              </a:ln>
            </c:spPr>
          </c:marker>
          <c:dLbls>
            <c:dLbl>
              <c:idx val="0"/>
              <c:tx>
                <c:rich>
                  <a:bodyPr/>
                  <a:lstStyle/>
                  <a:p>
                    <a:r>
                      <a:rPr sz="1100">
                        <a:solidFill>
                          <a:srgbClr val="1E2A4A"/>
                        </a:solidFill>
                        <a:latin typeface="Arial"/>
                      </a:rPr>
                      <a:t>MNv3</a:t>
                    </a:r>
                  </a:p>
                </c:rich>
              </c:tx>
              <c:dLblPos val="t"/>
              <c:showLegendKey val="0"/>
              <c:showVal val="1"/>
              <c:showCatName val="0"/>
              <c:showSerName val="0"/>
              <c:showPercent val="0"/>
              <c:showBubbleSize val="0"/>
            </c:dLbl>
            <c:dLbl>
              <c:idx val="1"/>
              <c:tx>
                <c:rich>
                  <a:bodyPr/>
                  <a:lstStyle/>
                  <a:p>
                    <a:r>
                      <a:rPr sz="1100">
                        <a:solidFill>
                          <a:srgbClr val="1E2A4A"/>
                        </a:solidFill>
                        <a:latin typeface="Arial"/>
                      </a:rPr>
                      <a:t>Eff</a:t>
                    </a:r>
                  </a:p>
                </c:rich>
              </c:tx>
              <c:dLblPos val="t"/>
              <c:showLegendKey val="0"/>
              <c:showVal val="1"/>
              <c:showCatName val="0"/>
              <c:showSerName val="0"/>
              <c:showPercent val="0"/>
              <c:showBubbleSize val="0"/>
            </c:dLbl>
            <c:dLbl>
              <c:idx val="2"/>
              <c:tx>
                <c:rich>
                  <a:bodyPr/>
                  <a:lstStyle/>
                  <a:p>
                    <a:r>
                      <a:rPr sz="1100">
                        <a:solidFill>
                          <a:srgbClr val="1E2A4A"/>
                        </a:solidFill>
                        <a:latin typeface="Arial"/>
                      </a:rPr>
                      <a:t>R18</a:t>
                    </a:r>
                  </a:p>
                </c:rich>
              </c:tx>
              <c:dLblPos val="t"/>
              <c:showLegendKey val="0"/>
              <c:showVal val="1"/>
              <c:showCatName val="0"/>
              <c:showSerName val="0"/>
              <c:showPercent val="0"/>
              <c:showBubbleSize val="0"/>
            </c:dLbl>
            <c:dLbl>
              <c:idx val="3"/>
              <c:tx>
                <c:rich>
                  <a:bodyPr/>
                  <a:lstStyle/>
                  <a:p>
                    <a:r>
                      <a:rPr sz="1100">
                        <a:solidFill>
                          <a:srgbClr val="1E2A4A"/>
                        </a:solidFill>
                        <a:latin typeface="Arial"/>
                      </a:rPr>
                      <a:t>R50</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Sheet1!$A$2:$A$5</c:f>
              <c:numCache>
                <c:formatCode>General</c:formatCode>
                <c:ptCount val="4"/>
                <c:pt idx="0">
                  <c:v>1.69</c:v>
                </c:pt>
                <c:pt idx="1">
                  <c:v>8.66</c:v>
                </c:pt>
                <c:pt idx="2">
                  <c:v>29.69</c:v>
                </c:pt>
                <c:pt idx="3">
                  <c:v>66.95</c:v>
                </c:pt>
              </c:numCache>
            </c:numRef>
          </c:xVal>
          <c:yVal>
            <c:numRef>
              <c:f>Sheet1!$B$2:$B$5</c:f>
              <c:numCache>
                <c:formatCode>General</c:formatCode>
                <c:ptCount val="4"/>
                <c:pt idx="0">
                  <c:v>0.864</c:v>
                </c:pt>
                <c:pt idx="1">
                  <c:v>0.844</c:v>
                </c:pt>
                <c:pt idx="2">
                  <c:v>0.826</c:v>
                </c:pt>
                <c:pt idx="3">
                  <c:v>0.851</c:v>
                </c:pt>
              </c:numCache>
            </c:numRef>
          </c:yVal>
          <c:smooth val="0"/>
        </c:ser>
        <c:ser>
          <c:idx val="1"/>
          <c:order val="1"/>
          <c:tx>
            <c:strRef>
              <c:f>Sheet1!$B$7</c:f>
              <c:strCache>
                <c:ptCount val="1"/>
                <c:pt idx="0">
                  <c:v>INT8</c:v>
                </c:pt>
              </c:strCache>
            </c:strRef>
          </c:tx>
          <c:spPr>
            <a:ln w="47625">
              <a:noFill/>
            </a:ln>
          </c:spPr>
          <c:marker>
            <c:symbol val="diamond"/>
            <c:size val="12"/>
            <c:spPr>
              <a:solidFill>
                <a:srgbClr val="3B6FF0"/>
              </a:solidFill>
              <a:ln>
                <a:solidFill>
                  <a:srgbClr val="FFFFFF"/>
                </a:solidFill>
              </a:ln>
            </c:spPr>
          </c:marker>
          <c:dLbls>
            <c:dLbl>
              <c:idx val="0"/>
              <c:tx>
                <c:rich>
                  <a:bodyPr/>
                  <a:lstStyle/>
                  <a:p>
                    <a:r>
                      <a:rPr sz="1100">
                        <a:solidFill>
                          <a:srgbClr val="1E2A4A"/>
                        </a:solidFill>
                        <a:latin typeface="Arial"/>
                      </a:rPr>
                      <a:t>Eff</a:t>
                    </a:r>
                  </a:p>
                </c:rich>
              </c:tx>
              <c:dLblPos val="b"/>
              <c:showLegendKey val="0"/>
              <c:showVal val="1"/>
              <c:showCatName val="0"/>
              <c:showSerName val="0"/>
              <c:showPercent val="0"/>
              <c:showBubbleSize val="0"/>
            </c:dLbl>
            <c:dLbl>
              <c:idx val="1"/>
              <c:tx>
                <c:rich>
                  <a:bodyPr/>
                  <a:lstStyle/>
                  <a:p>
                    <a:r>
                      <a:rPr sz="1100">
                        <a:solidFill>
                          <a:srgbClr val="1E2A4A"/>
                        </a:solidFill>
                        <a:latin typeface="Arial"/>
                      </a:rPr>
                      <a:t>R18</a:t>
                    </a:r>
                  </a:p>
                </c:rich>
              </c:tx>
              <c:dLblPos val="b"/>
              <c:showLegendKey val="0"/>
              <c:showVal val="1"/>
              <c:showCatName val="0"/>
              <c:showSerName val="0"/>
              <c:showPercent val="0"/>
              <c:showBubbleSize val="0"/>
            </c:dLbl>
            <c:dLbl>
              <c:idx val="2"/>
              <c:tx>
                <c:rich>
                  <a:bodyPr/>
                  <a:lstStyle/>
                  <a:p>
                    <a:r>
                      <a:rPr sz="1100">
                        <a:solidFill>
                          <a:srgbClr val="1E2A4A"/>
                        </a:solidFill>
                        <a:latin typeface="Arial"/>
                      </a:rPr>
                      <a:t>R50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Sheet1!$A$8:$A$10</c:f>
              <c:numCache>
                <c:formatCode>General</c:formatCode>
                <c:ptCount val="3"/>
                <c:pt idx="0">
                  <c:v>4.65</c:v>
                </c:pt>
                <c:pt idx="1">
                  <c:v>9.63</c:v>
                </c:pt>
                <c:pt idx="2">
                  <c:v>21.76</c:v>
                </c:pt>
              </c:numCache>
            </c:numRef>
          </c:xVal>
          <c:yVal>
            <c:numRef>
              <c:f>Sheet1!$B$8:$B$10</c:f>
              <c:numCache>
                <c:formatCode>General</c:formatCode>
                <c:ptCount val="3"/>
                <c:pt idx="0">
                  <c:v>0.842</c:v>
                </c:pt>
                <c:pt idx="1">
                  <c:v>0.826</c:v>
                </c:pt>
                <c:pt idx="2">
                  <c:v>0.843</c:v>
                </c:pt>
              </c:numCache>
            </c:numRef>
          </c:yVal>
          <c:smooth val="0"/>
        </c:ser>
        <c:axId val="-2128940872"/>
        <c:axId val="-2129643912"/>
      </c:scatterChart>
      <c:valAx>
        <c:axId val="-2128940872"/>
        <c:scaling>
          <c:orientation val="minMax"/>
          <c:max val="70.0"/>
          <c:min val="0.0"/>
        </c:scaling>
        <c:delete val="0"/>
        <c:axPos val="b"/>
        <c:majorGridlines>
          <c:spPr>
            <a:ln>
              <a:solidFill>
                <a:srgbClr val="EEF2FA"/>
              </a:solidFill>
            </a:ln>
          </c:spPr>
        </c:majorGridlines>
        <c:title>
          <c:tx>
            <c:rich>
              <a:bodyPr/>
              <a:lstStyle/>
              <a:p>
                <a:r>
                  <a:rPr sz="1300" b="0">
                    <a:solidFill>
                      <a:srgbClr val="56648A"/>
                    </a:solidFill>
                    <a:latin typeface="Arial"/>
                  </a:rPr>
                  <a:t>Độ trễ một ảnh trên CPU (ms), càng thấp càng nhanh</a:t>
                </a:r>
              </a:p>
            </c:rich>
          </c:tx>
          <c:layout/>
          <c:overlay val="0"/>
        </c:title>
        <c:numFmt formatCode="General" sourceLinked="1"/>
        <c:majorTickMark val="out"/>
        <c:minorTickMark val="none"/>
        <c:tickLblPos val="nextTo"/>
        <c:spPr>
          <a:ln>
            <a:solidFill>
              <a:srgbClr val="E6ECF7"/>
            </a:solidFill>
          </a:ln>
        </c:spPr>
        <c:txPr>
          <a:bodyPr/>
          <a:lstStyle/>
          <a:p>
            <a:pPr>
              <a:defRPr sz="1200">
                <a:solidFill>
                  <a:srgbClr val="8D99B8"/>
                </a:solidFill>
                <a:latin typeface="Arial"/>
              </a:defRPr>
            </a:pPr>
          </a:p>
        </c:txPr>
        <c:crossAx val="-2129643912"/>
        <c:crosses val="autoZero"/>
        <c:crossBetween val="midCat"/>
        <c:majorUnit val="10.0"/>
      </c:valAx>
      <c:valAx>
        <c:axId val="-2129643912"/>
        <c:scaling>
          <c:orientation val="minMax"/>
          <c:max val="0.9"/>
          <c:min val="0.8"/>
        </c:scaling>
        <c:delete val="0"/>
        <c:axPos val="l"/>
        <c:majorGridlines>
          <c:spPr>
            <a:ln>
              <a:solidFill>
                <a:srgbClr val="EEF2FA"/>
              </a:solidFill>
            </a:ln>
          </c:spPr>
        </c:majorGridlines>
        <c:title>
          <c:tx>
            <c:rich>
              <a:bodyPr/>
              <a:lstStyle/>
              <a:p>
                <a:r>
                  <a:rPr sz="1300" b="0">
                    <a:solidFill>
                      <a:srgbClr val="56648A"/>
                    </a:solidFill>
                    <a:latin typeface="Arial"/>
                  </a:rPr>
                  <a:t>Test macro-F1</a:t>
                </a:r>
              </a:p>
            </c:rich>
          </c:tx>
          <c:layout/>
          <c:overlay val="0"/>
        </c:title>
        <c:numFmt formatCode="0.00" sourceLinked="0"/>
        <c:majorTickMark val="out"/>
        <c:minorTickMark val="none"/>
        <c:tickLblPos val="nextTo"/>
        <c:spPr>
          <a:ln>
            <a:solidFill>
              <a:srgbClr val="E6ECF7"/>
            </a:solidFill>
          </a:ln>
        </c:spPr>
        <c:txPr>
          <a:bodyPr/>
          <a:lstStyle/>
          <a:p>
            <a:pPr>
              <a:defRPr sz="1200">
                <a:solidFill>
                  <a:srgbClr val="8D99B8"/>
                </a:solidFill>
                <a:latin typeface="Arial"/>
              </a:defRPr>
            </a:pPr>
          </a:p>
        </c:txPr>
        <c:crossAx val="-2128940872"/>
        <c:crosses val="autoZero"/>
        <c:crossBetween val="midCat"/>
        <c:majorUnit val="0.02"/>
      </c:valAx>
    </c:plotArea>
    <c:legend>
      <c:legendPos val="b"/>
      <c:layout/>
      <c:overlay val="0"/>
      <c:txPr>
        <a:bodyPr/>
        <a:lstStyle/>
        <a:p>
          <a:pPr>
            <a:defRPr sz="1300">
              <a:solidFill>
                <a:srgbClr val="56648A"/>
              </a:solidFill>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thường (cloud): gửi ảnh lên máy chủ. Edge AI: mô hình chạy ngay trên thiết bị trong xe. Edge hợp lý vì cảnh báo cần kịp thời, video mặt tài xế nhạy cảm ở lại thiết bị, và xe có lúc mất sóng. Cái giá: chip trong xe ít bộ nhớ, tính toán và điện nên mô hình phải nhỏ và nhanh.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ảnh 640x480, 26 tài xế, mỗi tài xế có đủ 10 lớp. Mười lớp gốc gần cân bằng (tỉ lệ lớp lớn nhất/nhỏ nhất là 1,31), nên không cần xử lý mất cân bằng. Ban đầu em gộp còn 6 nhóm nhưng việc gộp làm lớp phone chiếm 41,6% và gây mất cân bằng, nên em chuyển sang 10 lớp.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giữ cố định cho mọi mô hình để so sánh công bằng. Epoch được chọn theo val macro-F1, còn test chỉ chạy một lần với checkpoint đã chọn. Mô hình luôn đoán lớp đông nhất chỉ đạt macro-F1 0,021.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 luôn cao hơn test, chênh 0,05 đến 0,09, và mô hình càng lớn thì chênh càng nhiều. Val chỉ có 4 tài xế và được dùng để chọn epoch nên lạc quan; không dùng val để xếp hạng mô hình.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một lần chia, MobileNetV3-Small cao nhất (0,864). Nhưng cross-validation 5 fold theo tài xế cho thấy nó chỉ 0,793 ± 0,057, thấp hơn EfficientNet-Lite0 (0,863 ± 0,032) ở cả 5/5 fold và ResNet18 (0,855 ± 0,039) ở 4/5 fold. EfficientNet-Lite0 và ResNet18 không phân biệt được. Bài học: xếp hạng từ một lần chia có thể bị đảo ngược.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EfficientNet-Lite0 em thử augmentation mạnh hơn (+0,014) và ảnh độ phân giải gốc 320x240 (+0,011, tốn thêm 1,6 lần MACs). Cả hai nằm trong nhiễu khoảng 0,03 nên em không kết luận là cải thiện thật.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huấn luyện thường quá lớn cho chip edge nên phải thu nhỏ qua hai bước: chọn kiến trúc nhỏ hơn, rồi lượng tử hoá từ số thực 32 bit sang số nguyên 8 bit. Bước sau gây sai số làm tròn, nhỏ ở từng lớp nhưng cộng dồn.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FP32 xuất qua ONNX cho điểm giống lúc huấn luyện nên đường ống đúng. Sau INT8, EfficientNet-Lite0, ResNet18 và ResNet50 mất không quá 0,008; MobileNetV3-Small sập từ 0,864 xuống 0,067. Em đã chẩn đoán: trọng số lượng tử hoá được, nguyên nhân là lượng tử hoá activation của các lớp Conv; cắt percentile 99,5 chỉ cứu lên khoảng 0,5. Chưa thử QAT.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điểm là một mô hình ở một độ chính xác số học. Càng lên cao càng chính xác, càng sang trái càng nhanh. EfficientNet-Lite0 INT8 (4,7 ms, 0,842) nằm ở góc trên bên trái trong các mô hình qua được INT8; nhanh hơn 4,6 lần ResNet50 INT8 ở độ chính xác tương đương. MobileNetV3-Small INT8 nhanh nhưng sập.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Đạt được: giao thức đánh giá trung thực, cross-validation, EfficientNet-Lite0 vừa chính xác nhất vừa giữ nguyên độ chính xác sau INT8. Hạn chế: CV lệch 0,03 đến 0,06, tốc độ mới đo trên CPU máy tính, MobileNetV3-Small không chịu được INT8, lớp c9 còn yếu và hay bị nhầm với c8. Hướng phát triển: CV cho ResNet50 và nhiều seed, QAT, đo trên chip edge thật, xem lại nhãn c9.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3" name="Rounded Rectangle 2"/>
          <p:cNvSpPr/>
          <p:nvPr/>
        </p:nvSpPr>
        <p:spPr>
          <a:xfrm>
            <a:off x="640080" y="822960"/>
            <a:ext cx="10908792" cy="5212080"/>
          </a:xfrm>
          <a:prstGeom prst="roundRect">
            <a:avLst>
              <a:gd name="adj" fmla="val 4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011680"/>
            <a:ext cx="5120640" cy="2011680"/>
          </a:xfrm>
          <a:prstGeom prst="rect">
            <a:avLst/>
          </a:prstGeom>
          <a:noFill/>
        </p:spPr>
        <p:txBody>
          <a:bodyPr wrap="square" lIns="0" rIns="0" tIns="0" bIns="0" anchor="ctr">
            <a:spAutoFit/>
          </a:bodyPr>
          <a:lstStyle/>
          <a:p>
            <a:pPr algn="l">
              <a:spcAft>
                <a:spcPts val="600"/>
              </a:spcAft>
            </a:pPr>
            <a:r>
              <a:rPr sz="4400" b="1" i="0">
                <a:solidFill>
                  <a:srgbClr val="1E2A4A"/>
                </a:solidFill>
                <a:latin typeface="Arial"/>
              </a:rPr>
              <a:t>Nhận diện tài xế mất tập trung</a:t>
            </a:r>
          </a:p>
        </p:txBody>
      </p:sp>
      <p:sp>
        <p:nvSpPr>
          <p:cNvPr id="5" name="TextBox 4"/>
          <p:cNvSpPr txBox="1"/>
          <p:nvPr/>
        </p:nvSpPr>
        <p:spPr>
          <a:xfrm>
            <a:off x="1188720" y="4206240"/>
            <a:ext cx="5120640" cy="548640"/>
          </a:xfrm>
          <a:prstGeom prst="rect">
            <a:avLst/>
          </a:prstGeom>
          <a:noFill/>
        </p:spPr>
        <p:txBody>
          <a:bodyPr wrap="square" lIns="0" rIns="0" tIns="0" bIns="0" anchor="t">
            <a:spAutoFit/>
          </a:bodyPr>
          <a:lstStyle/>
          <a:p>
            <a:pPr algn="l">
              <a:spcAft>
                <a:spcPts val="600"/>
              </a:spcAft>
            </a:pPr>
            <a:r>
              <a:rPr sz="2200" b="0" i="0">
                <a:solidFill>
                  <a:srgbClr val="3B6FF0"/>
                </a:solidFill>
                <a:latin typeface="Arial"/>
              </a:rPr>
              <a:t>Presenter: Huy Tran Gia</a:t>
            </a:r>
          </a:p>
        </p:txBody>
      </p:sp>
      <p:sp>
        <p:nvSpPr>
          <p:cNvPr id="6" name="Rounded Rectangle 5"/>
          <p:cNvSpPr/>
          <p:nvPr/>
        </p:nvSpPr>
        <p:spPr>
          <a:xfrm>
            <a:off x="7178040" y="1783080"/>
            <a:ext cx="3840480" cy="3383280"/>
          </a:xfrm>
          <a:prstGeom prst="roundRect">
            <a:avLst>
              <a:gd name="adj" fmla="val 6000"/>
            </a:avLst>
          </a:prstGeom>
          <a:solidFill>
            <a:srgbClr val="D5E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01_Picture_2.jpg"/>
          <p:cNvPicPr>
            <a:picLocks noChangeAspect="1"/>
          </p:cNvPicPr>
          <p:nvPr/>
        </p:nvPicPr>
        <p:blipFill>
          <a:blip r:embed="rId3"/>
          <a:stretch>
            <a:fillRect/>
          </a:stretch>
        </p:blipFill>
        <p:spPr>
          <a:xfrm>
            <a:off x="6812280" y="1463040"/>
            <a:ext cx="3840480" cy="3383280"/>
          </a:xfrm>
          <a:prstGeom prst="roundRect">
            <a:avLst>
              <a:gd name="adj" fmla="val 6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Bài toán</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54480"/>
            <a:ext cx="4846320" cy="44805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011680"/>
            <a:ext cx="4023360" cy="3566160"/>
          </a:xfrm>
          <a:prstGeom prst="rect">
            <a:avLst/>
          </a:prstGeom>
          <a:noFill/>
        </p:spPr>
        <p:txBody>
          <a:bodyPr wrap="square" lIns="0" rIns="0" tIns="0" bIns="0" anchor="t">
            <a:spAutoFit/>
          </a:bodyPr>
          <a:lstStyle/>
          <a:p>
            <a:pPr algn="l">
              <a:spcAft>
                <a:spcPts val="2200"/>
              </a:spcAft>
            </a:pPr>
            <a:r>
              <a:rPr sz="2600" b="1" i="0">
                <a:solidFill>
                  <a:srgbClr val="1E2A4A"/>
                </a:solidFill>
                <a:latin typeface="Arial"/>
              </a:rPr>
              <a:t>Từ một ảnh camera trong xe, phân loại tài xế đang làm gì.</a:t>
            </a:r>
          </a:p>
          <a:p>
            <a:pPr algn="l">
              <a:spcAft>
                <a:spcPts val="2200"/>
              </a:spcAft>
            </a:pPr>
            <a:r>
              <a:rPr sz="1900" b="0" i="0">
                <a:solidFill>
                  <a:srgbClr val="56648A"/>
                </a:solidFill>
                <a:latin typeface="Arial"/>
              </a:rPr>
              <a:t>Mô hình phải chạy được trên thiết bị edge: nhỏ, nhanh, tiết kiệm bộ nhớ.</a:t>
            </a:r>
          </a:p>
        </p:txBody>
      </p:sp>
      <p:sp>
        <p:nvSpPr>
          <p:cNvPr id="6" name="Rounded Rectangle 5"/>
          <p:cNvSpPr/>
          <p:nvPr/>
        </p:nvSpPr>
        <p:spPr>
          <a:xfrm>
            <a:off x="5943600" y="1554480"/>
            <a:ext cx="5422392" cy="44805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02_CloudVsEdge.jpg"/>
          <p:cNvPicPr>
            <a:picLocks noChangeAspect="1"/>
          </p:cNvPicPr>
          <p:nvPr/>
        </p:nvPicPr>
        <p:blipFill>
          <a:blip r:embed="rId3"/>
          <a:stretch>
            <a:fillRect/>
          </a:stretch>
        </p:blipFill>
        <p:spPr>
          <a:xfrm>
            <a:off x="6126480" y="2606040"/>
            <a:ext cx="5056632" cy="191462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Dữ liệu: State Farm Distracted Driver</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00200"/>
            <a:ext cx="2468880" cy="640080"/>
          </a:xfrm>
          <a:prstGeom prst="rect">
            <a:avLst/>
          </a:prstGeom>
          <a:noFill/>
        </p:spPr>
        <p:txBody>
          <a:bodyPr wrap="square" lIns="0" rIns="0" tIns="0" bIns="0" anchor="ctr">
            <a:spAutoFit/>
          </a:bodyPr>
          <a:lstStyle/>
          <a:p>
            <a:pPr algn="ctr">
              <a:spcAft>
                <a:spcPts val="600"/>
              </a:spcAft>
            </a:pPr>
            <a:r>
              <a:rPr sz="3200" b="1" i="0">
                <a:solidFill>
                  <a:srgbClr val="3B6FF0"/>
                </a:solidFill>
                <a:latin typeface="Arial"/>
              </a:rPr>
              <a:t>22.424</a:t>
            </a:r>
          </a:p>
        </p:txBody>
      </p:sp>
      <p:sp>
        <p:nvSpPr>
          <p:cNvPr id="6" name="TextBox 5"/>
          <p:cNvSpPr txBox="1"/>
          <p:nvPr/>
        </p:nvSpPr>
        <p:spPr>
          <a:xfrm>
            <a:off x="82296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ảnh có nhãn</a:t>
            </a:r>
          </a:p>
        </p:txBody>
      </p:sp>
      <p:sp>
        <p:nvSpPr>
          <p:cNvPr id="7" name="Rounded Rectangle 6"/>
          <p:cNvSpPr/>
          <p:nvPr/>
        </p:nvSpPr>
        <p:spPr>
          <a:xfrm>
            <a:off x="352044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600200"/>
            <a:ext cx="2468880" cy="640080"/>
          </a:xfrm>
          <a:prstGeom prst="rect">
            <a:avLst/>
          </a:prstGeom>
          <a:noFill/>
        </p:spPr>
        <p:txBody>
          <a:bodyPr wrap="square" lIns="0" rIns="0" tIns="0" bIns="0" anchor="ctr">
            <a:spAutoFit/>
          </a:bodyPr>
          <a:lstStyle/>
          <a:p>
            <a:pPr algn="ctr">
              <a:spcAft>
                <a:spcPts val="600"/>
              </a:spcAft>
            </a:pPr>
            <a:r>
              <a:rPr sz="3200" b="1" i="0">
                <a:solidFill>
                  <a:srgbClr val="0E9AC4"/>
                </a:solidFill>
                <a:latin typeface="Arial"/>
              </a:rPr>
              <a:t>26</a:t>
            </a:r>
          </a:p>
        </p:txBody>
      </p:sp>
      <p:sp>
        <p:nvSpPr>
          <p:cNvPr id="9" name="TextBox 8"/>
          <p:cNvSpPr txBox="1"/>
          <p:nvPr/>
        </p:nvSpPr>
        <p:spPr>
          <a:xfrm>
            <a:off x="352044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tài xế</a:t>
            </a:r>
          </a:p>
        </p:txBody>
      </p:sp>
      <p:sp>
        <p:nvSpPr>
          <p:cNvPr id="10" name="Rounded Rectangle 9"/>
          <p:cNvSpPr/>
          <p:nvPr/>
        </p:nvSpPr>
        <p:spPr>
          <a:xfrm>
            <a:off x="621792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600200"/>
            <a:ext cx="2468880" cy="640080"/>
          </a:xfrm>
          <a:prstGeom prst="rect">
            <a:avLst/>
          </a:prstGeom>
          <a:noFill/>
        </p:spPr>
        <p:txBody>
          <a:bodyPr wrap="square" lIns="0" rIns="0" tIns="0" bIns="0" anchor="ctr">
            <a:spAutoFit/>
          </a:bodyPr>
          <a:lstStyle/>
          <a:p>
            <a:pPr algn="ctr">
              <a:spcAft>
                <a:spcPts val="600"/>
              </a:spcAft>
            </a:pPr>
            <a:r>
              <a:rPr sz="3200" b="1" i="0">
                <a:solidFill>
                  <a:srgbClr val="5B5CE0"/>
                </a:solidFill>
                <a:latin typeface="Arial"/>
              </a:rPr>
              <a:t>10</a:t>
            </a:r>
          </a:p>
        </p:txBody>
      </p:sp>
      <p:sp>
        <p:nvSpPr>
          <p:cNvPr id="12" name="TextBox 11"/>
          <p:cNvSpPr txBox="1"/>
          <p:nvPr/>
        </p:nvSpPr>
        <p:spPr>
          <a:xfrm>
            <a:off x="621792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lớp hành vi</a:t>
            </a:r>
          </a:p>
        </p:txBody>
      </p:sp>
      <p:sp>
        <p:nvSpPr>
          <p:cNvPr id="13" name="Rounded Rectangle 12"/>
          <p:cNvSpPr/>
          <p:nvPr/>
        </p:nvSpPr>
        <p:spPr>
          <a:xfrm>
            <a:off x="891540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600200"/>
            <a:ext cx="2468880" cy="640080"/>
          </a:xfrm>
          <a:prstGeom prst="rect">
            <a:avLst/>
          </a:prstGeom>
          <a:noFill/>
        </p:spPr>
        <p:txBody>
          <a:bodyPr wrap="square" lIns="0" rIns="0" tIns="0" bIns="0" anchor="ctr">
            <a:spAutoFit/>
          </a:bodyPr>
          <a:lstStyle/>
          <a:p>
            <a:pPr algn="ctr">
              <a:spcAft>
                <a:spcPts val="600"/>
              </a:spcAft>
            </a:pPr>
            <a:r>
              <a:rPr sz="3200" b="1" i="0">
                <a:solidFill>
                  <a:srgbClr val="8E5CF0"/>
                </a:solidFill>
                <a:latin typeface="Arial"/>
              </a:rPr>
              <a:t>640×480</a:t>
            </a:r>
          </a:p>
        </p:txBody>
      </p:sp>
      <p:sp>
        <p:nvSpPr>
          <p:cNvPr id="15" name="TextBox 14"/>
          <p:cNvSpPr txBox="1"/>
          <p:nvPr/>
        </p:nvSpPr>
        <p:spPr>
          <a:xfrm>
            <a:off x="891540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ảnh RGB, JPEG</a:t>
            </a:r>
          </a:p>
        </p:txBody>
      </p:sp>
      <p:sp>
        <p:nvSpPr>
          <p:cNvPr id="16" name="Rounded Rectangle 15"/>
          <p:cNvSpPr/>
          <p:nvPr/>
        </p:nvSpPr>
        <p:spPr>
          <a:xfrm>
            <a:off x="822960" y="2926080"/>
            <a:ext cx="6949440" cy="3108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03_Picture_18.jpg"/>
          <p:cNvPicPr>
            <a:picLocks noChangeAspect="1"/>
          </p:cNvPicPr>
          <p:nvPr/>
        </p:nvPicPr>
        <p:blipFill>
          <a:blip r:embed="rId3"/>
          <a:stretch>
            <a:fillRect/>
          </a:stretch>
        </p:blipFill>
        <p:spPr>
          <a:xfrm>
            <a:off x="1051560" y="3520440"/>
            <a:ext cx="6492240" cy="1947672"/>
          </a:xfrm>
          <a:prstGeom prst="roundRect">
            <a:avLst>
              <a:gd name="adj" fmla="val 3000"/>
            </a:avLst>
          </a:prstGeom>
        </p:spPr>
      </p:pic>
      <p:sp>
        <p:nvSpPr>
          <p:cNvPr id="18" name="Rounded Rectangle 17"/>
          <p:cNvSpPr/>
          <p:nvPr/>
        </p:nvSpPr>
        <p:spPr>
          <a:xfrm>
            <a:off x="8046720" y="2926080"/>
            <a:ext cx="3319272" cy="310896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108960"/>
            <a:ext cx="2743200" cy="365760"/>
          </a:xfrm>
          <a:prstGeom prst="rect">
            <a:avLst/>
          </a:prstGeom>
          <a:noFill/>
        </p:spPr>
        <p:txBody>
          <a:bodyPr wrap="square" lIns="0" rIns="0" tIns="0" bIns="0" anchor="t">
            <a:spAutoFit/>
          </a:bodyPr>
          <a:lstStyle/>
          <a:p>
            <a:pPr algn="l">
              <a:spcAft>
                <a:spcPts val="600"/>
              </a:spcAft>
            </a:pPr>
            <a:r>
              <a:rPr sz="1600" b="1" i="0">
                <a:solidFill>
                  <a:srgbClr val="3B6FF0"/>
                </a:solidFill>
                <a:latin typeface="Arial"/>
              </a:rPr>
              <a:t>Mười lớp, gần cân bằng</a:t>
            </a:r>
          </a:p>
        </p:txBody>
      </p:sp>
      <p:sp>
        <p:nvSpPr>
          <p:cNvPr id="20" name="TextBox 19"/>
          <p:cNvSpPr txBox="1"/>
          <p:nvPr/>
        </p:nvSpPr>
        <p:spPr>
          <a:xfrm>
            <a:off x="8366760" y="3547872"/>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c0</a:t>
            </a:r>
          </a:p>
        </p:txBody>
      </p:sp>
      <p:sp>
        <p:nvSpPr>
          <p:cNvPr id="21" name="TextBox 20"/>
          <p:cNvSpPr txBox="1"/>
          <p:nvPr/>
        </p:nvSpPr>
        <p:spPr>
          <a:xfrm>
            <a:off x="8778240" y="3547872"/>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lái xe an toàn</a:t>
            </a:r>
          </a:p>
        </p:txBody>
      </p:sp>
      <p:sp>
        <p:nvSpPr>
          <p:cNvPr id="22" name="TextBox 21"/>
          <p:cNvSpPr txBox="1"/>
          <p:nvPr/>
        </p:nvSpPr>
        <p:spPr>
          <a:xfrm>
            <a:off x="8366760" y="3790187"/>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c1</a:t>
            </a:r>
          </a:p>
        </p:txBody>
      </p:sp>
      <p:sp>
        <p:nvSpPr>
          <p:cNvPr id="23" name="TextBox 22"/>
          <p:cNvSpPr txBox="1"/>
          <p:nvPr/>
        </p:nvSpPr>
        <p:spPr>
          <a:xfrm>
            <a:off x="8778240" y="3790187"/>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nhắn tin, tay phải</a:t>
            </a:r>
          </a:p>
        </p:txBody>
      </p:sp>
      <p:sp>
        <p:nvSpPr>
          <p:cNvPr id="24" name="TextBox 23"/>
          <p:cNvSpPr txBox="1"/>
          <p:nvPr/>
        </p:nvSpPr>
        <p:spPr>
          <a:xfrm>
            <a:off x="8366760" y="4032504"/>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c2</a:t>
            </a:r>
          </a:p>
        </p:txBody>
      </p:sp>
      <p:sp>
        <p:nvSpPr>
          <p:cNvPr id="25" name="TextBox 24"/>
          <p:cNvSpPr txBox="1"/>
          <p:nvPr/>
        </p:nvSpPr>
        <p:spPr>
          <a:xfrm>
            <a:off x="8778240" y="4032504"/>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gọi điện, tay phải</a:t>
            </a:r>
          </a:p>
        </p:txBody>
      </p:sp>
      <p:sp>
        <p:nvSpPr>
          <p:cNvPr id="26" name="TextBox 25"/>
          <p:cNvSpPr txBox="1"/>
          <p:nvPr/>
        </p:nvSpPr>
        <p:spPr>
          <a:xfrm>
            <a:off x="8366760" y="4274820"/>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c3</a:t>
            </a:r>
          </a:p>
        </p:txBody>
      </p:sp>
      <p:sp>
        <p:nvSpPr>
          <p:cNvPr id="27" name="TextBox 26"/>
          <p:cNvSpPr txBox="1"/>
          <p:nvPr/>
        </p:nvSpPr>
        <p:spPr>
          <a:xfrm>
            <a:off x="8778240" y="4274820"/>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nhắn tin, tay trái</a:t>
            </a:r>
          </a:p>
        </p:txBody>
      </p:sp>
      <p:sp>
        <p:nvSpPr>
          <p:cNvPr id="28" name="TextBox 27"/>
          <p:cNvSpPr txBox="1"/>
          <p:nvPr/>
        </p:nvSpPr>
        <p:spPr>
          <a:xfrm>
            <a:off x="8366760" y="4517136"/>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c4</a:t>
            </a:r>
          </a:p>
        </p:txBody>
      </p:sp>
      <p:sp>
        <p:nvSpPr>
          <p:cNvPr id="29" name="TextBox 28"/>
          <p:cNvSpPr txBox="1"/>
          <p:nvPr/>
        </p:nvSpPr>
        <p:spPr>
          <a:xfrm>
            <a:off x="8778240" y="4517136"/>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gọi điện, tay trái</a:t>
            </a:r>
          </a:p>
        </p:txBody>
      </p:sp>
      <p:sp>
        <p:nvSpPr>
          <p:cNvPr id="30" name="TextBox 29"/>
          <p:cNvSpPr txBox="1"/>
          <p:nvPr/>
        </p:nvSpPr>
        <p:spPr>
          <a:xfrm>
            <a:off x="8366760" y="4759452"/>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c5</a:t>
            </a:r>
          </a:p>
        </p:txBody>
      </p:sp>
      <p:sp>
        <p:nvSpPr>
          <p:cNvPr id="31" name="TextBox 30"/>
          <p:cNvSpPr txBox="1"/>
          <p:nvPr/>
        </p:nvSpPr>
        <p:spPr>
          <a:xfrm>
            <a:off x="8778240" y="4759452"/>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thao tác radio</a:t>
            </a:r>
          </a:p>
        </p:txBody>
      </p:sp>
      <p:sp>
        <p:nvSpPr>
          <p:cNvPr id="32" name="TextBox 31"/>
          <p:cNvSpPr txBox="1"/>
          <p:nvPr/>
        </p:nvSpPr>
        <p:spPr>
          <a:xfrm>
            <a:off x="8366760" y="5001768"/>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c6</a:t>
            </a:r>
          </a:p>
        </p:txBody>
      </p:sp>
      <p:sp>
        <p:nvSpPr>
          <p:cNvPr id="33" name="TextBox 32"/>
          <p:cNvSpPr txBox="1"/>
          <p:nvPr/>
        </p:nvSpPr>
        <p:spPr>
          <a:xfrm>
            <a:off x="8778240" y="5001768"/>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uống nước</a:t>
            </a:r>
          </a:p>
        </p:txBody>
      </p:sp>
      <p:sp>
        <p:nvSpPr>
          <p:cNvPr id="34" name="TextBox 33"/>
          <p:cNvSpPr txBox="1"/>
          <p:nvPr/>
        </p:nvSpPr>
        <p:spPr>
          <a:xfrm>
            <a:off x="8366760" y="5244083"/>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c7</a:t>
            </a:r>
          </a:p>
        </p:txBody>
      </p:sp>
      <p:sp>
        <p:nvSpPr>
          <p:cNvPr id="35" name="TextBox 34"/>
          <p:cNvSpPr txBox="1"/>
          <p:nvPr/>
        </p:nvSpPr>
        <p:spPr>
          <a:xfrm>
            <a:off x="8778240" y="5244083"/>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với ra sau</a:t>
            </a:r>
          </a:p>
        </p:txBody>
      </p:sp>
      <p:sp>
        <p:nvSpPr>
          <p:cNvPr id="36" name="TextBox 35"/>
          <p:cNvSpPr txBox="1"/>
          <p:nvPr/>
        </p:nvSpPr>
        <p:spPr>
          <a:xfrm>
            <a:off x="8366760" y="5486400"/>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c8</a:t>
            </a:r>
          </a:p>
        </p:txBody>
      </p:sp>
      <p:sp>
        <p:nvSpPr>
          <p:cNvPr id="37" name="TextBox 36"/>
          <p:cNvSpPr txBox="1"/>
          <p:nvPr/>
        </p:nvSpPr>
        <p:spPr>
          <a:xfrm>
            <a:off x="8778240" y="5486400"/>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chải tóc, trang điểm</a:t>
            </a:r>
          </a:p>
        </p:txBody>
      </p:sp>
      <p:sp>
        <p:nvSpPr>
          <p:cNvPr id="38" name="TextBox 37"/>
          <p:cNvSpPr txBox="1"/>
          <p:nvPr/>
        </p:nvSpPr>
        <p:spPr>
          <a:xfrm>
            <a:off x="8366760" y="5728716"/>
            <a:ext cx="411480" cy="237744"/>
          </a:xfrm>
          <a:prstGeom prst="rect">
            <a:avLst/>
          </a:prstGeom>
          <a:noFill/>
        </p:spPr>
        <p:txBody>
          <a:bodyPr wrap="square" lIns="0" rIns="0" tIns="0" bIns="0" anchor="ctr">
            <a:spAutoFit/>
          </a:bodyPr>
          <a:lstStyle/>
          <a:p>
            <a:pPr algn="l">
              <a:spcAft>
                <a:spcPts val="600"/>
              </a:spcAft>
            </a:pPr>
            <a:r>
              <a:rPr sz="1200" b="1" i="0">
                <a:solidFill>
                  <a:srgbClr val="3B6FF0"/>
                </a:solidFill>
                <a:latin typeface="Arial"/>
              </a:rPr>
              <a:t>c9</a:t>
            </a:r>
          </a:p>
        </p:txBody>
      </p:sp>
      <p:sp>
        <p:nvSpPr>
          <p:cNvPr id="39" name="TextBox 38"/>
          <p:cNvSpPr txBox="1"/>
          <p:nvPr/>
        </p:nvSpPr>
        <p:spPr>
          <a:xfrm>
            <a:off x="8778240" y="5728716"/>
            <a:ext cx="2560320" cy="237744"/>
          </a:xfrm>
          <a:prstGeom prst="rect">
            <a:avLst/>
          </a:prstGeom>
          <a:noFill/>
        </p:spPr>
        <p:txBody>
          <a:bodyPr wrap="square" lIns="0" rIns="0" tIns="0" bIns="0" anchor="ctr">
            <a:spAutoFit/>
          </a:bodyPr>
          <a:lstStyle/>
          <a:p>
            <a:pPr algn="l">
              <a:spcAft>
                <a:spcPts val="600"/>
              </a:spcAft>
            </a:pPr>
            <a:r>
              <a:rPr sz="1200" b="0" i="0">
                <a:solidFill>
                  <a:srgbClr val="1E2A4A"/>
                </a:solidFill>
                <a:latin typeface="Arial"/>
              </a:rPr>
              <a:t>nói chuyện với khách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Xử lý dữ liệu</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91640"/>
            <a:ext cx="822960" cy="548640"/>
          </a:xfrm>
          <a:prstGeom prst="rect">
            <a:avLst/>
          </a:prstGeom>
          <a:noFill/>
        </p:spPr>
        <p:txBody>
          <a:bodyPr wrap="square" lIns="0" rIns="0" tIns="0" bIns="0" anchor="t">
            <a:spAutoFit/>
          </a:bodyPr>
          <a:lstStyle/>
          <a:p>
            <a:pPr algn="l">
              <a:spcAft>
                <a:spcPts val="600"/>
              </a:spcAft>
            </a:pPr>
            <a:r>
              <a:rPr sz="3000" b="1" i="0">
                <a:solidFill>
                  <a:srgbClr val="3B6FF0"/>
                </a:solidFill>
                <a:latin typeface="Arial"/>
              </a:rPr>
              <a:t>01</a:t>
            </a:r>
          </a:p>
        </p:txBody>
      </p:sp>
      <p:sp>
        <p:nvSpPr>
          <p:cNvPr id="6" name="TextBox 5"/>
          <p:cNvSpPr txBox="1"/>
          <p:nvPr/>
        </p:nvSpPr>
        <p:spPr>
          <a:xfrm>
            <a:off x="109728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Manifest</a:t>
            </a:r>
          </a:p>
        </p:txBody>
      </p:sp>
      <p:sp>
        <p:nvSpPr>
          <p:cNvPr id="7" name="TextBox 6"/>
          <p:cNvSpPr txBox="1"/>
          <p:nvPr/>
        </p:nvSpPr>
        <p:spPr>
          <a:xfrm>
            <a:off x="109728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CSV: ảnh, nhãn, tập</a:t>
            </a:r>
          </a:p>
        </p:txBody>
      </p:sp>
      <p:sp>
        <p:nvSpPr>
          <p:cNvPr id="8" name="Rounded Rectangle 7"/>
          <p:cNvSpPr/>
          <p:nvPr/>
        </p:nvSpPr>
        <p:spPr>
          <a:xfrm>
            <a:off x="352044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1691640"/>
            <a:ext cx="822960" cy="548640"/>
          </a:xfrm>
          <a:prstGeom prst="rect">
            <a:avLst/>
          </a:prstGeom>
          <a:noFill/>
        </p:spPr>
        <p:txBody>
          <a:bodyPr wrap="square" lIns="0" rIns="0" tIns="0" bIns="0" anchor="t">
            <a:spAutoFit/>
          </a:bodyPr>
          <a:lstStyle/>
          <a:p>
            <a:pPr algn="l">
              <a:spcAft>
                <a:spcPts val="600"/>
              </a:spcAft>
            </a:pPr>
            <a:r>
              <a:rPr sz="3000" b="1" i="0">
                <a:solidFill>
                  <a:srgbClr val="0E9AC4"/>
                </a:solidFill>
                <a:latin typeface="Arial"/>
              </a:rPr>
              <a:t>02</a:t>
            </a:r>
          </a:p>
        </p:txBody>
      </p:sp>
      <p:sp>
        <p:nvSpPr>
          <p:cNvPr id="10" name="TextBox 9"/>
          <p:cNvSpPr txBox="1"/>
          <p:nvPr/>
        </p:nvSpPr>
        <p:spPr>
          <a:xfrm>
            <a:off x="379476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Chia theo tài xế</a:t>
            </a:r>
          </a:p>
        </p:txBody>
      </p:sp>
      <p:sp>
        <p:nvSpPr>
          <p:cNvPr id="11" name="TextBox 10"/>
          <p:cNvSpPr txBox="1"/>
          <p:nvPr/>
        </p:nvSpPr>
        <p:spPr>
          <a:xfrm>
            <a:off x="379476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18 / 4 / 4 tài xế (seed 42)</a:t>
            </a:r>
          </a:p>
        </p:txBody>
      </p:sp>
      <p:sp>
        <p:nvSpPr>
          <p:cNvPr id="12" name="Rounded Rectangle 11"/>
          <p:cNvSpPr/>
          <p:nvPr/>
        </p:nvSpPr>
        <p:spPr>
          <a:xfrm>
            <a:off x="621792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91640"/>
            <a:ext cx="822960" cy="548640"/>
          </a:xfrm>
          <a:prstGeom prst="rect">
            <a:avLst/>
          </a:prstGeom>
          <a:noFill/>
        </p:spPr>
        <p:txBody>
          <a:bodyPr wrap="square" lIns="0" rIns="0" tIns="0" bIns="0" anchor="t">
            <a:spAutoFit/>
          </a:bodyPr>
          <a:lstStyle/>
          <a:p>
            <a:pPr algn="l">
              <a:spcAft>
                <a:spcPts val="600"/>
              </a:spcAft>
            </a:pPr>
            <a:r>
              <a:rPr sz="3000" b="1" i="0">
                <a:solidFill>
                  <a:srgbClr val="5B5CE0"/>
                </a:solidFill>
                <a:latin typeface="Arial"/>
              </a:rPr>
              <a:t>03</a:t>
            </a:r>
          </a:p>
        </p:txBody>
      </p:sp>
      <p:sp>
        <p:nvSpPr>
          <p:cNvPr id="14" name="TextBox 13"/>
          <p:cNvSpPr txBox="1"/>
          <p:nvPr/>
        </p:nvSpPr>
        <p:spPr>
          <a:xfrm>
            <a:off x="649224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Bỏ ảnh gần trùng</a:t>
            </a:r>
          </a:p>
        </p:txBody>
      </p:sp>
      <p:sp>
        <p:nvSpPr>
          <p:cNvPr id="15" name="TextBox 14"/>
          <p:cNvSpPr txBox="1"/>
          <p:nvPr/>
        </p:nvSpPr>
        <p:spPr>
          <a:xfrm>
            <a:off x="649224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22.424 → 20.007 ảnh (−10,8%)</a:t>
            </a:r>
          </a:p>
        </p:txBody>
      </p:sp>
      <p:sp>
        <p:nvSpPr>
          <p:cNvPr id="16" name="Rounded Rectangle 15"/>
          <p:cNvSpPr/>
          <p:nvPr/>
        </p:nvSpPr>
        <p:spPr>
          <a:xfrm>
            <a:off x="891540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1691640"/>
            <a:ext cx="822960" cy="548640"/>
          </a:xfrm>
          <a:prstGeom prst="rect">
            <a:avLst/>
          </a:prstGeom>
          <a:noFill/>
        </p:spPr>
        <p:txBody>
          <a:bodyPr wrap="square" lIns="0" rIns="0" tIns="0" bIns="0" anchor="t">
            <a:spAutoFit/>
          </a:bodyPr>
          <a:lstStyle/>
          <a:p>
            <a:pPr algn="l">
              <a:spcAft>
                <a:spcPts val="600"/>
              </a:spcAft>
            </a:pPr>
            <a:r>
              <a:rPr sz="3000" b="1" i="0">
                <a:solidFill>
                  <a:srgbClr val="8E5CF0"/>
                </a:solidFill>
                <a:latin typeface="Arial"/>
              </a:rPr>
              <a:t>04</a:t>
            </a:r>
          </a:p>
        </p:txBody>
      </p:sp>
      <p:sp>
        <p:nvSpPr>
          <p:cNvPr id="18" name="TextBox 17"/>
          <p:cNvSpPr txBox="1"/>
          <p:nvPr/>
        </p:nvSpPr>
        <p:spPr>
          <a:xfrm>
            <a:off x="918972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Resize 320×240</a:t>
            </a:r>
          </a:p>
        </p:txBody>
      </p:sp>
      <p:sp>
        <p:nvSpPr>
          <p:cNvPr id="19" name="TextBox 18"/>
          <p:cNvSpPr txBox="1"/>
          <p:nvPr/>
        </p:nvSpPr>
        <p:spPr>
          <a:xfrm>
            <a:off x="918972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Giữ tỉ lệ 4:3; train ở 224×224</a:t>
            </a:r>
          </a:p>
        </p:txBody>
      </p:sp>
      <p:sp>
        <p:nvSpPr>
          <p:cNvPr id="20" name="Rounded Rectangle 19"/>
          <p:cNvSpPr/>
          <p:nvPr/>
        </p:nvSpPr>
        <p:spPr>
          <a:xfrm>
            <a:off x="822960" y="3749039"/>
            <a:ext cx="3566160" cy="2286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04_Picture_25.jpg"/>
          <p:cNvPicPr>
            <a:picLocks noChangeAspect="1"/>
          </p:cNvPicPr>
          <p:nvPr/>
        </p:nvPicPr>
        <p:blipFill>
          <a:blip r:embed="rId3"/>
          <a:stretch>
            <a:fillRect/>
          </a:stretch>
        </p:blipFill>
        <p:spPr>
          <a:xfrm>
            <a:off x="1005840" y="3931920"/>
            <a:ext cx="3200400" cy="1920240"/>
          </a:xfrm>
          <a:prstGeom prst="roundRect">
            <a:avLst>
              <a:gd name="adj" fmla="val 4000"/>
            </a:avLst>
          </a:prstGeom>
        </p:spPr>
      </p:pic>
      <p:sp>
        <p:nvSpPr>
          <p:cNvPr id="22" name="Rounded Rectangle 21"/>
          <p:cNvSpPr/>
          <p:nvPr/>
        </p:nvSpPr>
        <p:spPr>
          <a:xfrm>
            <a:off x="4663440" y="3749039"/>
            <a:ext cx="6702552" cy="2286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4023360"/>
            <a:ext cx="6035040" cy="1737360"/>
          </a:xfrm>
          <a:prstGeom prst="rect">
            <a:avLst/>
          </a:prstGeom>
          <a:noFill/>
        </p:spPr>
        <p:txBody>
          <a:bodyPr wrap="square" lIns="0" rIns="0" tIns="0" bIns="0" anchor="t">
            <a:spAutoFit/>
          </a:bodyPr>
          <a:lstStyle/>
          <a:p>
            <a:pPr algn="l" marL="274320" indent="-219456">
              <a:spcAft>
                <a:spcPts val="1400"/>
              </a:spcAft>
              <a:buChar char="•"/>
            </a:pPr>
            <a:r>
              <a:rPr sz="1600" b="1" i="0">
                <a:solidFill>
                  <a:srgbClr val="1E2A4A"/>
                </a:solidFill>
                <a:latin typeface="Arial"/>
              </a:rPr>
              <a:t>Chia theo tài xế: </a:t>
            </a:r>
            <a:r>
              <a:rPr sz="1600" b="0" i="0">
                <a:solidFill>
                  <a:srgbClr val="56648A"/>
                </a:solidFill>
                <a:latin typeface="Arial"/>
              </a:rPr>
              <a:t>tránh rò rỉ dữ liệu, điểm không bị cao ảo</a:t>
            </a:r>
          </a:p>
          <a:p>
            <a:pPr algn="l" marL="274320" indent="-219456">
              <a:spcAft>
                <a:spcPts val="1400"/>
              </a:spcAft>
              <a:buChar char="•"/>
            </a:pPr>
            <a:r>
              <a:rPr sz="1600" b="1" i="0">
                <a:solidFill>
                  <a:srgbClr val="1E2A4A"/>
                </a:solidFill>
                <a:latin typeface="Arial"/>
              </a:rPr>
              <a:t>Bỏ ảnh trùng: </a:t>
            </a:r>
            <a:r>
              <a:rPr sz="1600" b="0" i="0">
                <a:solidFill>
                  <a:srgbClr val="56648A"/>
                </a:solidFill>
                <a:latin typeface="Arial"/>
              </a:rPr>
              <a:t>điểm đánh giá không lạc quan</a:t>
            </a:r>
          </a:p>
          <a:p>
            <a:pPr algn="l" marL="274320" indent="-219456">
              <a:spcAft>
                <a:spcPts val="1400"/>
              </a:spcAft>
              <a:buChar char="•"/>
            </a:pPr>
            <a:r>
              <a:rPr sz="1600" b="1" i="0">
                <a:solidFill>
                  <a:srgbClr val="1E2A4A"/>
                </a:solidFill>
                <a:latin typeface="Arial"/>
              </a:rPr>
              <a:t>Augmentation: </a:t>
            </a:r>
            <a:r>
              <a:rPr sz="1600" b="0" i="0">
                <a:solidFill>
                  <a:srgbClr val="56648A"/>
                </a:solidFill>
                <a:latin typeface="Arial"/>
              </a:rPr>
              <a:t>cắt ngẫu nhiên, xoay ±8°, đổi sáng/màu, không lật ngang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Giao thức thí nghiệm</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704088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1005840" y="1691640"/>
          <a:ext cx="6766560" cy="4242816"/>
        </p:xfrm>
        <a:graphic>
          <a:graphicData uri="http://schemas.openxmlformats.org/drawingml/2006/table">
            <a:tbl>
              <a:tblPr firstRow="1" bandRow="1">
                <a:tableStyleId>{5940675A-B579-460E-94D1-54222C63F5DA}</a:tableStyleId>
              </a:tblPr>
              <a:tblGrid>
                <a:gridCol w="2103120"/>
                <a:gridCol w="4663440"/>
              </a:tblGrid>
              <a:tr h="530352">
                <a:tc>
                  <a:txBody>
                    <a:bodyPr/>
                    <a:lstStyle/>
                    <a:p>
                      <a:pPr algn="l"/>
                      <a:r>
                        <a:rPr sz="1500" b="1">
                          <a:solidFill>
                            <a:srgbClr val="3B6FF0"/>
                          </a:solidFill>
                          <a:latin typeface="Arial"/>
                        </a:rPr>
                        <a:t>Thành phần</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l"/>
                      <a:r>
                        <a:rPr sz="1500" b="1">
                          <a:solidFill>
                            <a:srgbClr val="3B6FF0"/>
                          </a:solidFill>
                          <a:latin typeface="Arial"/>
                        </a:rPr>
                        <a:t>Cấu hình cố định</a:t>
                      </a:r>
                    </a:p>
                  </a:txBody>
                  <a:tcPr marL="128016" marR="128016" marT="27432" marB="27432" anchor="ctr">
                    <a:lnL w="9525">
                      <a:noFill/>
                    </a:lnL>
                    <a:lnR w="9525">
                      <a:noFill/>
                    </a:lnR>
                    <a:lnT w="9525">
                      <a:noFill/>
                    </a:lnT>
                    <a:lnB w="9525">
                      <a:solidFill>
                        <a:srgbClr val="E6ECF7"/>
                      </a:solidFill>
                    </a:lnB>
                    <a:solidFill>
                      <a:srgbClr val="E3ECFF"/>
                    </a:solidFill>
                  </a:tcPr>
                </a:tc>
              </a:tr>
              <a:tr h="530352">
                <a:tc>
                  <a:txBody>
                    <a:bodyPr/>
                    <a:lstStyle/>
                    <a:p>
                      <a:pPr algn="l"/>
                      <a:r>
                        <a:rPr sz="1500" b="1">
                          <a:solidFill>
                            <a:srgbClr val="1E2A4A"/>
                          </a:solidFill>
                          <a:latin typeface="Arial"/>
                        </a:rPr>
                        <a:t>Khởi tạo</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Pretrained ImageNet</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Optimizer</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AdamW, lr 0.001, weight decay 1e-4</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Lịch học</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Cosine annealing, 10 epoch, batch 64</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Hàm mất mát</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Cross-entropy, label smoothing 0,1</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Ảnh vào</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224×224, augmentation</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Chọn checkpoint</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Epoch có val macro-F1 cao nhất</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Đánh giá</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Test một lần; CV 5 fold theo tài xế</a:t>
                      </a:r>
                    </a:p>
                  </a:txBody>
                  <a:tcPr marL="128016" marR="128016" marT="27432" marB="27432" anchor="ctr">
                    <a:lnL w="9525">
                      <a:noFill/>
                    </a:lnL>
                    <a:lnR w="9525">
                      <a:noFill/>
                    </a:lnR>
                    <a:lnT w="9525">
                      <a:noFill/>
                    </a:lnT>
                    <a:lnB w="9525">
                      <a:solidFill>
                        <a:srgbClr val="E6ECF7"/>
                      </a:solidFill>
                    </a:lnB>
                    <a:solidFill>
                      <a:srgbClr val="FFFFFF"/>
                    </a:solidFill>
                  </a:tcPr>
                </a:tc>
              </a:tr>
            </a:tbl>
          </a:graphicData>
        </a:graphic>
      </p:graphicFrame>
      <p:sp>
        <p:nvSpPr>
          <p:cNvPr id="6" name="Rounded Rectangle 5"/>
          <p:cNvSpPr/>
          <p:nvPr/>
        </p:nvSpPr>
        <p:spPr>
          <a:xfrm>
            <a:off x="8138160" y="1508760"/>
            <a:ext cx="3227832" cy="452628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920240"/>
            <a:ext cx="2651760" cy="731520"/>
          </a:xfrm>
          <a:prstGeom prst="rect">
            <a:avLst/>
          </a:prstGeom>
          <a:noFill/>
        </p:spPr>
        <p:txBody>
          <a:bodyPr wrap="square" lIns="0" rIns="0" tIns="0" bIns="0" anchor="t">
            <a:spAutoFit/>
          </a:bodyPr>
          <a:lstStyle/>
          <a:p>
            <a:pPr algn="l">
              <a:spcAft>
                <a:spcPts val="600"/>
              </a:spcAft>
            </a:pPr>
            <a:r>
              <a:rPr sz="3400" b="1" i="0">
                <a:solidFill>
                  <a:srgbClr val="3B6FF0"/>
                </a:solidFill>
                <a:latin typeface="Arial"/>
              </a:rPr>
              <a:t>macro‑F1</a:t>
            </a:r>
          </a:p>
        </p:txBody>
      </p:sp>
      <p:sp>
        <p:nvSpPr>
          <p:cNvPr id="8" name="TextBox 7"/>
          <p:cNvSpPr txBox="1"/>
          <p:nvPr/>
        </p:nvSpPr>
        <p:spPr>
          <a:xfrm>
            <a:off x="8503920" y="2788920"/>
            <a:ext cx="2651760" cy="2743200"/>
          </a:xfrm>
          <a:prstGeom prst="rect">
            <a:avLst/>
          </a:prstGeom>
          <a:noFill/>
        </p:spPr>
        <p:txBody>
          <a:bodyPr wrap="square" lIns="0" rIns="0" tIns="0" bIns="0" anchor="t">
            <a:spAutoFit/>
          </a:bodyPr>
          <a:lstStyle/>
          <a:p>
            <a:pPr algn="l">
              <a:spcAft>
                <a:spcPts val="600"/>
              </a:spcAft>
            </a:pPr>
            <a:r>
              <a:rPr sz="1700" b="0" i="0">
                <a:solidFill>
                  <a:srgbClr val="56648A"/>
                </a:solidFill>
                <a:latin typeface="Arial"/>
              </a:rPr>
              <a:t>Điểm trung bình của 10 hành vi, hành vi nào cũng quan trọng như nhau. Đoán lớp đông nhất chỉ đạt 0,02.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Các mô hình so sánh</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691640"/>
            <a:ext cx="2103120" cy="777240"/>
          </a:xfrm>
          <a:prstGeom prst="roundRect">
            <a:avLst>
              <a:gd name="adj" fmla="val 12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MobileNetV3-Small</a:t>
            </a:r>
          </a:p>
        </p:txBody>
      </p:sp>
      <p:sp>
        <p:nvSpPr>
          <p:cNvPr id="7" name="TextBox 6"/>
          <p:cNvSpPr txBox="1"/>
          <p:nvPr/>
        </p:nvSpPr>
        <p:spPr>
          <a:xfrm>
            <a:off x="1143000" y="2130552"/>
            <a:ext cx="1828800" cy="274320"/>
          </a:xfrm>
          <a:prstGeom prst="rect">
            <a:avLst/>
          </a:prstGeom>
          <a:noFill/>
        </p:spPr>
        <p:txBody>
          <a:bodyPr wrap="square" lIns="0" rIns="0" tIns="0" bIns="0" anchor="t">
            <a:spAutoFit/>
          </a:bodyPr>
          <a:lstStyle/>
          <a:p>
            <a:pPr algn="l">
              <a:spcAft>
                <a:spcPts val="600"/>
              </a:spcAft>
            </a:pPr>
            <a:r>
              <a:rPr sz="1100" b="1" i="0">
                <a:solidFill>
                  <a:srgbClr val="3B6FF0"/>
                </a:solidFill>
                <a:latin typeface="Arial"/>
              </a:rPr>
              <a:t>Ứng viên edge (mục tiêu)</a:t>
            </a:r>
          </a:p>
        </p:txBody>
      </p:sp>
      <p:sp>
        <p:nvSpPr>
          <p:cNvPr id="8" name="TextBox 7"/>
          <p:cNvSpPr txBox="1"/>
          <p:nvPr/>
        </p:nvSpPr>
        <p:spPr>
          <a:xfrm>
            <a:off x="1097280" y="2834640"/>
            <a:ext cx="2011680" cy="640080"/>
          </a:xfrm>
          <a:prstGeom prst="rect">
            <a:avLst/>
          </a:prstGeom>
          <a:noFill/>
        </p:spPr>
        <p:txBody>
          <a:bodyPr wrap="square" lIns="0" rIns="0" tIns="0" bIns="0" anchor="t">
            <a:spAutoFit/>
          </a:bodyPr>
          <a:lstStyle/>
          <a:p>
            <a:pPr algn="l">
              <a:spcAft>
                <a:spcPts val="600"/>
              </a:spcAft>
            </a:pPr>
            <a:r>
              <a:rPr sz="3400" b="1" i="0">
                <a:solidFill>
                  <a:srgbClr val="3B6FF0"/>
                </a:solidFill>
                <a:latin typeface="Arial"/>
              </a:rPr>
              <a:t>1,53 M</a:t>
            </a:r>
          </a:p>
        </p:txBody>
      </p:sp>
      <p:sp>
        <p:nvSpPr>
          <p:cNvPr id="9" name="TextBox 8"/>
          <p:cNvSpPr txBox="1"/>
          <p:nvPr/>
        </p:nvSpPr>
        <p:spPr>
          <a:xfrm>
            <a:off x="109728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10" name="TextBox 9"/>
          <p:cNvSpPr txBox="1"/>
          <p:nvPr/>
        </p:nvSpPr>
        <p:spPr>
          <a:xfrm>
            <a:off x="1097280" y="4206240"/>
            <a:ext cx="2011680" cy="640080"/>
          </a:xfrm>
          <a:prstGeom prst="rect">
            <a:avLst/>
          </a:prstGeom>
          <a:noFill/>
        </p:spPr>
        <p:txBody>
          <a:bodyPr wrap="square" lIns="0" rIns="0" tIns="0" bIns="0" anchor="t">
            <a:spAutoFit/>
          </a:bodyPr>
          <a:lstStyle/>
          <a:p>
            <a:pPr algn="l">
              <a:spcAft>
                <a:spcPts val="600"/>
              </a:spcAft>
            </a:pPr>
            <a:r>
              <a:rPr sz="3400" b="1" i="0">
                <a:solidFill>
                  <a:srgbClr val="3B6FF0"/>
                </a:solidFill>
                <a:latin typeface="Arial"/>
              </a:rPr>
              <a:t>55 M</a:t>
            </a:r>
          </a:p>
        </p:txBody>
      </p:sp>
      <p:sp>
        <p:nvSpPr>
          <p:cNvPr id="11" name="TextBox 10"/>
          <p:cNvSpPr txBox="1"/>
          <p:nvPr/>
        </p:nvSpPr>
        <p:spPr>
          <a:xfrm>
            <a:off x="109728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
        <p:nvSpPr>
          <p:cNvPr id="12" name="Rounded Rectangle 11"/>
          <p:cNvSpPr/>
          <p:nvPr/>
        </p:nvSpPr>
        <p:spPr>
          <a:xfrm>
            <a:off x="352044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1691640"/>
            <a:ext cx="2103120" cy="777240"/>
          </a:xfrm>
          <a:prstGeom prst="roundRect">
            <a:avLst>
              <a:gd name="adj" fmla="val 12000"/>
            </a:avLst>
          </a:prstGeom>
          <a:solidFill>
            <a:srgbClr val="DD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EfficientNet-Lite0</a:t>
            </a:r>
          </a:p>
        </p:txBody>
      </p:sp>
      <p:sp>
        <p:nvSpPr>
          <p:cNvPr id="15" name="TextBox 14"/>
          <p:cNvSpPr txBox="1"/>
          <p:nvPr/>
        </p:nvSpPr>
        <p:spPr>
          <a:xfrm>
            <a:off x="3840480" y="2130552"/>
            <a:ext cx="1828800" cy="274320"/>
          </a:xfrm>
          <a:prstGeom prst="rect">
            <a:avLst/>
          </a:prstGeom>
          <a:noFill/>
        </p:spPr>
        <p:txBody>
          <a:bodyPr wrap="square" lIns="0" rIns="0" tIns="0" bIns="0" anchor="t">
            <a:spAutoFit/>
          </a:bodyPr>
          <a:lstStyle/>
          <a:p>
            <a:pPr algn="l">
              <a:spcAft>
                <a:spcPts val="600"/>
              </a:spcAft>
            </a:pPr>
            <a:r>
              <a:rPr sz="1100" b="1" i="0">
                <a:solidFill>
                  <a:srgbClr val="0E9AC4"/>
                </a:solidFill>
                <a:latin typeface="Arial"/>
              </a:rPr>
              <a:t>Ứng viên edge</a:t>
            </a:r>
          </a:p>
        </p:txBody>
      </p:sp>
      <p:sp>
        <p:nvSpPr>
          <p:cNvPr id="16" name="TextBox 15"/>
          <p:cNvSpPr txBox="1"/>
          <p:nvPr/>
        </p:nvSpPr>
        <p:spPr>
          <a:xfrm>
            <a:off x="3794760" y="2834640"/>
            <a:ext cx="2011680" cy="640080"/>
          </a:xfrm>
          <a:prstGeom prst="rect">
            <a:avLst/>
          </a:prstGeom>
          <a:noFill/>
        </p:spPr>
        <p:txBody>
          <a:bodyPr wrap="square" lIns="0" rIns="0" tIns="0" bIns="0" anchor="t">
            <a:spAutoFit/>
          </a:bodyPr>
          <a:lstStyle/>
          <a:p>
            <a:pPr algn="l">
              <a:spcAft>
                <a:spcPts val="600"/>
              </a:spcAft>
            </a:pPr>
            <a:r>
              <a:rPr sz="3400" b="1" i="0">
                <a:solidFill>
                  <a:srgbClr val="0E9AC4"/>
                </a:solidFill>
                <a:latin typeface="Arial"/>
              </a:rPr>
              <a:t>3,38 M</a:t>
            </a:r>
          </a:p>
        </p:txBody>
      </p:sp>
      <p:sp>
        <p:nvSpPr>
          <p:cNvPr id="17" name="TextBox 16"/>
          <p:cNvSpPr txBox="1"/>
          <p:nvPr/>
        </p:nvSpPr>
        <p:spPr>
          <a:xfrm>
            <a:off x="379476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18" name="TextBox 17"/>
          <p:cNvSpPr txBox="1"/>
          <p:nvPr/>
        </p:nvSpPr>
        <p:spPr>
          <a:xfrm>
            <a:off x="3794760" y="4206240"/>
            <a:ext cx="2011680" cy="640080"/>
          </a:xfrm>
          <a:prstGeom prst="rect">
            <a:avLst/>
          </a:prstGeom>
          <a:noFill/>
        </p:spPr>
        <p:txBody>
          <a:bodyPr wrap="square" lIns="0" rIns="0" tIns="0" bIns="0" anchor="t">
            <a:spAutoFit/>
          </a:bodyPr>
          <a:lstStyle/>
          <a:p>
            <a:pPr algn="l">
              <a:spcAft>
                <a:spcPts val="600"/>
              </a:spcAft>
            </a:pPr>
            <a:r>
              <a:rPr sz="3400" b="1" i="0">
                <a:solidFill>
                  <a:srgbClr val="0E9AC4"/>
                </a:solidFill>
                <a:latin typeface="Arial"/>
              </a:rPr>
              <a:t>384 M</a:t>
            </a:r>
          </a:p>
        </p:txBody>
      </p:sp>
      <p:sp>
        <p:nvSpPr>
          <p:cNvPr id="19" name="TextBox 18"/>
          <p:cNvSpPr txBox="1"/>
          <p:nvPr/>
        </p:nvSpPr>
        <p:spPr>
          <a:xfrm>
            <a:off x="379476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
        <p:nvSpPr>
          <p:cNvPr id="20" name="Rounded Rectangle 19"/>
          <p:cNvSpPr/>
          <p:nvPr/>
        </p:nvSpPr>
        <p:spPr>
          <a:xfrm>
            <a:off x="621792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1691640"/>
            <a:ext cx="2103120" cy="777240"/>
          </a:xfrm>
          <a:prstGeom prst="roundRect">
            <a:avLst>
              <a:gd name="adj" fmla="val 12000"/>
            </a:avLst>
          </a:prstGeom>
          <a:solidFill>
            <a:srgbClr val="E8E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ResNet18</a:t>
            </a:r>
          </a:p>
        </p:txBody>
      </p:sp>
      <p:sp>
        <p:nvSpPr>
          <p:cNvPr id="23" name="TextBox 22"/>
          <p:cNvSpPr txBox="1"/>
          <p:nvPr/>
        </p:nvSpPr>
        <p:spPr>
          <a:xfrm>
            <a:off x="6537960" y="2130552"/>
            <a:ext cx="1828800" cy="274320"/>
          </a:xfrm>
          <a:prstGeom prst="rect">
            <a:avLst/>
          </a:prstGeom>
          <a:noFill/>
        </p:spPr>
        <p:txBody>
          <a:bodyPr wrap="square" lIns="0" rIns="0" tIns="0" bIns="0" anchor="t">
            <a:spAutoFit/>
          </a:bodyPr>
          <a:lstStyle/>
          <a:p>
            <a:pPr algn="l">
              <a:spcAft>
                <a:spcPts val="600"/>
              </a:spcAft>
            </a:pPr>
            <a:r>
              <a:rPr sz="1100" b="1" i="0">
                <a:solidFill>
                  <a:srgbClr val="5B5CE0"/>
                </a:solidFill>
                <a:latin typeface="Arial"/>
              </a:rPr>
              <a:t>Mốc nặng vừa</a:t>
            </a:r>
          </a:p>
        </p:txBody>
      </p:sp>
      <p:sp>
        <p:nvSpPr>
          <p:cNvPr id="24" name="TextBox 23"/>
          <p:cNvSpPr txBox="1"/>
          <p:nvPr/>
        </p:nvSpPr>
        <p:spPr>
          <a:xfrm>
            <a:off x="6492240" y="2834640"/>
            <a:ext cx="2011680" cy="640080"/>
          </a:xfrm>
          <a:prstGeom prst="rect">
            <a:avLst/>
          </a:prstGeom>
          <a:noFill/>
        </p:spPr>
        <p:txBody>
          <a:bodyPr wrap="square" lIns="0" rIns="0" tIns="0" bIns="0" anchor="t">
            <a:spAutoFit/>
          </a:bodyPr>
          <a:lstStyle/>
          <a:p>
            <a:pPr algn="l">
              <a:spcAft>
                <a:spcPts val="600"/>
              </a:spcAft>
            </a:pPr>
            <a:r>
              <a:rPr sz="3400" b="1" i="0">
                <a:solidFill>
                  <a:srgbClr val="5B5CE0"/>
                </a:solidFill>
                <a:latin typeface="Arial"/>
              </a:rPr>
              <a:t>11,18 M</a:t>
            </a:r>
          </a:p>
        </p:txBody>
      </p:sp>
      <p:sp>
        <p:nvSpPr>
          <p:cNvPr id="25" name="TextBox 24"/>
          <p:cNvSpPr txBox="1"/>
          <p:nvPr/>
        </p:nvSpPr>
        <p:spPr>
          <a:xfrm>
            <a:off x="649224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26" name="TextBox 25"/>
          <p:cNvSpPr txBox="1"/>
          <p:nvPr/>
        </p:nvSpPr>
        <p:spPr>
          <a:xfrm>
            <a:off x="6492240" y="4206240"/>
            <a:ext cx="2011680" cy="640080"/>
          </a:xfrm>
          <a:prstGeom prst="rect">
            <a:avLst/>
          </a:prstGeom>
          <a:noFill/>
        </p:spPr>
        <p:txBody>
          <a:bodyPr wrap="square" lIns="0" rIns="0" tIns="0" bIns="0" anchor="t">
            <a:spAutoFit/>
          </a:bodyPr>
          <a:lstStyle/>
          <a:p>
            <a:pPr algn="l">
              <a:spcAft>
                <a:spcPts val="600"/>
              </a:spcAft>
            </a:pPr>
            <a:r>
              <a:rPr sz="3400" b="1" i="0">
                <a:solidFill>
                  <a:srgbClr val="5B5CE0"/>
                </a:solidFill>
                <a:latin typeface="Arial"/>
              </a:rPr>
              <a:t>1,81 G</a:t>
            </a:r>
          </a:p>
        </p:txBody>
      </p:sp>
      <p:sp>
        <p:nvSpPr>
          <p:cNvPr id="27" name="TextBox 26"/>
          <p:cNvSpPr txBox="1"/>
          <p:nvPr/>
        </p:nvSpPr>
        <p:spPr>
          <a:xfrm>
            <a:off x="649224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
        <p:nvSpPr>
          <p:cNvPr id="28" name="Rounded Rectangle 27"/>
          <p:cNvSpPr/>
          <p:nvPr/>
        </p:nvSpPr>
        <p:spPr>
          <a:xfrm>
            <a:off x="891540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98280" y="1691640"/>
            <a:ext cx="2103120" cy="777240"/>
          </a:xfrm>
          <a:prstGeom prst="roundRect">
            <a:avLst>
              <a:gd name="adj" fmla="val 12000"/>
            </a:avLst>
          </a:prstGeom>
          <a:solidFill>
            <a:srgbClr val="EFE8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ResNet50</a:t>
            </a:r>
          </a:p>
        </p:txBody>
      </p:sp>
      <p:sp>
        <p:nvSpPr>
          <p:cNvPr id="31" name="TextBox 30"/>
          <p:cNvSpPr txBox="1"/>
          <p:nvPr/>
        </p:nvSpPr>
        <p:spPr>
          <a:xfrm>
            <a:off x="9235440" y="2130552"/>
            <a:ext cx="1828800" cy="274320"/>
          </a:xfrm>
          <a:prstGeom prst="rect">
            <a:avLst/>
          </a:prstGeom>
          <a:noFill/>
        </p:spPr>
        <p:txBody>
          <a:bodyPr wrap="square" lIns="0" rIns="0" tIns="0" bIns="0" anchor="t">
            <a:spAutoFit/>
          </a:bodyPr>
          <a:lstStyle/>
          <a:p>
            <a:pPr algn="l">
              <a:spcAft>
                <a:spcPts val="600"/>
              </a:spcAft>
            </a:pPr>
            <a:r>
              <a:rPr sz="1100" b="1" i="0">
                <a:solidFill>
                  <a:srgbClr val="8E5CF0"/>
                </a:solidFill>
                <a:latin typeface="Arial"/>
              </a:rPr>
              <a:t>Mốc nặng</a:t>
            </a:r>
          </a:p>
        </p:txBody>
      </p:sp>
      <p:sp>
        <p:nvSpPr>
          <p:cNvPr id="32" name="TextBox 31"/>
          <p:cNvSpPr txBox="1"/>
          <p:nvPr/>
        </p:nvSpPr>
        <p:spPr>
          <a:xfrm>
            <a:off x="9189720" y="2834640"/>
            <a:ext cx="2011680" cy="640080"/>
          </a:xfrm>
          <a:prstGeom prst="rect">
            <a:avLst/>
          </a:prstGeom>
          <a:noFill/>
        </p:spPr>
        <p:txBody>
          <a:bodyPr wrap="square" lIns="0" rIns="0" tIns="0" bIns="0" anchor="t">
            <a:spAutoFit/>
          </a:bodyPr>
          <a:lstStyle/>
          <a:p>
            <a:pPr algn="l">
              <a:spcAft>
                <a:spcPts val="600"/>
              </a:spcAft>
            </a:pPr>
            <a:r>
              <a:rPr sz="3400" b="1" i="0">
                <a:solidFill>
                  <a:srgbClr val="8E5CF0"/>
                </a:solidFill>
                <a:latin typeface="Arial"/>
              </a:rPr>
              <a:t>23,53 M</a:t>
            </a:r>
          </a:p>
        </p:txBody>
      </p:sp>
      <p:sp>
        <p:nvSpPr>
          <p:cNvPr id="33" name="TextBox 32"/>
          <p:cNvSpPr txBox="1"/>
          <p:nvPr/>
        </p:nvSpPr>
        <p:spPr>
          <a:xfrm>
            <a:off x="918972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34" name="TextBox 33"/>
          <p:cNvSpPr txBox="1"/>
          <p:nvPr/>
        </p:nvSpPr>
        <p:spPr>
          <a:xfrm>
            <a:off x="9189720" y="4206240"/>
            <a:ext cx="2011680" cy="640080"/>
          </a:xfrm>
          <a:prstGeom prst="rect">
            <a:avLst/>
          </a:prstGeom>
          <a:noFill/>
        </p:spPr>
        <p:txBody>
          <a:bodyPr wrap="square" lIns="0" rIns="0" tIns="0" bIns="0" anchor="t">
            <a:spAutoFit/>
          </a:bodyPr>
          <a:lstStyle/>
          <a:p>
            <a:pPr algn="l">
              <a:spcAft>
                <a:spcPts val="600"/>
              </a:spcAft>
            </a:pPr>
            <a:r>
              <a:rPr sz="3400" b="1" i="0">
                <a:solidFill>
                  <a:srgbClr val="8E5CF0"/>
                </a:solidFill>
                <a:latin typeface="Arial"/>
              </a:rPr>
              <a:t>4,09 G</a:t>
            </a:r>
          </a:p>
        </p:txBody>
      </p:sp>
      <p:sp>
        <p:nvSpPr>
          <p:cNvPr id="35" name="TextBox 34"/>
          <p:cNvSpPr txBox="1"/>
          <p:nvPr/>
        </p:nvSpPr>
        <p:spPr>
          <a:xfrm>
            <a:off x="918972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Val vs test</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7548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005840" y="1600200"/>
          <a:ext cx="10149840" cy="4526280"/>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Một lần chia hay cross-validation</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7315200" cy="47548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960120" y="1600200"/>
          <a:ext cx="7040880" cy="4526280"/>
        </p:xfrm>
        <a:graphic>
          <a:graphicData uri="http://schemas.openxmlformats.org/drawingml/2006/chart">
            <c:chart xmlns:c="http://schemas.openxmlformats.org/drawingml/2006/chart" r:id="rId3"/>
          </a:graphicData>
        </a:graphic>
      </p:graphicFrame>
      <p:sp>
        <p:nvSpPr>
          <p:cNvPr id="6" name="Rounded Rectangle 5"/>
          <p:cNvSpPr/>
          <p:nvPr/>
        </p:nvSpPr>
        <p:spPr>
          <a:xfrm>
            <a:off x="8412480" y="1463040"/>
            <a:ext cx="2953512" cy="475488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1737360"/>
            <a:ext cx="2468880" cy="365760"/>
          </a:xfrm>
          <a:prstGeom prst="rect">
            <a:avLst/>
          </a:prstGeom>
          <a:noFill/>
        </p:spPr>
        <p:txBody>
          <a:bodyPr wrap="square" lIns="0" rIns="0" tIns="0" bIns="0" anchor="t">
            <a:spAutoFit/>
          </a:bodyPr>
          <a:lstStyle/>
          <a:p>
            <a:pPr algn="l">
              <a:spcAft>
                <a:spcPts val="600"/>
              </a:spcAft>
            </a:pPr>
            <a:r>
              <a:rPr sz="1700" b="1" i="0">
                <a:solidFill>
                  <a:srgbClr val="3B6FF0"/>
                </a:solidFill>
                <a:latin typeface="Arial"/>
              </a:rPr>
              <a:t>CV theo tài xế</a:t>
            </a:r>
          </a:p>
        </p:txBody>
      </p:sp>
      <p:sp>
        <p:nvSpPr>
          <p:cNvPr id="8" name="TextBox 7"/>
          <p:cNvSpPr txBox="1"/>
          <p:nvPr/>
        </p:nvSpPr>
        <p:spPr>
          <a:xfrm>
            <a:off x="8686800" y="2286000"/>
            <a:ext cx="2560320" cy="320040"/>
          </a:xfrm>
          <a:prstGeom prst="rect">
            <a:avLst/>
          </a:prstGeom>
          <a:noFill/>
        </p:spPr>
        <p:txBody>
          <a:bodyPr wrap="square" lIns="0" rIns="0" tIns="0" bIns="0" anchor="t">
            <a:spAutoFit/>
          </a:bodyPr>
          <a:lstStyle/>
          <a:p>
            <a:pPr algn="l">
              <a:spcAft>
                <a:spcPts val="600"/>
              </a:spcAft>
            </a:pPr>
            <a:r>
              <a:rPr sz="1400" b="1" i="0">
                <a:solidFill>
                  <a:srgbClr val="3B6FF0"/>
                </a:solidFill>
                <a:latin typeface="Arial"/>
              </a:rPr>
              <a:t>EfficientNet-Lite0</a:t>
            </a:r>
          </a:p>
        </p:txBody>
      </p:sp>
      <p:sp>
        <p:nvSpPr>
          <p:cNvPr id="9" name="TextBox 8"/>
          <p:cNvSpPr txBox="1"/>
          <p:nvPr/>
        </p:nvSpPr>
        <p:spPr>
          <a:xfrm>
            <a:off x="8686800" y="2615184"/>
            <a:ext cx="2560320" cy="411480"/>
          </a:xfrm>
          <a:prstGeom prst="rect">
            <a:avLst/>
          </a:prstGeom>
          <a:noFill/>
        </p:spPr>
        <p:txBody>
          <a:bodyPr wrap="square" lIns="0" rIns="0" tIns="0" bIns="0" anchor="t">
            <a:spAutoFit/>
          </a:bodyPr>
          <a:lstStyle/>
          <a:p>
            <a:pPr algn="l">
              <a:spcAft>
                <a:spcPts val="600"/>
              </a:spcAft>
            </a:pPr>
            <a:r>
              <a:rPr sz="2000" b="1" i="0">
                <a:solidFill>
                  <a:srgbClr val="1E2A4A"/>
                </a:solidFill>
                <a:latin typeface="Arial"/>
              </a:rPr>
              <a:t>0,863 ± 0,032</a:t>
            </a:r>
          </a:p>
        </p:txBody>
      </p:sp>
      <p:sp>
        <p:nvSpPr>
          <p:cNvPr id="10" name="TextBox 9"/>
          <p:cNvSpPr txBox="1"/>
          <p:nvPr/>
        </p:nvSpPr>
        <p:spPr>
          <a:xfrm>
            <a:off x="8686800" y="3154680"/>
            <a:ext cx="2560320" cy="320040"/>
          </a:xfrm>
          <a:prstGeom prst="rect">
            <a:avLst/>
          </a:prstGeom>
          <a:noFill/>
        </p:spPr>
        <p:txBody>
          <a:bodyPr wrap="square" lIns="0" rIns="0" tIns="0" bIns="0" anchor="t">
            <a:spAutoFit/>
          </a:bodyPr>
          <a:lstStyle/>
          <a:p>
            <a:pPr algn="l">
              <a:spcAft>
                <a:spcPts val="600"/>
              </a:spcAft>
            </a:pPr>
            <a:r>
              <a:rPr sz="1400" b="1" i="0">
                <a:solidFill>
                  <a:srgbClr val="0E9AC4"/>
                </a:solidFill>
                <a:latin typeface="Arial"/>
              </a:rPr>
              <a:t>ResNet18</a:t>
            </a:r>
          </a:p>
        </p:txBody>
      </p:sp>
      <p:sp>
        <p:nvSpPr>
          <p:cNvPr id="11" name="TextBox 10"/>
          <p:cNvSpPr txBox="1"/>
          <p:nvPr/>
        </p:nvSpPr>
        <p:spPr>
          <a:xfrm>
            <a:off x="8686800" y="3483864"/>
            <a:ext cx="2560320" cy="411480"/>
          </a:xfrm>
          <a:prstGeom prst="rect">
            <a:avLst/>
          </a:prstGeom>
          <a:noFill/>
        </p:spPr>
        <p:txBody>
          <a:bodyPr wrap="square" lIns="0" rIns="0" tIns="0" bIns="0" anchor="t">
            <a:spAutoFit/>
          </a:bodyPr>
          <a:lstStyle/>
          <a:p>
            <a:pPr algn="l">
              <a:spcAft>
                <a:spcPts val="600"/>
              </a:spcAft>
            </a:pPr>
            <a:r>
              <a:rPr sz="2000" b="1" i="0">
                <a:solidFill>
                  <a:srgbClr val="1E2A4A"/>
                </a:solidFill>
                <a:latin typeface="Arial"/>
              </a:rPr>
              <a:t>0,855 ± 0,039</a:t>
            </a:r>
          </a:p>
        </p:txBody>
      </p:sp>
      <p:sp>
        <p:nvSpPr>
          <p:cNvPr id="12" name="TextBox 11"/>
          <p:cNvSpPr txBox="1"/>
          <p:nvPr/>
        </p:nvSpPr>
        <p:spPr>
          <a:xfrm>
            <a:off x="8686800" y="4023360"/>
            <a:ext cx="2560320" cy="320040"/>
          </a:xfrm>
          <a:prstGeom prst="rect">
            <a:avLst/>
          </a:prstGeom>
          <a:noFill/>
        </p:spPr>
        <p:txBody>
          <a:bodyPr wrap="square" lIns="0" rIns="0" tIns="0" bIns="0" anchor="t">
            <a:spAutoFit/>
          </a:bodyPr>
          <a:lstStyle/>
          <a:p>
            <a:pPr algn="l">
              <a:spcAft>
                <a:spcPts val="600"/>
              </a:spcAft>
            </a:pPr>
            <a:r>
              <a:rPr sz="1400" b="1" i="0">
                <a:solidFill>
                  <a:srgbClr val="8E5CF0"/>
                </a:solidFill>
                <a:latin typeface="Arial"/>
              </a:rPr>
              <a:t>MobileNetV3-S</a:t>
            </a:r>
          </a:p>
        </p:txBody>
      </p:sp>
      <p:sp>
        <p:nvSpPr>
          <p:cNvPr id="13" name="TextBox 12"/>
          <p:cNvSpPr txBox="1"/>
          <p:nvPr/>
        </p:nvSpPr>
        <p:spPr>
          <a:xfrm>
            <a:off x="8686800" y="4352544"/>
            <a:ext cx="2560320" cy="411480"/>
          </a:xfrm>
          <a:prstGeom prst="rect">
            <a:avLst/>
          </a:prstGeom>
          <a:noFill/>
        </p:spPr>
        <p:txBody>
          <a:bodyPr wrap="square" lIns="0" rIns="0" tIns="0" bIns="0" anchor="t">
            <a:spAutoFit/>
          </a:bodyPr>
          <a:lstStyle/>
          <a:p>
            <a:pPr algn="l">
              <a:spcAft>
                <a:spcPts val="600"/>
              </a:spcAft>
            </a:pPr>
            <a:r>
              <a:rPr sz="2000" b="1" i="0">
                <a:solidFill>
                  <a:srgbClr val="1E2A4A"/>
                </a:solidFill>
                <a:latin typeface="Arial"/>
              </a:rPr>
              <a:t>0,793 ± 0,057</a:t>
            </a:r>
          </a:p>
        </p:txBody>
      </p:sp>
      <p:sp>
        <p:nvSpPr>
          <p:cNvPr id="14" name="TextBox 13"/>
          <p:cNvSpPr txBox="1"/>
          <p:nvPr/>
        </p:nvSpPr>
        <p:spPr>
          <a:xfrm>
            <a:off x="8686800" y="4937760"/>
            <a:ext cx="2560320" cy="118872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MobileNetV3-S thua EfficientNet-Lite0 ở 5/5 fold. Hai mô hình còn lại không phân biệt được.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Đã thử cải thiện những gì</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7548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60120" y="1737360"/>
          <a:ext cx="10287000" cy="2267712"/>
        </p:xfrm>
        <a:graphic>
          <a:graphicData uri="http://schemas.openxmlformats.org/drawingml/2006/table">
            <a:tbl>
              <a:tblPr firstRow="1" bandRow="1">
                <a:tableStyleId>{5940675A-B579-460E-94D1-54222C63F5DA}</a:tableStyleId>
              </a:tblPr>
              <a:tblGrid>
                <a:gridCol w="2103120"/>
                <a:gridCol w="3383280"/>
                <a:gridCol w="2057400"/>
                <a:gridCol w="1005840"/>
                <a:gridCol w="1737360"/>
              </a:tblGrid>
              <a:tr h="566928">
                <a:tc>
                  <a:txBody>
                    <a:bodyPr/>
                    <a:lstStyle/>
                    <a:p>
                      <a:pPr algn="l"/>
                      <a:r>
                        <a:rPr sz="1600" b="1">
                          <a:solidFill>
                            <a:srgbClr val="3B6FF0"/>
                          </a:solidFill>
                          <a:latin typeface="Arial"/>
                        </a:rPr>
                        <a:t>Mô hình</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l"/>
                      <a:r>
                        <a:rPr sz="1600" b="1">
                          <a:solidFill>
                            <a:srgbClr val="3B6FF0"/>
                          </a:solidFill>
                          <a:latin typeface="Arial"/>
                        </a:rPr>
                        <a:t>Thay đổi so với mặc định</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ctr"/>
                      <a:r>
                        <a:rPr sz="1600" b="1">
                          <a:solidFill>
                            <a:srgbClr val="3B6FF0"/>
                          </a:solidFill>
                          <a:latin typeface="Arial"/>
                        </a:rPr>
                        <a:t>Test macro-F1</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ctr"/>
                      <a:r>
                        <a:rPr sz="1600" b="1">
                          <a:solidFill>
                            <a:srgbClr val="3B6FF0"/>
                          </a:solidFill>
                          <a:latin typeface="Arial"/>
                        </a:rPr>
                        <a:t>Chênh</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ctr"/>
                      <a:r>
                        <a:rPr sz="1600" b="1">
                          <a:solidFill>
                            <a:srgbClr val="3B6FF0"/>
                          </a:solidFill>
                          <a:latin typeface="Arial"/>
                        </a:rPr>
                        <a:t>F1 lớp c9</a:t>
                      </a:r>
                    </a:p>
                  </a:txBody>
                  <a:tcPr marL="128016" marR="128016" marT="27432" marB="27432" anchor="ctr">
                    <a:lnL w="9525">
                      <a:noFill/>
                    </a:lnL>
                    <a:lnR w="9525">
                      <a:noFill/>
                    </a:lnR>
                    <a:lnT w="9525">
                      <a:noFill/>
                    </a:lnT>
                    <a:lnB w="9525">
                      <a:solidFill>
                        <a:srgbClr val="E6ECF7"/>
                      </a:solidFill>
                    </a:lnB>
                    <a:solidFill>
                      <a:srgbClr val="E3ECFF"/>
                    </a:solidFill>
                  </a:tcPr>
                </a:tc>
              </a:tr>
              <a:tr h="566928">
                <a:tc>
                  <a:txBody>
                    <a:bodyPr/>
                    <a:lstStyle/>
                    <a:p>
                      <a:pPr algn="l"/>
                      <a:r>
                        <a:rPr sz="1600" b="1">
                          <a:solidFill>
                            <a:srgbClr val="1E2A4A"/>
                          </a:solidFill>
                          <a:latin typeface="Arial"/>
                        </a:rPr>
                        <a:t>EfficientNet-Lite0</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l"/>
                      <a:r>
                        <a:rPr sz="1600" b="1">
                          <a:solidFill>
                            <a:srgbClr val="1E2A4A"/>
                          </a:solidFill>
                          <a:latin typeface="Arial"/>
                        </a:rPr>
                        <a:t>Mặc định (224×224)</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600" b="1">
                          <a:solidFill>
                            <a:srgbClr val="1E2A4A"/>
                          </a:solidFill>
                          <a:latin typeface="Arial"/>
                        </a:rPr>
                        <a:t>0,844</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6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600" b="1">
                          <a:solidFill>
                            <a:srgbClr val="1E2A4A"/>
                          </a:solidFill>
                          <a:latin typeface="Arial"/>
                        </a:rPr>
                        <a:t>0,450</a:t>
                      </a:r>
                    </a:p>
                  </a:txBody>
                  <a:tcPr marL="128016" marR="128016" marT="27432" marB="27432" anchor="ctr">
                    <a:lnL w="9525">
                      <a:noFill/>
                    </a:lnL>
                    <a:lnR w="9525">
                      <a:noFill/>
                    </a:lnR>
                    <a:lnT w="9525">
                      <a:noFill/>
                    </a:lnT>
                    <a:lnB w="9525">
                      <a:solidFill>
                        <a:srgbClr val="E6ECF7"/>
                      </a:solidFill>
                    </a:lnB>
                    <a:solidFill>
                      <a:srgbClr val="F5F8FF"/>
                    </a:solidFill>
                  </a:tcPr>
                </a:tc>
              </a:tr>
              <a:tr h="566928">
                <a:tc>
                  <a:txBody>
                    <a:bodyPr/>
                    <a:lstStyle/>
                    <a:p>
                      <a:pPr algn="l"/>
                      <a:r>
                        <a:rPr sz="16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Augmentation mạnh hơn</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600" b="0">
                          <a:solidFill>
                            <a:srgbClr val="1E2A4A"/>
                          </a:solidFill>
                          <a:latin typeface="Arial"/>
                        </a:rPr>
                        <a:t>0,858</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600" b="0">
                          <a:solidFill>
                            <a:srgbClr val="3B6FF0"/>
                          </a:solidFill>
                          <a:latin typeface="Arial"/>
                        </a:rPr>
                        <a:t>+0,014</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600" b="0">
                          <a:solidFill>
                            <a:srgbClr val="1E2A4A"/>
                          </a:solidFill>
                          <a:latin typeface="Arial"/>
                        </a:rPr>
                        <a:t>0,439</a:t>
                      </a:r>
                    </a:p>
                  </a:txBody>
                  <a:tcPr marL="128016" marR="128016" marT="27432" marB="27432" anchor="ctr">
                    <a:lnL w="9525">
                      <a:noFill/>
                    </a:lnL>
                    <a:lnR w="9525">
                      <a:noFill/>
                    </a:lnR>
                    <a:lnT w="9525">
                      <a:noFill/>
                    </a:lnT>
                    <a:lnB w="9525">
                      <a:solidFill>
                        <a:srgbClr val="E6ECF7"/>
                      </a:solidFill>
                    </a:lnB>
                    <a:solidFill>
                      <a:srgbClr val="FFFFFF"/>
                    </a:solidFill>
                  </a:tcPr>
                </a:tc>
              </a:tr>
              <a:tr h="566928">
                <a:tc>
                  <a:txBody>
                    <a:bodyPr/>
                    <a:lstStyle/>
                    <a:p>
                      <a:pPr algn="l"/>
                      <a:r>
                        <a:rPr sz="16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Ảnh gốc 320×240 (MACs ×1,6)</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600" b="0">
                          <a:solidFill>
                            <a:srgbClr val="1E2A4A"/>
                          </a:solidFill>
                          <a:latin typeface="Arial"/>
                        </a:rPr>
                        <a:t>0,855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600" b="0">
                          <a:solidFill>
                            <a:srgbClr val="3B6FF0"/>
                          </a:solidFill>
                          <a:latin typeface="Arial"/>
                        </a:rPr>
                        <a:t>+0,011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600" b="0">
                          <a:solidFill>
                            <a:srgbClr val="1E2A4A"/>
                          </a:solidFill>
                          <a:latin typeface="Arial"/>
                        </a:rPr>
                        <a:t>0,562</a:t>
                      </a:r>
                    </a:p>
                  </a:txBody>
                  <a:tcPr marL="128016" marR="128016" marT="27432" marB="27432" anchor="ctr">
                    <a:lnL w="9525">
                      <a:noFill/>
                    </a:lnL>
                    <a:lnR w="9525">
                      <a:noFill/>
                    </a:lnR>
                    <a:lnT w="9525">
                      <a:noFill/>
                    </a:lnT>
                    <a:lnB w="9525">
                      <a:solidFill>
                        <a:srgbClr val="E6ECF7"/>
                      </a:solidFill>
                    </a:lnB>
                    <a:solidFill>
                      <a:srgbClr val="FFFFFF"/>
                    </a:solidFill>
                  </a:tcPr>
                </a:tc>
              </a:tr>
            </a:tbl>
          </a:graphicData>
        </a:graphic>
      </p:graphicFrame>
      <p:sp>
        <p:nvSpPr>
          <p:cNvPr id="6" name="Rounded Rectangle 5"/>
          <p:cNvSpPr/>
          <p:nvPr/>
        </p:nvSpPr>
        <p:spPr>
          <a:xfrm>
            <a:off x="960120" y="4297680"/>
            <a:ext cx="10268712" cy="150876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526280"/>
            <a:ext cx="9601200" cy="1280160"/>
          </a:xfrm>
          <a:prstGeom prst="rect">
            <a:avLst/>
          </a:prstGeom>
          <a:noFill/>
        </p:spPr>
        <p:txBody>
          <a:bodyPr wrap="square" lIns="0" rIns="0" tIns="0" bIns="0" anchor="t">
            <a:spAutoFit/>
          </a:bodyPr>
          <a:lstStyle/>
          <a:p>
            <a:pPr algn="l">
              <a:spcAft>
                <a:spcPts val="1000"/>
              </a:spcAft>
            </a:pPr>
            <a:r>
              <a:rPr sz="1600" b="1" i="0">
                <a:solidFill>
                  <a:srgbClr val="1E2A4A"/>
                </a:solidFill>
                <a:latin typeface="Arial"/>
              </a:rPr>
              <a:t>Cả hai nằm trong nhiễu của CV (khoảng ±0,03), nên chưa kết luận là cải thiện thật.</a:t>
            </a:r>
          </a:p>
          <a:p>
            <a:pPr algn="l">
              <a:spcAft>
                <a:spcPts val="1000"/>
              </a:spcAft>
            </a:pPr>
            <a:r>
              <a:rPr sz="1600" b="0" i="0">
                <a:solidFill>
                  <a:srgbClr val="56648A"/>
                </a:solidFill>
                <a:latin typeface="Arial"/>
              </a:rPr>
              <a:t>Trên bản 6 nhóm ban đầu: class weight, sampler cân bằng, đổi learning rate, weight decay, số epoch đều không vượt nhiễu.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Từ mô hình huấn luyện đến mô hình edge</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03120"/>
            <a:ext cx="822960" cy="548640"/>
          </a:xfrm>
          <a:prstGeom prst="rect">
            <a:avLst/>
          </a:prstGeom>
          <a:noFill/>
        </p:spPr>
        <p:txBody>
          <a:bodyPr wrap="square" lIns="0" rIns="0" tIns="0" bIns="0" anchor="t">
            <a:spAutoFit/>
          </a:bodyPr>
          <a:lstStyle/>
          <a:p>
            <a:pPr algn="l">
              <a:spcAft>
                <a:spcPts val="600"/>
              </a:spcAft>
            </a:pPr>
            <a:r>
              <a:rPr sz="3600" b="1" i="0">
                <a:solidFill>
                  <a:srgbClr val="3B6FF0"/>
                </a:solidFill>
                <a:latin typeface="Arial"/>
              </a:rPr>
              <a:t>01</a:t>
            </a:r>
          </a:p>
        </p:txBody>
      </p:sp>
      <p:sp>
        <p:nvSpPr>
          <p:cNvPr id="6" name="TextBox 5"/>
          <p:cNvSpPr txBox="1"/>
          <p:nvPr/>
        </p:nvSpPr>
        <p:spPr>
          <a:xfrm>
            <a:off x="11430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Mô hình huấn luyện</a:t>
            </a:r>
          </a:p>
        </p:txBody>
      </p:sp>
      <p:sp>
        <p:nvSpPr>
          <p:cNvPr id="7" name="TextBox 6"/>
          <p:cNvSpPr txBox="1"/>
          <p:nvPr/>
        </p:nvSpPr>
        <p:spPr>
          <a:xfrm>
            <a:off x="11430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FP32, chạy trên GPU</a:t>
            </a:r>
          </a:p>
        </p:txBody>
      </p:sp>
      <p:sp>
        <p:nvSpPr>
          <p:cNvPr id="8" name="Chevron 7"/>
          <p:cNvSpPr/>
          <p:nvPr/>
        </p:nvSpPr>
        <p:spPr>
          <a:xfrm>
            <a:off x="3310128" y="3291840"/>
            <a:ext cx="182880" cy="411480"/>
          </a:xfrm>
          <a:prstGeom prst="chevron">
            <a:avLst/>
          </a:prstGeom>
          <a:solidFill>
            <a:srgbClr val="3B6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0" y="2103120"/>
            <a:ext cx="822960" cy="548640"/>
          </a:xfrm>
          <a:prstGeom prst="rect">
            <a:avLst/>
          </a:prstGeom>
          <a:noFill/>
        </p:spPr>
        <p:txBody>
          <a:bodyPr wrap="square" lIns="0" rIns="0" tIns="0" bIns="0" anchor="t">
            <a:spAutoFit/>
          </a:bodyPr>
          <a:lstStyle/>
          <a:p>
            <a:pPr algn="l">
              <a:spcAft>
                <a:spcPts val="600"/>
              </a:spcAft>
            </a:pPr>
            <a:r>
              <a:rPr sz="3600" b="1" i="0">
                <a:solidFill>
                  <a:srgbClr val="0E9AC4"/>
                </a:solidFill>
                <a:latin typeface="Arial"/>
              </a:rPr>
              <a:t>02</a:t>
            </a:r>
          </a:p>
        </p:txBody>
      </p:sp>
      <p:sp>
        <p:nvSpPr>
          <p:cNvPr id="11" name="TextBox 10"/>
          <p:cNvSpPr txBox="1"/>
          <p:nvPr/>
        </p:nvSpPr>
        <p:spPr>
          <a:xfrm>
            <a:off x="38862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Chọn mô hình nhỏ</a:t>
            </a:r>
          </a:p>
        </p:txBody>
      </p:sp>
      <p:sp>
        <p:nvSpPr>
          <p:cNvPr id="12" name="TextBox 11"/>
          <p:cNvSpPr txBox="1"/>
          <p:nvPr/>
        </p:nvSpPr>
        <p:spPr>
          <a:xfrm>
            <a:off x="38862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Ít tham số, ít phép tính</a:t>
            </a:r>
          </a:p>
        </p:txBody>
      </p:sp>
      <p:sp>
        <p:nvSpPr>
          <p:cNvPr id="13" name="Chevron 12"/>
          <p:cNvSpPr/>
          <p:nvPr/>
        </p:nvSpPr>
        <p:spPr>
          <a:xfrm>
            <a:off x="6053328" y="3291840"/>
            <a:ext cx="182880" cy="411480"/>
          </a:xfrm>
          <a:prstGeom prst="chevron">
            <a:avLst/>
          </a:prstGeom>
          <a:solidFill>
            <a:srgbClr val="0E9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103120"/>
            <a:ext cx="822960" cy="548640"/>
          </a:xfrm>
          <a:prstGeom prst="rect">
            <a:avLst/>
          </a:prstGeom>
          <a:noFill/>
        </p:spPr>
        <p:txBody>
          <a:bodyPr wrap="square" lIns="0" rIns="0" tIns="0" bIns="0" anchor="t">
            <a:spAutoFit/>
          </a:bodyPr>
          <a:lstStyle/>
          <a:p>
            <a:pPr algn="l">
              <a:spcAft>
                <a:spcPts val="600"/>
              </a:spcAft>
            </a:pPr>
            <a:r>
              <a:rPr sz="3600" b="1" i="0">
                <a:solidFill>
                  <a:srgbClr val="5B5CE0"/>
                </a:solidFill>
                <a:latin typeface="Arial"/>
              </a:rPr>
              <a:t>03</a:t>
            </a:r>
          </a:p>
        </p:txBody>
      </p:sp>
      <p:sp>
        <p:nvSpPr>
          <p:cNvPr id="16" name="TextBox 15"/>
          <p:cNvSpPr txBox="1"/>
          <p:nvPr/>
        </p:nvSpPr>
        <p:spPr>
          <a:xfrm>
            <a:off x="66294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Lượng tử hoá INT8</a:t>
            </a:r>
          </a:p>
        </p:txBody>
      </p:sp>
      <p:sp>
        <p:nvSpPr>
          <p:cNvPr id="17" name="TextBox 16"/>
          <p:cNvSpPr txBox="1"/>
          <p:nvPr/>
        </p:nvSpPr>
        <p:spPr>
          <a:xfrm>
            <a:off x="66294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Số nguyên 8 bit, nhỏ hơn khoảng 4 lần</a:t>
            </a:r>
          </a:p>
        </p:txBody>
      </p:sp>
      <p:sp>
        <p:nvSpPr>
          <p:cNvPr id="18" name="Chevron 17"/>
          <p:cNvSpPr/>
          <p:nvPr/>
        </p:nvSpPr>
        <p:spPr>
          <a:xfrm>
            <a:off x="8796528" y="3291840"/>
            <a:ext cx="182880" cy="411480"/>
          </a:xfrm>
          <a:prstGeom prst="chevron">
            <a:avLst/>
          </a:prstGeom>
          <a:solidFill>
            <a:srgbClr val="5B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2103120"/>
            <a:ext cx="822960" cy="548640"/>
          </a:xfrm>
          <a:prstGeom prst="rect">
            <a:avLst/>
          </a:prstGeom>
          <a:noFill/>
        </p:spPr>
        <p:txBody>
          <a:bodyPr wrap="square" lIns="0" rIns="0" tIns="0" bIns="0" anchor="t">
            <a:spAutoFit/>
          </a:bodyPr>
          <a:lstStyle/>
          <a:p>
            <a:pPr algn="l">
              <a:spcAft>
                <a:spcPts val="600"/>
              </a:spcAft>
            </a:pPr>
            <a:r>
              <a:rPr sz="3600" b="1" i="0">
                <a:solidFill>
                  <a:srgbClr val="8E5CF0"/>
                </a:solidFill>
                <a:latin typeface="Arial"/>
              </a:rPr>
              <a:t>04</a:t>
            </a:r>
          </a:p>
        </p:txBody>
      </p:sp>
      <p:sp>
        <p:nvSpPr>
          <p:cNvPr id="21" name="TextBox 20"/>
          <p:cNvSpPr txBox="1"/>
          <p:nvPr/>
        </p:nvSpPr>
        <p:spPr>
          <a:xfrm>
            <a:off x="93726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Chạy trên chip edge</a:t>
            </a:r>
          </a:p>
        </p:txBody>
      </p:sp>
      <p:sp>
        <p:nvSpPr>
          <p:cNvPr id="22" name="TextBox 21"/>
          <p:cNvSpPr txBox="1"/>
          <p:nvPr/>
        </p:nvSpPr>
        <p:spPr>
          <a:xfrm>
            <a:off x="93726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Phép toán và kích thước ảnh bị giới hạn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Kết quả INT8</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3434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005840" y="1600200"/>
          <a:ext cx="10149840" cy="4114800"/>
        </p:xfrm>
        <a:graphic>
          <a:graphicData uri="http://schemas.openxmlformats.org/drawingml/2006/chart">
            <c:chart xmlns:c="http://schemas.openxmlformats.org/drawingml/2006/chart" r:id="rId3"/>
          </a:graphicData>
        </a:graphic>
      </p:graphicFrame>
      <p:sp>
        <p:nvSpPr>
          <p:cNvPr id="6" name="TextBox 5"/>
          <p:cNvSpPr txBox="1"/>
          <p:nvPr/>
        </p:nvSpPr>
        <p:spPr>
          <a:xfrm>
            <a:off x="822960" y="5989320"/>
            <a:ext cx="10058400" cy="365760"/>
          </a:xfrm>
          <a:prstGeom prst="rect">
            <a:avLst/>
          </a:prstGeom>
          <a:noFill/>
        </p:spPr>
        <p:txBody>
          <a:bodyPr wrap="square" lIns="0" rIns="0" tIns="0" bIns="0" anchor="t">
            <a:spAutoFit/>
          </a:bodyPr>
          <a:lstStyle/>
          <a:p>
            <a:pPr algn="l">
              <a:spcAft>
                <a:spcPts val="600"/>
              </a:spcAft>
            </a:pPr>
            <a:r>
              <a:rPr sz="1200" b="0" i="1">
                <a:solidFill>
                  <a:srgbClr val="8D99B8"/>
                </a:solidFill>
                <a:latin typeface="Arial"/>
              </a:rPr>
              <a:t>Test 2.581 ảnh, ONNX Runtime, CPU máy tính 1 luồng, INT8 tĩnh minmax per-channel.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Chọn mô hình cho edge</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7498079" cy="4434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960120" y="1554480"/>
          <a:ext cx="7223760" cy="4251960"/>
        </p:xfrm>
        <a:graphic>
          <a:graphicData uri="http://schemas.openxmlformats.org/drawingml/2006/chart">
            <c:chart xmlns:c="http://schemas.openxmlformats.org/drawingml/2006/chart" r:id="rId3"/>
          </a:graphicData>
        </a:graphic>
      </p:graphicFrame>
      <p:sp>
        <p:nvSpPr>
          <p:cNvPr id="6" name="Rounded Rectangle 5"/>
          <p:cNvSpPr/>
          <p:nvPr/>
        </p:nvSpPr>
        <p:spPr>
          <a:xfrm>
            <a:off x="8595360" y="1463040"/>
            <a:ext cx="2770632" cy="443484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0" y="1691640"/>
            <a:ext cx="2286000" cy="365760"/>
          </a:xfrm>
          <a:prstGeom prst="rect">
            <a:avLst/>
          </a:prstGeom>
          <a:noFill/>
        </p:spPr>
        <p:txBody>
          <a:bodyPr wrap="square" lIns="0" rIns="0" tIns="0" bIns="0" anchor="t">
            <a:spAutoFit/>
          </a:bodyPr>
          <a:lstStyle/>
          <a:p>
            <a:pPr algn="l">
              <a:spcAft>
                <a:spcPts val="600"/>
              </a:spcAft>
            </a:pPr>
            <a:r>
              <a:rPr sz="1700" b="1" i="0">
                <a:solidFill>
                  <a:srgbClr val="3B6FF0"/>
                </a:solidFill>
                <a:latin typeface="Arial"/>
              </a:rPr>
              <a:t>INT8 trên CPU</a:t>
            </a:r>
          </a:p>
        </p:txBody>
      </p:sp>
      <p:sp>
        <p:nvSpPr>
          <p:cNvPr id="8" name="TextBox 7"/>
          <p:cNvSpPr txBox="1"/>
          <p:nvPr/>
        </p:nvSpPr>
        <p:spPr>
          <a:xfrm>
            <a:off x="8869680" y="2194560"/>
            <a:ext cx="2377440" cy="320040"/>
          </a:xfrm>
          <a:prstGeom prst="rect">
            <a:avLst/>
          </a:prstGeom>
          <a:noFill/>
        </p:spPr>
        <p:txBody>
          <a:bodyPr wrap="square" lIns="0" rIns="0" tIns="0" bIns="0" anchor="t">
            <a:spAutoFit/>
          </a:bodyPr>
          <a:lstStyle/>
          <a:p>
            <a:pPr algn="l">
              <a:spcAft>
                <a:spcPts val="600"/>
              </a:spcAft>
            </a:pPr>
            <a:r>
              <a:rPr sz="1400" b="1" i="0">
                <a:solidFill>
                  <a:srgbClr val="3B6FF0"/>
                </a:solidFill>
                <a:latin typeface="Arial"/>
              </a:rPr>
              <a:t>EfficientNet-Lite0</a:t>
            </a:r>
          </a:p>
        </p:txBody>
      </p:sp>
      <p:sp>
        <p:nvSpPr>
          <p:cNvPr id="9" name="TextBox 8"/>
          <p:cNvSpPr txBox="1"/>
          <p:nvPr/>
        </p:nvSpPr>
        <p:spPr>
          <a:xfrm>
            <a:off x="8869680" y="2514600"/>
            <a:ext cx="2377440" cy="50292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215 FPS · 3,8 MB · F1 0,842</a:t>
            </a:r>
          </a:p>
        </p:txBody>
      </p:sp>
      <p:sp>
        <p:nvSpPr>
          <p:cNvPr id="10" name="TextBox 9"/>
          <p:cNvSpPr txBox="1"/>
          <p:nvPr/>
        </p:nvSpPr>
        <p:spPr>
          <a:xfrm>
            <a:off x="8869680" y="3090672"/>
            <a:ext cx="2377440" cy="320040"/>
          </a:xfrm>
          <a:prstGeom prst="rect">
            <a:avLst/>
          </a:prstGeom>
          <a:noFill/>
        </p:spPr>
        <p:txBody>
          <a:bodyPr wrap="square" lIns="0" rIns="0" tIns="0" bIns="0" anchor="t">
            <a:spAutoFit/>
          </a:bodyPr>
          <a:lstStyle/>
          <a:p>
            <a:pPr algn="l">
              <a:spcAft>
                <a:spcPts val="600"/>
              </a:spcAft>
            </a:pPr>
            <a:r>
              <a:rPr sz="1400" b="1" i="0">
                <a:solidFill>
                  <a:srgbClr val="0E9AC4"/>
                </a:solidFill>
                <a:latin typeface="Arial"/>
              </a:rPr>
              <a:t>ResNet18</a:t>
            </a:r>
          </a:p>
        </p:txBody>
      </p:sp>
      <p:sp>
        <p:nvSpPr>
          <p:cNvPr id="11" name="TextBox 10"/>
          <p:cNvSpPr txBox="1"/>
          <p:nvPr/>
        </p:nvSpPr>
        <p:spPr>
          <a:xfrm>
            <a:off x="8869680" y="3410712"/>
            <a:ext cx="2377440" cy="50292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104 FPS · 11,3 MB · F1 0,826</a:t>
            </a:r>
          </a:p>
        </p:txBody>
      </p:sp>
      <p:sp>
        <p:nvSpPr>
          <p:cNvPr id="12" name="TextBox 11"/>
          <p:cNvSpPr txBox="1"/>
          <p:nvPr/>
        </p:nvSpPr>
        <p:spPr>
          <a:xfrm>
            <a:off x="8869680" y="3986783"/>
            <a:ext cx="2377440" cy="320040"/>
          </a:xfrm>
          <a:prstGeom prst="rect">
            <a:avLst/>
          </a:prstGeom>
          <a:noFill/>
        </p:spPr>
        <p:txBody>
          <a:bodyPr wrap="square" lIns="0" rIns="0" tIns="0" bIns="0" anchor="t">
            <a:spAutoFit/>
          </a:bodyPr>
          <a:lstStyle/>
          <a:p>
            <a:pPr algn="l">
              <a:spcAft>
                <a:spcPts val="600"/>
              </a:spcAft>
            </a:pPr>
            <a:r>
              <a:rPr sz="1400" b="1" i="0">
                <a:solidFill>
                  <a:srgbClr val="5B5CE0"/>
                </a:solidFill>
                <a:latin typeface="Arial"/>
              </a:rPr>
              <a:t>ResNet50</a:t>
            </a:r>
          </a:p>
        </p:txBody>
      </p:sp>
      <p:sp>
        <p:nvSpPr>
          <p:cNvPr id="13" name="TextBox 12"/>
          <p:cNvSpPr txBox="1"/>
          <p:nvPr/>
        </p:nvSpPr>
        <p:spPr>
          <a:xfrm>
            <a:off x="8869680" y="4306823"/>
            <a:ext cx="2377440" cy="50292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46 FPS · 24 MB · F1 0,843</a:t>
            </a:r>
          </a:p>
        </p:txBody>
      </p:sp>
      <p:sp>
        <p:nvSpPr>
          <p:cNvPr id="14" name="TextBox 13"/>
          <p:cNvSpPr txBox="1"/>
          <p:nvPr/>
        </p:nvSpPr>
        <p:spPr>
          <a:xfrm>
            <a:off x="8869680" y="4882896"/>
            <a:ext cx="2377440" cy="320040"/>
          </a:xfrm>
          <a:prstGeom prst="rect">
            <a:avLst/>
          </a:prstGeom>
          <a:noFill/>
        </p:spPr>
        <p:txBody>
          <a:bodyPr wrap="square" lIns="0" rIns="0" tIns="0" bIns="0" anchor="t">
            <a:spAutoFit/>
          </a:bodyPr>
          <a:lstStyle/>
          <a:p>
            <a:pPr algn="l">
              <a:spcAft>
                <a:spcPts val="600"/>
              </a:spcAft>
            </a:pPr>
            <a:r>
              <a:rPr sz="1400" b="1" i="0">
                <a:solidFill>
                  <a:srgbClr val="8E5CF0"/>
                </a:solidFill>
                <a:latin typeface="Arial"/>
              </a:rPr>
              <a:t>MobileNetV3-Small</a:t>
            </a:r>
          </a:p>
        </p:txBody>
      </p:sp>
      <p:sp>
        <p:nvSpPr>
          <p:cNvPr id="15" name="TextBox 14"/>
          <p:cNvSpPr txBox="1"/>
          <p:nvPr/>
        </p:nvSpPr>
        <p:spPr>
          <a:xfrm>
            <a:off x="8869680" y="5202936"/>
            <a:ext cx="2377440" cy="50292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F1 0,067, không dùng được</a:t>
            </a:r>
          </a:p>
        </p:txBody>
      </p:sp>
      <p:sp>
        <p:nvSpPr>
          <p:cNvPr id="16" name="TextBox 15"/>
          <p:cNvSpPr txBox="1"/>
          <p:nvPr/>
        </p:nvSpPr>
        <p:spPr>
          <a:xfrm>
            <a:off x="822960" y="6035040"/>
            <a:ext cx="10515600" cy="365760"/>
          </a:xfrm>
          <a:prstGeom prst="rect">
            <a:avLst/>
          </a:prstGeom>
          <a:noFill/>
        </p:spPr>
        <p:txBody>
          <a:bodyPr wrap="square" lIns="0" rIns="0" tIns="0" bIns="0" anchor="t">
            <a:spAutoFit/>
          </a:bodyPr>
          <a:lstStyle/>
          <a:p>
            <a:pPr algn="l">
              <a:spcAft>
                <a:spcPts val="600"/>
              </a:spcAft>
            </a:pPr>
            <a:r>
              <a:rPr sz="1200" b="0" i="1">
                <a:solidFill>
                  <a:srgbClr val="8D99B8"/>
                </a:solidFill>
                <a:latin typeface="Arial"/>
              </a:rPr>
              <a:t>MNv3 INT8 (F1 0,067) nằm ngoài khung. MNv3 = MobileNetV3-S, Eff = EfficientNet-Lite0, R18/R50 = ResNet. FPS = 1000 / độ trễ, đo trên CPU máy tính, chỉ để so sánh tương đối.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Tổng kết</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333756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1560" y="1737360"/>
            <a:ext cx="2880360" cy="594360"/>
          </a:xfrm>
          <a:prstGeom prst="roundRect">
            <a:avLst>
              <a:gd name="adj" fmla="val 30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37360"/>
            <a:ext cx="2880360" cy="594360"/>
          </a:xfrm>
          <a:prstGeom prst="rect">
            <a:avLst/>
          </a:prstGeom>
          <a:noFill/>
        </p:spPr>
        <p:txBody>
          <a:bodyPr wrap="square" lIns="0" rIns="0" tIns="0" bIns="0" anchor="ctr">
            <a:spAutoFit/>
          </a:bodyPr>
          <a:lstStyle/>
          <a:p>
            <a:pPr algn="ctr">
              <a:spcAft>
                <a:spcPts val="600"/>
              </a:spcAft>
            </a:pPr>
            <a:r>
              <a:rPr sz="1800" b="1" i="0">
                <a:solidFill>
                  <a:srgbClr val="3B6FF0"/>
                </a:solidFill>
                <a:latin typeface="Arial"/>
              </a:rPr>
              <a:t>Đạt được</a:t>
            </a:r>
          </a:p>
        </p:txBody>
      </p:sp>
      <p:sp>
        <p:nvSpPr>
          <p:cNvPr id="7" name="TextBox 6"/>
          <p:cNvSpPr txBox="1"/>
          <p:nvPr/>
        </p:nvSpPr>
        <p:spPr>
          <a:xfrm>
            <a:off x="1188720" y="2697480"/>
            <a:ext cx="2697480" cy="3200400"/>
          </a:xfrm>
          <a:prstGeom prst="rect">
            <a:avLst/>
          </a:prstGeom>
          <a:noFill/>
        </p:spPr>
        <p:txBody>
          <a:bodyPr wrap="square" lIns="0" rIns="0" tIns="0" bIns="0" anchor="t">
            <a:spAutoFit/>
          </a:bodyPr>
          <a:lstStyle/>
          <a:p>
            <a:pPr algn="l" marL="274320" indent="-219456">
              <a:spcAft>
                <a:spcPts val="1400"/>
              </a:spcAft>
              <a:buChar char="•"/>
            </a:pPr>
            <a:r>
              <a:rPr sz="1500" b="0" i="0">
                <a:solidFill>
                  <a:srgbClr val="1E2A4A"/>
                </a:solidFill>
                <a:latin typeface="Arial"/>
              </a:rPr>
              <a:t>Chia theo tài xế, bỏ ảnh trùng, CV 5 fold</a:t>
            </a:r>
          </a:p>
          <a:p>
            <a:pPr algn="l" marL="274320" indent="-219456">
              <a:spcAft>
                <a:spcPts val="1400"/>
              </a:spcAft>
              <a:buChar char="•"/>
            </a:pPr>
            <a:r>
              <a:rPr sz="1500" b="0" i="0">
                <a:solidFill>
                  <a:srgbClr val="1E2A4A"/>
                </a:solidFill>
                <a:latin typeface="Arial"/>
              </a:rPr>
              <a:t>EfficientNet-Lite0: F1 0,863 ± 0,032</a:t>
            </a:r>
          </a:p>
          <a:p>
            <a:pPr algn="l" marL="274320" indent="-219456">
              <a:spcAft>
                <a:spcPts val="1400"/>
              </a:spcAft>
              <a:buChar char="•"/>
            </a:pPr>
            <a:r>
              <a:rPr sz="1500" b="0" i="0">
                <a:solidFill>
                  <a:srgbClr val="1E2A4A"/>
                </a:solidFill>
                <a:latin typeface="Arial"/>
              </a:rPr>
              <a:t>INT8: nhỏ hơn 3,5×, nhanh hơn 1,9×, F1 giữ nguyên</a:t>
            </a:r>
          </a:p>
          <a:p>
            <a:pPr algn="l" marL="274320" indent="-219456">
              <a:spcAft>
                <a:spcPts val="1400"/>
              </a:spcAft>
              <a:buChar char="•"/>
            </a:pPr>
            <a:r>
              <a:rPr sz="1500" b="0" i="0">
                <a:solidFill>
                  <a:srgbClr val="1E2A4A"/>
                </a:solidFill>
                <a:latin typeface="Arial"/>
              </a:rPr>
              <a:t>Mô hình nặng không chính xác hơn</a:t>
            </a:r>
          </a:p>
        </p:txBody>
      </p:sp>
      <p:sp>
        <p:nvSpPr>
          <p:cNvPr id="8" name="Rounded Rectangle 7"/>
          <p:cNvSpPr/>
          <p:nvPr/>
        </p:nvSpPr>
        <p:spPr>
          <a:xfrm>
            <a:off x="4434840" y="1508760"/>
            <a:ext cx="333756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63440" y="1737360"/>
            <a:ext cx="2880360" cy="594360"/>
          </a:xfrm>
          <a:prstGeom prst="roundRect">
            <a:avLst>
              <a:gd name="adj" fmla="val 30000"/>
            </a:avLst>
          </a:prstGeom>
          <a:solidFill>
            <a:srgbClr val="E8E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737360"/>
            <a:ext cx="2880360" cy="594360"/>
          </a:xfrm>
          <a:prstGeom prst="rect">
            <a:avLst/>
          </a:prstGeom>
          <a:noFill/>
        </p:spPr>
        <p:txBody>
          <a:bodyPr wrap="square" lIns="0" rIns="0" tIns="0" bIns="0" anchor="ctr">
            <a:spAutoFit/>
          </a:bodyPr>
          <a:lstStyle/>
          <a:p>
            <a:pPr algn="ctr">
              <a:spcAft>
                <a:spcPts val="600"/>
              </a:spcAft>
            </a:pPr>
            <a:r>
              <a:rPr sz="1800" b="1" i="0">
                <a:solidFill>
                  <a:srgbClr val="5B5CE0"/>
                </a:solidFill>
                <a:latin typeface="Arial"/>
              </a:rPr>
              <a:t>Hạn chế</a:t>
            </a:r>
          </a:p>
        </p:txBody>
      </p:sp>
      <p:sp>
        <p:nvSpPr>
          <p:cNvPr id="11" name="TextBox 10"/>
          <p:cNvSpPr txBox="1"/>
          <p:nvPr/>
        </p:nvSpPr>
        <p:spPr>
          <a:xfrm>
            <a:off x="4800600" y="2697480"/>
            <a:ext cx="2697480" cy="3200400"/>
          </a:xfrm>
          <a:prstGeom prst="rect">
            <a:avLst/>
          </a:prstGeom>
          <a:noFill/>
        </p:spPr>
        <p:txBody>
          <a:bodyPr wrap="square" lIns="0" rIns="0" tIns="0" bIns="0" anchor="t">
            <a:spAutoFit/>
          </a:bodyPr>
          <a:lstStyle/>
          <a:p>
            <a:pPr algn="l" marL="274320" indent="-219456">
              <a:spcAft>
                <a:spcPts val="1400"/>
              </a:spcAft>
              <a:buChar char="•"/>
            </a:pPr>
            <a:r>
              <a:rPr sz="1500" b="0" i="0">
                <a:solidFill>
                  <a:srgbClr val="1E2A4A"/>
                </a:solidFill>
                <a:latin typeface="Arial"/>
              </a:rPr>
              <a:t>CV lệch 0,03 đến 0,06 giữa các fold</a:t>
            </a:r>
          </a:p>
          <a:p>
            <a:pPr algn="l" marL="274320" indent="-219456">
              <a:spcAft>
                <a:spcPts val="1400"/>
              </a:spcAft>
              <a:buChar char="•"/>
            </a:pPr>
            <a:r>
              <a:rPr sz="1500" b="0" i="0">
                <a:solidFill>
                  <a:srgbClr val="1E2A4A"/>
                </a:solidFill>
                <a:latin typeface="Arial"/>
              </a:rPr>
              <a:t>Chưa đo trên chip edge</a:t>
            </a:r>
          </a:p>
          <a:p>
            <a:pPr algn="l" marL="274320" indent="-219456">
              <a:spcAft>
                <a:spcPts val="1400"/>
              </a:spcAft>
              <a:buChar char="•"/>
            </a:pPr>
            <a:r>
              <a:rPr sz="1500" b="0" i="0">
                <a:solidFill>
                  <a:srgbClr val="1E2A4A"/>
                </a:solidFill>
                <a:latin typeface="Arial"/>
              </a:rPr>
              <a:t>MobileNetV3-Small không chịu được INT8</a:t>
            </a:r>
          </a:p>
          <a:p>
            <a:pPr algn="l" marL="274320" indent="-219456">
              <a:spcAft>
                <a:spcPts val="1400"/>
              </a:spcAft>
              <a:buChar char="•"/>
            </a:pPr>
            <a:r>
              <a:rPr sz="1500" b="0" i="0">
                <a:solidFill>
                  <a:srgbClr val="1E2A4A"/>
                </a:solidFill>
                <a:latin typeface="Arial"/>
              </a:rPr>
              <a:t>Lớp c9 còn yếu (F1 0,6), hay bị nhầm với c8</a:t>
            </a:r>
          </a:p>
        </p:txBody>
      </p:sp>
      <p:sp>
        <p:nvSpPr>
          <p:cNvPr id="12" name="Rounded Rectangle 11"/>
          <p:cNvSpPr/>
          <p:nvPr/>
        </p:nvSpPr>
        <p:spPr>
          <a:xfrm>
            <a:off x="8046720" y="1508760"/>
            <a:ext cx="333756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75320" y="1737360"/>
            <a:ext cx="2880360" cy="594360"/>
          </a:xfrm>
          <a:prstGeom prst="roundRect">
            <a:avLst>
              <a:gd name="adj" fmla="val 30000"/>
            </a:avLst>
          </a:prstGeom>
          <a:solidFill>
            <a:srgbClr val="EFE8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737360"/>
            <a:ext cx="2880360" cy="594360"/>
          </a:xfrm>
          <a:prstGeom prst="rect">
            <a:avLst/>
          </a:prstGeom>
          <a:noFill/>
        </p:spPr>
        <p:txBody>
          <a:bodyPr wrap="square" lIns="0" rIns="0" tIns="0" bIns="0" anchor="ctr">
            <a:spAutoFit/>
          </a:bodyPr>
          <a:lstStyle/>
          <a:p>
            <a:pPr algn="ctr">
              <a:spcAft>
                <a:spcPts val="600"/>
              </a:spcAft>
            </a:pPr>
            <a:r>
              <a:rPr sz="1800" b="1" i="0">
                <a:solidFill>
                  <a:srgbClr val="8E5CF0"/>
                </a:solidFill>
                <a:latin typeface="Arial"/>
              </a:rPr>
              <a:t>Hướng phát triển</a:t>
            </a:r>
          </a:p>
        </p:txBody>
      </p:sp>
      <p:sp>
        <p:nvSpPr>
          <p:cNvPr id="15" name="TextBox 14"/>
          <p:cNvSpPr txBox="1"/>
          <p:nvPr/>
        </p:nvSpPr>
        <p:spPr>
          <a:xfrm>
            <a:off x="8412480" y="2697480"/>
            <a:ext cx="2697480" cy="3200400"/>
          </a:xfrm>
          <a:prstGeom prst="rect">
            <a:avLst/>
          </a:prstGeom>
          <a:noFill/>
        </p:spPr>
        <p:txBody>
          <a:bodyPr wrap="square" lIns="0" rIns="0" tIns="0" bIns="0" anchor="t">
            <a:spAutoFit/>
          </a:bodyPr>
          <a:lstStyle/>
          <a:p>
            <a:pPr algn="l" marL="274320" indent="-219456">
              <a:spcAft>
                <a:spcPts val="1400"/>
              </a:spcAft>
              <a:buChar char="•"/>
            </a:pPr>
            <a:r>
              <a:rPr sz="1500" b="0" i="0">
                <a:solidFill>
                  <a:srgbClr val="1E2A4A"/>
                </a:solidFill>
                <a:latin typeface="Arial"/>
              </a:rPr>
              <a:t>CV cho ResNet50, nhiều seed</a:t>
            </a:r>
          </a:p>
          <a:p>
            <a:pPr algn="l" marL="274320" indent="-219456">
              <a:spcAft>
                <a:spcPts val="1400"/>
              </a:spcAft>
              <a:buChar char="•"/>
            </a:pPr>
            <a:r>
              <a:rPr sz="1500" b="0" i="0">
                <a:solidFill>
                  <a:srgbClr val="1E2A4A"/>
                </a:solidFill>
                <a:latin typeface="Arial"/>
              </a:rPr>
              <a:t>QAT hoặc ReLU6 cho MobileNetV3-S</a:t>
            </a:r>
          </a:p>
          <a:p>
            <a:pPr algn="l" marL="274320" indent="-219456">
              <a:spcAft>
                <a:spcPts val="1400"/>
              </a:spcAft>
              <a:buChar char="•"/>
            </a:pPr>
            <a:r>
              <a:rPr sz="1500" b="0" i="0">
                <a:solidFill>
                  <a:srgbClr val="1E2A4A"/>
                </a:solidFill>
                <a:latin typeface="Arial"/>
              </a:rPr>
              <a:t>Đo trên chip edge thật</a:t>
            </a:r>
          </a:p>
          <a:p>
            <a:pPr algn="l" marL="274320" indent="-219456">
              <a:spcAft>
                <a:spcPts val="1400"/>
              </a:spcAft>
              <a:buChar char="•"/>
            </a:pPr>
            <a:r>
              <a:rPr sz="1500" b="0" i="0">
                <a:solidFill>
                  <a:srgbClr val="1E2A4A"/>
                </a:solidFill>
                <a:latin typeface="Arial"/>
              </a:rPr>
              <a:t>Xem lại nhãn lớp c9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