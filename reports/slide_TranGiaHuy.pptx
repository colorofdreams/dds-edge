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490" r:id="rId2"/>
    <p:sldId id="326" r:id="rId3"/>
    <p:sldId id="500" r:id="rId4"/>
    <p:sldId id="491" r:id="rId5"/>
    <p:sldId id="488" r:id="rId6"/>
    <p:sldId id="503" r:id="rId7"/>
    <p:sldId id="504" r:id="rId8"/>
    <p:sldId id="323" r:id="rId9"/>
    <p:sldId id="494" r:id="rId10"/>
    <p:sldId id="495" r:id="rId11"/>
    <p:sldId id="499" r:id="rId12"/>
    <p:sldId id="505" r:id="rId13"/>
    <p:sldId id="498" r:id="rId14"/>
  </p:sldIdLst>
  <p:sldSz cx="12192000" cy="6858000"/>
  <p:notesSz cx="6797675" cy="99282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07" autoAdjust="0"/>
    <p:restoredTop sz="94660"/>
  </p:normalViewPr>
  <p:slideViewPr>
    <p:cSldViewPr snapToGrid="0" showGuides="1">
      <p:cViewPr varScale="1">
        <p:scale>
          <a:sx n="89" d="100"/>
          <a:sy n="89" d="100"/>
        </p:scale>
        <p:origin x="504" y="72"/>
      </p:cViewPr>
      <p:guideLst>
        <p:guide orient="horz" pos="2160"/>
        <p:guide pos="387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3274" y="4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03510E-2DD8-44D2-8140-5CCCAF97B4E9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A54B8A-DE42-4955-AB74-C41E4CB4D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ED40D3-4564-40BF-B8A4-5D7EEBD71B30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936BE8-C6B9-419E-9D56-FD3E701AF11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GiaBa-UTE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black background with lines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371923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0481" y="1782501"/>
            <a:ext cx="6596991" cy="1405577"/>
          </a:xfrm>
        </p:spPr>
        <p:txBody>
          <a:bodyPr anchor="ctr">
            <a:noAutofit/>
          </a:bodyPr>
          <a:lstStyle>
            <a:lvl1pPr algn="ctr">
              <a:defRPr sz="4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087" y="3582634"/>
            <a:ext cx="6620386" cy="1655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AD602975-B289-4314-8493-37304AB31C48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61164" y="6275903"/>
            <a:ext cx="2743200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61747C95-3AE6-4FC3-BEF5-3AF60B1E4490}" type="slidenum">
              <a:rPr lang="en-US" smtClean="0"/>
              <a:t>‹#›</a:t>
            </a:fld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209" y="331948"/>
            <a:ext cx="6464263" cy="699342"/>
          </a:xfrm>
          <a:prstGeom prst="rect">
            <a:avLst/>
          </a:prstGeom>
        </p:spPr>
      </p:pic>
      <p:pic>
        <p:nvPicPr>
          <p:cNvPr id="17" name="Picture 16" descr="A collage of buildings&#10;&#10;Description automatically generated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6445" y="426461"/>
            <a:ext cx="5495555" cy="6032004"/>
          </a:xfrm>
          <a:prstGeom prst="rect">
            <a:avLst/>
          </a:prstGeom>
        </p:spPr>
      </p:pic>
      <p:pic>
        <p:nvPicPr>
          <p:cNvPr id="7" name="Picture 1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209" y="331948"/>
            <a:ext cx="6464263" cy="699342"/>
          </a:xfrm>
          <a:prstGeom prst="rect">
            <a:avLst/>
          </a:prstGeom>
        </p:spPr>
      </p:pic>
      <p:pic>
        <p:nvPicPr>
          <p:cNvPr id="8" name="Picture 16" descr="A collage of buildings&#10;&#10;Description automatically generated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6445" y="426461"/>
            <a:ext cx="5495555" cy="60320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RU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black background with lines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371923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0481" y="1782501"/>
            <a:ext cx="6596991" cy="1405577"/>
          </a:xfrm>
        </p:spPr>
        <p:txBody>
          <a:bodyPr anchor="ctr">
            <a:noAutofit/>
          </a:bodyPr>
          <a:lstStyle>
            <a:lvl1pPr algn="ctr">
              <a:defRPr sz="4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087" y="3582634"/>
            <a:ext cx="6620386" cy="1655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AD602975-B289-4314-8493-37304AB31C48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61164" y="6275903"/>
            <a:ext cx="2743200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61747C95-3AE6-4FC3-BEF5-3AF60B1E4490}" type="slidenum">
              <a:rPr lang="en-US" smtClean="0"/>
              <a:t>‹#›</a:t>
            </a:fld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209" y="331948"/>
            <a:ext cx="6464263" cy="699342"/>
          </a:xfrm>
          <a:prstGeom prst="rect">
            <a:avLst/>
          </a:prstGeom>
        </p:spPr>
      </p:pic>
      <p:pic>
        <p:nvPicPr>
          <p:cNvPr id="17" name="Picture 16" descr="A collage of buildings&#10;&#10;Description automatically generated"/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6445" y="426461"/>
            <a:ext cx="5495555" cy="60320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KHOA CƠ KH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black background with lines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371923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0481" y="1782501"/>
            <a:ext cx="6596991" cy="1405577"/>
          </a:xfrm>
        </p:spPr>
        <p:txBody>
          <a:bodyPr anchor="ctr">
            <a:noAutofit/>
          </a:bodyPr>
          <a:lstStyle>
            <a:lvl1pPr algn="ctr">
              <a:defRPr sz="4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087" y="3582634"/>
            <a:ext cx="6620386" cy="1655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AD602975-B289-4314-8493-37304AB31C48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61164" y="6275903"/>
            <a:ext cx="2743200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61747C95-3AE6-4FC3-BEF5-3AF60B1E4490}" type="slidenum">
              <a:rPr lang="en-US" smtClean="0"/>
              <a:t>‹#›</a:t>
            </a:fld>
            <a:endParaRPr lang="en-US"/>
          </a:p>
        </p:txBody>
      </p:sp>
      <p:pic>
        <p:nvPicPr>
          <p:cNvPr id="17" name="Picture 16" descr="A collage of buildings&#10;&#10;Description automatically generated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6445" y="426461"/>
            <a:ext cx="5495555" cy="603200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3175" y="329805"/>
            <a:ext cx="6048819" cy="831025"/>
          </a:xfrm>
          <a:prstGeom prst="rect">
            <a:avLst/>
          </a:prstGeom>
        </p:spPr>
      </p:pic>
      <p:pic>
        <p:nvPicPr>
          <p:cNvPr id="8" name="Picture 16" descr="A collage of buildings&#10;&#10;Description automatically generated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6445" y="426461"/>
            <a:ext cx="5495555" cy="6032004"/>
          </a:xfrm>
          <a:prstGeom prst="rect">
            <a:avLst/>
          </a:prstGeom>
        </p:spPr>
      </p:pic>
      <p:pic>
        <p:nvPicPr>
          <p:cNvPr id="9" name="Picture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3175" y="329805"/>
            <a:ext cx="6048819" cy="8310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KHOA CKD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black background with lines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371923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0481" y="1782501"/>
            <a:ext cx="6596991" cy="1405577"/>
          </a:xfrm>
        </p:spPr>
        <p:txBody>
          <a:bodyPr anchor="ctr">
            <a:noAutofit/>
          </a:bodyPr>
          <a:lstStyle>
            <a:lvl1pPr algn="ctr">
              <a:defRPr sz="4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087" y="3582634"/>
            <a:ext cx="6620386" cy="1655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AD602975-B289-4314-8493-37304AB31C48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61164" y="6275903"/>
            <a:ext cx="2743200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61747C95-3AE6-4FC3-BEF5-3AF60B1E4490}" type="slidenum">
              <a:rPr lang="en-US" smtClean="0"/>
              <a:t>‹#›</a:t>
            </a:fld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3172" y="329805"/>
            <a:ext cx="6048826" cy="831026"/>
          </a:xfrm>
          <a:prstGeom prst="rect">
            <a:avLst/>
          </a:prstGeom>
        </p:spPr>
      </p:pic>
      <p:pic>
        <p:nvPicPr>
          <p:cNvPr id="17" name="Picture 16" descr="A collage of buildings&#10;&#10;Description automatically generated"/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6445" y="426461"/>
            <a:ext cx="5495555" cy="60320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N May &amp;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black background with lines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371923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0481" y="1782501"/>
            <a:ext cx="6596991" cy="1405577"/>
          </a:xfrm>
        </p:spPr>
        <p:txBody>
          <a:bodyPr anchor="ctr">
            <a:noAutofit/>
          </a:bodyPr>
          <a:lstStyle>
            <a:lvl1pPr algn="ctr">
              <a:defRPr sz="4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087" y="3582634"/>
            <a:ext cx="6620386" cy="1655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AD602975-B289-4314-8493-37304AB31C48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61164" y="6275903"/>
            <a:ext cx="2743200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61747C95-3AE6-4FC3-BEF5-3AF60B1E4490}" type="slidenum">
              <a:rPr lang="en-US" smtClean="0"/>
              <a:t>‹#›</a:t>
            </a:fld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3175" y="329805"/>
            <a:ext cx="6048819" cy="831026"/>
          </a:xfrm>
          <a:prstGeom prst="rect">
            <a:avLst/>
          </a:prstGeom>
        </p:spPr>
      </p:pic>
      <p:pic>
        <p:nvPicPr>
          <p:cNvPr id="17" name="Picture 16" descr="A collage of buildings&#10;&#10;Description automatically generated"/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6445" y="426461"/>
            <a:ext cx="5495555" cy="60320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N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black background with lines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371923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0481" y="1782501"/>
            <a:ext cx="6596991" cy="1405577"/>
          </a:xfrm>
        </p:spPr>
        <p:txBody>
          <a:bodyPr anchor="ctr">
            <a:noAutofit/>
          </a:bodyPr>
          <a:lstStyle>
            <a:lvl1pPr algn="ctr">
              <a:defRPr sz="4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087" y="3582634"/>
            <a:ext cx="6620386" cy="1655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AD602975-B289-4314-8493-37304AB31C48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61164" y="6275903"/>
            <a:ext cx="2743200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61747C95-3AE6-4FC3-BEF5-3AF60B1E4490}" type="slidenum">
              <a:rPr lang="en-US" smtClean="0"/>
              <a:t>‹#›</a:t>
            </a:fld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3175" y="329805"/>
            <a:ext cx="6048819" cy="831025"/>
          </a:xfrm>
          <a:prstGeom prst="rect">
            <a:avLst/>
          </a:prstGeom>
        </p:spPr>
      </p:pic>
      <p:pic>
        <p:nvPicPr>
          <p:cNvPr id="17" name="Picture 16" descr="A collage of buildings&#10;&#10;Description automatically generated"/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6445" y="426461"/>
            <a:ext cx="5495555" cy="60320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KHC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black background with lines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371923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0481" y="1782501"/>
            <a:ext cx="6596991" cy="1405577"/>
          </a:xfrm>
        </p:spPr>
        <p:txBody>
          <a:bodyPr anchor="ctr">
            <a:noAutofit/>
          </a:bodyPr>
          <a:lstStyle>
            <a:lvl1pPr algn="ctr">
              <a:defRPr sz="4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087" y="3582634"/>
            <a:ext cx="6620386" cy="1655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AD602975-B289-4314-8493-37304AB31C48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61164" y="6275903"/>
            <a:ext cx="2743200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61747C95-3AE6-4FC3-BEF5-3AF60B1E4490}" type="slidenum">
              <a:rPr lang="en-US" smtClean="0"/>
              <a:t>‹#›</a:t>
            </a:fld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3178" y="329805"/>
            <a:ext cx="6048812" cy="831025"/>
          </a:xfrm>
          <a:prstGeom prst="rect">
            <a:avLst/>
          </a:prstGeom>
        </p:spPr>
      </p:pic>
      <p:pic>
        <p:nvPicPr>
          <p:cNvPr id="17" name="Picture 16" descr="A collage of buildings&#10;&#10;Description automatically generated"/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6445" y="426461"/>
            <a:ext cx="5495555" cy="60320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Đ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black background with lines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371923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0481" y="1782501"/>
            <a:ext cx="6596991" cy="1405577"/>
          </a:xfrm>
        </p:spPr>
        <p:txBody>
          <a:bodyPr anchor="ctr">
            <a:noAutofit/>
          </a:bodyPr>
          <a:lstStyle>
            <a:lvl1pPr algn="ctr">
              <a:defRPr sz="4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087" y="3582634"/>
            <a:ext cx="6620386" cy="1655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AD602975-B289-4314-8493-37304AB31C48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61164" y="6275903"/>
            <a:ext cx="2743200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61747C95-3AE6-4FC3-BEF5-3AF60B1E4490}" type="slidenum">
              <a:rPr lang="en-US" smtClean="0"/>
              <a:t>‹#›</a:t>
            </a:fld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3178" y="329805"/>
            <a:ext cx="6048812" cy="831024"/>
          </a:xfrm>
          <a:prstGeom prst="rect">
            <a:avLst/>
          </a:prstGeom>
        </p:spPr>
      </p:pic>
      <p:pic>
        <p:nvPicPr>
          <p:cNvPr id="17" name="Picture 16" descr="A collage of buildings&#10;&#10;Description automatically generated"/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6445" y="426461"/>
            <a:ext cx="5495555" cy="60320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NHH &amp;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black background with lines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371923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0481" y="1782501"/>
            <a:ext cx="6596991" cy="1405577"/>
          </a:xfrm>
        </p:spPr>
        <p:txBody>
          <a:bodyPr anchor="ctr">
            <a:noAutofit/>
          </a:bodyPr>
          <a:lstStyle>
            <a:lvl1pPr algn="ctr">
              <a:defRPr sz="4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087" y="3582634"/>
            <a:ext cx="6620386" cy="1655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AD602975-B289-4314-8493-37304AB31C48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61164" y="6275903"/>
            <a:ext cx="2743200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61747C95-3AE6-4FC3-BEF5-3AF60B1E4490}" type="slidenum">
              <a:rPr lang="en-US" smtClean="0"/>
              <a:t>‹#›</a:t>
            </a:fld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3178" y="334428"/>
            <a:ext cx="6048812" cy="821778"/>
          </a:xfrm>
          <a:prstGeom prst="rect">
            <a:avLst/>
          </a:prstGeom>
        </p:spPr>
      </p:pic>
      <p:pic>
        <p:nvPicPr>
          <p:cNvPr id="17" name="Picture 16" descr="A collage of buildings&#10;&#10;Description automatically generated"/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6445" y="426461"/>
            <a:ext cx="5495555" cy="60320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black background with lines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371923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0481" y="1782501"/>
            <a:ext cx="6596991" cy="1405577"/>
          </a:xfrm>
        </p:spPr>
        <p:txBody>
          <a:bodyPr anchor="ctr">
            <a:noAutofit/>
          </a:bodyPr>
          <a:lstStyle>
            <a:lvl1pPr algn="ctr">
              <a:defRPr sz="4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087" y="3582634"/>
            <a:ext cx="6620386" cy="1655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AD602975-B289-4314-8493-37304AB31C48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61164" y="6275903"/>
            <a:ext cx="2743200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61747C95-3AE6-4FC3-BEF5-3AF60B1E4490}" type="slidenum">
              <a:rPr lang="en-US" smtClean="0"/>
              <a:t>‹#›</a:t>
            </a:fld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3289" y="334428"/>
            <a:ext cx="5988589" cy="821778"/>
          </a:xfrm>
          <a:prstGeom prst="rect">
            <a:avLst/>
          </a:prstGeom>
        </p:spPr>
      </p:pic>
      <p:pic>
        <p:nvPicPr>
          <p:cNvPr id="17" name="Picture 16" descr="A collage of buildings&#10;&#10;Description automatically generated"/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6445" y="426461"/>
            <a:ext cx="5495555" cy="60320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black background with lines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371923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0481" y="1782501"/>
            <a:ext cx="6596991" cy="1405577"/>
          </a:xfrm>
        </p:spPr>
        <p:txBody>
          <a:bodyPr anchor="ctr">
            <a:noAutofit/>
          </a:bodyPr>
          <a:lstStyle>
            <a:lvl1pPr algn="ctr">
              <a:defRPr sz="4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087" y="3582634"/>
            <a:ext cx="6620386" cy="1655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AD602975-B289-4314-8493-37304AB31C48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61164" y="6275903"/>
            <a:ext cx="2743200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61747C95-3AE6-4FC3-BEF5-3AF60B1E4490}" type="slidenum">
              <a:rPr lang="en-US" smtClean="0"/>
              <a:t>‹#›</a:t>
            </a:fld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6831" y="334428"/>
            <a:ext cx="5981505" cy="821778"/>
          </a:xfrm>
          <a:prstGeom prst="rect">
            <a:avLst/>
          </a:prstGeom>
        </p:spPr>
      </p:pic>
      <p:pic>
        <p:nvPicPr>
          <p:cNvPr id="17" name="Picture 16" descr="A collage of buildings&#10;&#10;Description automatically generated"/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6445" y="426461"/>
            <a:ext cx="5495555" cy="60320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P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black background with lines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371923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0481" y="1782501"/>
            <a:ext cx="6596991" cy="1405577"/>
          </a:xfrm>
        </p:spPr>
        <p:txBody>
          <a:bodyPr anchor="ctr">
            <a:noAutofit/>
          </a:bodyPr>
          <a:lstStyle>
            <a:lvl1pPr algn="ctr">
              <a:defRPr sz="4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087" y="3582634"/>
            <a:ext cx="6620386" cy="1655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AD602975-B289-4314-8493-37304AB31C48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61164" y="6275903"/>
            <a:ext cx="2743200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61747C95-3AE6-4FC3-BEF5-3AF60B1E4490}" type="slidenum">
              <a:rPr lang="en-US" smtClean="0"/>
              <a:t>‹#›</a:t>
            </a:fld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6831" y="334833"/>
            <a:ext cx="5981505" cy="820967"/>
          </a:xfrm>
          <a:prstGeom prst="rect">
            <a:avLst/>
          </a:prstGeom>
        </p:spPr>
      </p:pic>
      <p:pic>
        <p:nvPicPr>
          <p:cNvPr id="17" name="Picture 16" descr="A collage of buildings&#10;&#10;Description automatically generated"/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6445" y="426461"/>
            <a:ext cx="5495555" cy="60320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L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black background with lines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371923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0481" y="1782501"/>
            <a:ext cx="6596991" cy="1405577"/>
          </a:xfrm>
        </p:spPr>
        <p:txBody>
          <a:bodyPr anchor="ctr">
            <a:noAutofit/>
          </a:bodyPr>
          <a:lstStyle>
            <a:lvl1pPr algn="ctr">
              <a:defRPr sz="4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087" y="3582634"/>
            <a:ext cx="6620386" cy="1655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AD602975-B289-4314-8493-37304AB31C48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61164" y="6275903"/>
            <a:ext cx="2743200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61747C95-3AE6-4FC3-BEF5-3AF60B1E4490}" type="slidenum">
              <a:rPr lang="en-US" smtClean="0"/>
              <a:t>‹#›</a:t>
            </a:fld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9782" y="334833"/>
            <a:ext cx="5975602" cy="820967"/>
          </a:xfrm>
          <a:prstGeom prst="rect">
            <a:avLst/>
          </a:prstGeom>
        </p:spPr>
      </p:pic>
      <p:pic>
        <p:nvPicPr>
          <p:cNvPr id="17" name="Picture 16" descr="A collage of buildings&#10;&#10;Description automatically generated"/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6445" y="426461"/>
            <a:ext cx="5495555" cy="60320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GDTC&amp;Q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black background with lines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371923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0481" y="1782501"/>
            <a:ext cx="6596991" cy="1405577"/>
          </a:xfrm>
        </p:spPr>
        <p:txBody>
          <a:bodyPr anchor="ctr">
            <a:noAutofit/>
          </a:bodyPr>
          <a:lstStyle>
            <a:lvl1pPr algn="ctr">
              <a:defRPr sz="4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087" y="3582634"/>
            <a:ext cx="6620386" cy="1655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AD602975-B289-4314-8493-37304AB31C48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61164" y="6275903"/>
            <a:ext cx="2743200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61747C95-3AE6-4FC3-BEF5-3AF60B1E4490}" type="slidenum">
              <a:rPr lang="en-US" smtClean="0"/>
              <a:t>‹#›</a:t>
            </a:fld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9782" y="338765"/>
            <a:ext cx="5975602" cy="813102"/>
          </a:xfrm>
          <a:prstGeom prst="rect">
            <a:avLst/>
          </a:prstGeom>
        </p:spPr>
      </p:pic>
      <p:pic>
        <p:nvPicPr>
          <p:cNvPr id="17" name="Picture 16" descr="A collage of buildings&#10;&#10;Description automatically generated"/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6445" y="426461"/>
            <a:ext cx="5495555" cy="60320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29" y="0"/>
            <a:ext cx="12189542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0819" y="1"/>
            <a:ext cx="9619238" cy="681036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0819" y="775504"/>
            <a:ext cx="11771791" cy="54014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30819" y="6334918"/>
            <a:ext cx="2743200" cy="365125"/>
          </a:xfrm>
        </p:spPr>
        <p:txBody>
          <a:bodyPr/>
          <a:lstStyle/>
          <a:p>
            <a:fld id="{AD602975-B289-4314-8493-37304AB31C48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34909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38569" y="6414022"/>
            <a:ext cx="2743200" cy="365125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61747C95-3AE6-4FC3-BEF5-3AF60B1E449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29" y="0"/>
            <a:ext cx="12189542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0819" y="1"/>
            <a:ext cx="9619238" cy="681036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0819" y="775504"/>
            <a:ext cx="11771791" cy="54014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30819" y="6334918"/>
            <a:ext cx="2743200" cy="365125"/>
          </a:xfrm>
        </p:spPr>
        <p:txBody>
          <a:bodyPr/>
          <a:lstStyle/>
          <a:p>
            <a:fld id="{AD602975-B289-4314-8493-37304AB31C48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34909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38569" y="6414022"/>
            <a:ext cx="2743200" cy="365125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61747C95-3AE6-4FC3-BEF5-3AF60B1E4490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 descr="A person holding a card with a bouquet of flowers&#10;&#10;Description automatically generated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77" y="707671"/>
            <a:ext cx="12189541" cy="61500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02975-B289-4314-8493-37304AB31C48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47C95-3AE6-4FC3-BEF5-3AF60B1E449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02975-B289-4314-8493-37304AB31C48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47C95-3AE6-4FC3-BEF5-3AF60B1E449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02975-B289-4314-8493-37304AB31C48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47C95-3AE6-4FC3-BEF5-3AF60B1E449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02975-B289-4314-8493-37304AB31C48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47C95-3AE6-4FC3-BEF5-3AF60B1E449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02975-B289-4314-8493-37304AB31C48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47C95-3AE6-4FC3-BEF5-3AF60B1E4490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5562600" y="-212634"/>
            <a:ext cx="9723120" cy="6568984"/>
            <a:chOff x="5765711" y="766150"/>
            <a:chExt cx="6803076" cy="4596189"/>
          </a:xfrm>
        </p:grpSpPr>
        <p:sp>
          <p:nvSpPr>
            <p:cNvPr id="6" name="Rectangle 5"/>
            <p:cNvSpPr/>
            <p:nvPr userDrawn="1"/>
          </p:nvSpPr>
          <p:spPr>
            <a:xfrm rot="2700000">
              <a:off x="5765711" y="1908218"/>
              <a:ext cx="384721" cy="384721"/>
            </a:xfrm>
            <a:prstGeom prst="rect">
              <a:avLst/>
            </a:prstGeom>
            <a:solidFill>
              <a:srgbClr val="00B0F0"/>
            </a:solidFill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 rot="2700000">
              <a:off x="6152172" y="2195720"/>
              <a:ext cx="1737049" cy="1737049"/>
            </a:xfrm>
            <a:prstGeom prst="rect">
              <a:avLst/>
            </a:prstGeom>
            <a:solidFill>
              <a:srgbClr val="00B050"/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 rot="2700000">
              <a:off x="7310581" y="3251267"/>
              <a:ext cx="1487359" cy="1487359"/>
            </a:xfrm>
            <a:prstGeom prst="rect">
              <a:avLst/>
            </a:prstGeom>
            <a:solidFill>
              <a:srgbClr val="00B0F0"/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5" name="Rectangle 4"/>
            <p:cNvSpPr/>
            <p:nvPr userDrawn="1"/>
          </p:nvSpPr>
          <p:spPr>
            <a:xfrm rot="2700000">
              <a:off x="7972598" y="766150"/>
              <a:ext cx="4596189" cy="4596189"/>
            </a:xfrm>
            <a:prstGeom prst="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 userDrawn="1"/>
          </p:nvSpPr>
          <p:spPr>
            <a:xfrm rot="2700000">
              <a:off x="6728295" y="2190471"/>
              <a:ext cx="1747549" cy="1747549"/>
            </a:xfrm>
            <a:prstGeom prst="rect">
              <a:avLst/>
            </a:prstGeom>
            <a:solidFill>
              <a:schemeClr val="bg1"/>
            </a:solidFill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10" name="Rectangle 9"/>
            <p:cNvSpPr/>
            <p:nvPr userDrawn="1"/>
          </p:nvSpPr>
          <p:spPr>
            <a:xfrm rot="2700000">
              <a:off x="6248428" y="4310369"/>
              <a:ext cx="544142" cy="544142"/>
            </a:xfrm>
            <a:prstGeom prst="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02975-B289-4314-8493-37304AB31C48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47C95-3AE6-4FC3-BEF5-3AF60B1E449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02975-B289-4314-8493-37304AB31C48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47C95-3AE6-4FC3-BEF5-3AF60B1E449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02975-B289-4314-8493-37304AB31C48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47C95-3AE6-4FC3-BEF5-3AF60B1E449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02975-B289-4314-8493-37304AB31C48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47C95-3AE6-4FC3-BEF5-3AF60B1E449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1803" y="1"/>
            <a:ext cx="9028253" cy="6810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775504"/>
            <a:ext cx="10515600" cy="54014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602975-B289-4314-8493-37304AB31C48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747C95-3AE6-4FC3-BEF5-3AF60B1E449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bg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16F57-DF9C-696D-7D9C-DCDBCE8BB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>
            <a:extLst>
              <a:ext uri="{FF2B5EF4-FFF2-40B4-BE49-F238E27FC236}">
                <a16:creationId xmlns:a16="http://schemas.microsoft.com/office/drawing/2014/main" id="{954FFF17-0E10-33E5-D307-44643AB11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/>
              <a:t>1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119D01EB-F080-8307-1233-1F9077FAC4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6236" y="1184989"/>
            <a:ext cx="10474778" cy="5328526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sz="3400" b="1">
                <a:latin typeface="Arial" panose="020B0604020202020204" pitchFamily="34" charset="0"/>
              </a:rPr>
              <a:t>Hệ thống xác định tình trạng giao thông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sz="3400" b="1">
                <a:latin typeface="Arial" panose="020B0604020202020204" pitchFamily="34" charset="0"/>
              </a:rPr>
              <a:t>từ dữ liệu GPS tài xế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036A6A-4D40-084F-F897-96A5BE83C153}"/>
              </a:ext>
            </a:extLst>
          </p:cNvPr>
          <p:cNvSpPr txBox="1"/>
          <p:nvPr/>
        </p:nvSpPr>
        <p:spPr>
          <a:xfrm>
            <a:off x="810986" y="4884047"/>
            <a:ext cx="60945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 Presenter: Huy Tran Gia</a:t>
            </a:r>
          </a:p>
        </p:txBody>
      </p:sp>
      <p:pic>
        <p:nvPicPr>
          <p:cNvPr id="2" name="Content Placeholder 5">
            <a:extLst>
              <a:ext uri="{FF2B5EF4-FFF2-40B4-BE49-F238E27FC236}">
                <a16:creationId xmlns:a16="http://schemas.microsoft.com/office/drawing/2014/main" id="{BCA7F51C-AE2B-6FAF-6945-1A8488FA2EF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3625" y="2558433"/>
            <a:ext cx="5130610" cy="2488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200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DFB4A-C710-0FF5-2091-E79B433B5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>
            <a:extLst>
              <a:ext uri="{FF2B5EF4-FFF2-40B4-BE49-F238E27FC236}">
                <a16:creationId xmlns:a16="http://schemas.microsoft.com/office/drawing/2014/main" id="{2BBB442C-666A-BFDA-A793-75DA3BBAB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/>
              <a:t>2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094F1CA-0FBC-1561-8407-F4A04ACDF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940" y="8681"/>
            <a:ext cx="9619238" cy="681036"/>
          </a:xfrm>
        </p:spPr>
        <p:txBody>
          <a:bodyPr>
            <a:norm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Arial" panose="020B0604020202020204" pitchFamily="34" charset="0"/>
              </a:rPr>
              <a:t>Bối cảnh </a:t>
            </a:r>
            <a:r>
              <a:rPr lang="en-US" sz="2400" b="1" dirty="0" err="1">
                <a:solidFill>
                  <a:srgbClr val="FFFFFF"/>
                </a:solidFill>
                <a:latin typeface="Arial" panose="020B0604020202020204" pitchFamily="34" charset="0"/>
              </a:rPr>
              <a:t>bài</a:t>
            </a:r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Arial" panose="020B0604020202020204" pitchFamily="34" charset="0"/>
              </a:rPr>
              <a:t>toán</a:t>
            </a:r>
            <a:endParaRPr lang="en-US" sz="24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9EEC06-20CA-87AA-B30D-EEBCEE3DD12C}"/>
              </a:ext>
            </a:extLst>
          </p:cNvPr>
          <p:cNvSpPr txBox="1"/>
          <p:nvPr/>
        </p:nvSpPr>
        <p:spPr>
          <a:xfrm>
            <a:off x="2032000" y="5143500"/>
            <a:ext cx="8128000" cy="923330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endParaRPr lang="vi-VN" sz="2700" b="1">
              <a:solidFill>
                <a:srgbClr val="1D2939"/>
              </a:solidFill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60856B-A67F-F4B1-F5AC-B9E66C405D36}"/>
              </a:ext>
            </a:extLst>
          </p:cNvPr>
          <p:cNvSpPr txBox="1"/>
          <p:nvPr/>
        </p:nvSpPr>
        <p:spPr>
          <a:xfrm>
            <a:off x="245852" y="892834"/>
            <a:ext cx="1194614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/>
              <a:t>Nếu không có tình trạng giao thông theo thời gian thực</a:t>
            </a:r>
          </a:p>
          <a:p>
            <a:pPr marL="285750" indent="-285750">
              <a:buFontTx/>
              <a:buChar char="-"/>
            </a:pPr>
            <a:r>
              <a:rPr lang="en-US" sz="2200"/>
              <a:t>Khách hàng không rõ tại sao lại phải đứng chờ tại 1 điểm đón cụ thể</a:t>
            </a:r>
          </a:p>
          <a:p>
            <a:pPr marL="285750" indent="-285750">
              <a:buFontTx/>
              <a:buChar char="-"/>
            </a:pPr>
            <a:r>
              <a:rPr lang="en-US" sz="2200"/>
              <a:t>Không rõ tại sao đồ mình đặt lại chậm hơn so với thường ngày</a:t>
            </a:r>
          </a:p>
          <a:p>
            <a:pPr marL="285750" indent="-285750">
              <a:buFontTx/>
              <a:buChar char="-"/>
            </a:pPr>
            <a:r>
              <a:rPr lang="en-US" sz="2200"/>
              <a:t>Các hệ thống ETA và routing không hoạt động ổn định</a:t>
            </a:r>
          </a:p>
          <a:p>
            <a:endParaRPr lang="en-US" sz="2200"/>
          </a:p>
        </p:txBody>
      </p:sp>
      <p:pic>
        <p:nvPicPr>
          <p:cNvPr id="3" name="Picture 2" descr="Cận cảnh những điểm đen ùn tắc, tai nạn giao thông ở TPHCM">
            <a:extLst>
              <a:ext uri="{FF2B5EF4-FFF2-40B4-BE49-F238E27FC236}">
                <a16:creationId xmlns:a16="http://schemas.microsoft.com/office/drawing/2014/main" id="{79FE4683-A77F-4671-395C-1B3F0D222A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4747" y="2671519"/>
            <a:ext cx="6092724" cy="3742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675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5EA48-F46B-DFE6-9B08-BC5F03D13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>
            <a:extLst>
              <a:ext uri="{FF2B5EF4-FFF2-40B4-BE49-F238E27FC236}">
                <a16:creationId xmlns:a16="http://schemas.microsoft.com/office/drawing/2014/main" id="{F2E77DBB-CF62-14BB-77D3-D8F7F1756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/>
              <a:t>3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E4826F3-5048-085F-AB0F-4E0DAD402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940" y="8681"/>
            <a:ext cx="9619238" cy="681036"/>
          </a:xfrm>
        </p:spPr>
        <p:txBody>
          <a:bodyPr>
            <a:norm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Arial" panose="020B0604020202020204" pitchFamily="34" charset="0"/>
              </a:rPr>
              <a:t>Mục tiêu</a:t>
            </a:r>
            <a:endParaRPr lang="en-US" sz="24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C966CD-4DC1-08DA-29F4-E253BA32C90E}"/>
              </a:ext>
            </a:extLst>
          </p:cNvPr>
          <p:cNvSpPr txBox="1"/>
          <p:nvPr/>
        </p:nvSpPr>
        <p:spPr>
          <a:xfrm>
            <a:off x="405940" y="983380"/>
            <a:ext cx="28575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en-US" b="1">
                <a:solidFill>
                  <a:srgbClr val="1D2939"/>
                </a:solidFill>
                <a:latin typeface="Arial" panose="020B0604020202020204" pitchFamily="34" charset="0"/>
              </a:rPr>
              <a:t>Đầu vào</a:t>
            </a:r>
            <a:endParaRPr lang="vi-VN" b="1">
              <a:solidFill>
                <a:srgbClr val="1D2939"/>
              </a:solidFill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4A130C-17C5-1B52-ECFA-9F51A5ACD673}"/>
              </a:ext>
            </a:extLst>
          </p:cNvPr>
          <p:cNvSpPr txBox="1"/>
          <p:nvPr/>
        </p:nvSpPr>
        <p:spPr>
          <a:xfrm>
            <a:off x="6127104" y="1062002"/>
            <a:ext cx="28575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vi-VN" b="1">
                <a:solidFill>
                  <a:srgbClr val="1D2939"/>
                </a:solidFill>
                <a:latin typeface="Arial" panose="020B0604020202020204" pitchFamily="34" charset="0"/>
              </a:rPr>
              <a:t>Đầu ra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8D34B4-8EA8-4C82-D3A8-716918A62C78}"/>
              </a:ext>
            </a:extLst>
          </p:cNvPr>
          <p:cNvSpPr txBox="1"/>
          <p:nvPr/>
        </p:nvSpPr>
        <p:spPr>
          <a:xfrm>
            <a:off x="6544040" y="2175923"/>
            <a:ext cx="2832100" cy="784830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endParaRPr lang="vi-VN" sz="1500">
              <a:solidFill>
                <a:srgbClr val="474F67"/>
              </a:solidFill>
              <a:latin typeface="Arial" panose="020B0604020202020204" pitchFamily="34" charset="0"/>
            </a:endParaRPr>
          </a:p>
        </p:txBody>
      </p:sp>
      <p:pic>
        <p:nvPicPr>
          <p:cNvPr id="11" name="Picture 10" descr="GPS là gì? Ứng dụng của GPS trên các thiết bị di động">
            <a:extLst>
              <a:ext uri="{FF2B5EF4-FFF2-40B4-BE49-F238E27FC236}">
                <a16:creationId xmlns:a16="http://schemas.microsoft.com/office/drawing/2014/main" id="{DA19B3A7-E109-8409-1926-E7AB83B00B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940" y="1646375"/>
            <a:ext cx="5320023" cy="2915081"/>
          </a:xfrm>
          <a:prstGeom prst="rect">
            <a:avLst/>
          </a:prstGeom>
        </p:spPr>
      </p:pic>
      <p:pic>
        <p:nvPicPr>
          <p:cNvPr id="12" name="Content Placeholder 5">
            <a:extLst>
              <a:ext uri="{FF2B5EF4-FFF2-40B4-BE49-F238E27FC236}">
                <a16:creationId xmlns:a16="http://schemas.microsoft.com/office/drawing/2014/main" id="{2F818CA6-DA87-E1CB-296F-6FF19E669BD4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7104" y="1646375"/>
            <a:ext cx="5449545" cy="2915081"/>
          </a:xfrm>
        </p:spPr>
      </p:pic>
    </p:spTree>
    <p:extLst>
      <p:ext uri="{BB962C8B-B14F-4D97-AF65-F5344CB8AC3E}">
        <p14:creationId xmlns:p14="http://schemas.microsoft.com/office/powerpoint/2010/main" val="1232848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DFB4A-C710-0FF5-2091-E79B433B5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>
            <a:extLst>
              <a:ext uri="{FF2B5EF4-FFF2-40B4-BE49-F238E27FC236}">
                <a16:creationId xmlns:a16="http://schemas.microsoft.com/office/drawing/2014/main" id="{2BBB442C-666A-BFDA-A793-75DA3BBAB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/>
              <a:t>4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094F1CA-0FBC-1561-8407-F4A04ACDF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940" y="8681"/>
            <a:ext cx="9619238" cy="681036"/>
          </a:xfrm>
        </p:spPr>
        <p:txBody>
          <a:bodyPr>
            <a:normAutofit/>
          </a:bodyPr>
          <a:lstStyle/>
          <a:p>
            <a:r>
              <a:rPr lang="en-US" sz="2400" b="1" err="1">
                <a:solidFill>
                  <a:srgbClr val="FFFFFF"/>
                </a:solidFill>
                <a:latin typeface="Arial" panose="020B0604020202020204" pitchFamily="34" charset="0"/>
              </a:rPr>
              <a:t>Kiến</a:t>
            </a:r>
            <a:r>
              <a:rPr lang="en-US" sz="2400" b="1">
                <a:solidFill>
                  <a:srgbClr val="FFFFFF"/>
                </a:solidFill>
                <a:latin typeface="Arial" panose="020B0604020202020204" pitchFamily="34" charset="0"/>
              </a:rPr>
              <a:t> trúc giải pháp</a:t>
            </a:r>
            <a:endParaRPr lang="en-US" sz="24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62C4AD-BFD8-244E-6AE7-9F07B580A8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803" y="689717"/>
            <a:ext cx="11536393" cy="5597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375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96350-7A60-5D5F-0FBC-E3CF660CC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>
            <a:extLst>
              <a:ext uri="{FF2B5EF4-FFF2-40B4-BE49-F238E27FC236}">
                <a16:creationId xmlns:a16="http://schemas.microsoft.com/office/drawing/2014/main" id="{02367D3D-DA5B-D7D5-96E3-D78D084F8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/>
              <a:t>5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605A58D8-10B6-2BC9-8F0E-424673B934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35000" y="116985"/>
            <a:ext cx="8077200" cy="6096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Location Module — Bước Validate</a:t>
            </a:r>
            <a:endParaRPr lang="en-US" altLang="en-US" sz="24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261450-9DDC-2BFB-6668-BCD2C29F8333}"/>
              </a:ext>
            </a:extLst>
          </p:cNvPr>
          <p:cNvSpPr txBox="1"/>
          <p:nvPr/>
        </p:nvSpPr>
        <p:spPr>
          <a:xfrm>
            <a:off x="1905000" y="5143500"/>
            <a:ext cx="8382000" cy="430887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endParaRPr lang="vi-VN" sz="2200" b="1">
              <a:solidFill>
                <a:srgbClr val="1D2939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C673C6-0933-CDD8-377D-EC5850DE7AB7}"/>
              </a:ext>
            </a:extLst>
          </p:cNvPr>
          <p:cNvSpPr txBox="1"/>
          <p:nvPr/>
        </p:nvSpPr>
        <p:spPr>
          <a:xfrm>
            <a:off x="635000" y="1086928"/>
            <a:ext cx="11557000" cy="2071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2200"/>
              <a:t>Độ lệch theo phương ngang &lt;= 20m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2200"/>
              <a:t>Sai số tốc độ &lt;= 5m/s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2200"/>
              <a:t>Độ lệch theo phương dọc &lt;= 30m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2200"/>
              <a:t>Không có mã tài xế, không có thời gian gửi</a:t>
            </a:r>
          </a:p>
        </p:txBody>
      </p:sp>
      <p:pic>
        <p:nvPicPr>
          <p:cNvPr id="4" name="Picture 3" descr="Khắc phục nhiễu tín hiệu với máy GPS RTK - Máy trắc địa sao việt">
            <a:extLst>
              <a:ext uri="{FF2B5EF4-FFF2-40B4-BE49-F238E27FC236}">
                <a16:creationId xmlns:a16="http://schemas.microsoft.com/office/drawing/2014/main" id="{0CEEFE66-5A62-6481-5C5B-E7F925DDC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3427" y="1026266"/>
            <a:ext cx="5778573" cy="4805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058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8FF0D-AB16-9000-59CC-3483DB415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>
            <a:extLst>
              <a:ext uri="{FF2B5EF4-FFF2-40B4-BE49-F238E27FC236}">
                <a16:creationId xmlns:a16="http://schemas.microsoft.com/office/drawing/2014/main" id="{3CD99D63-6A31-67E1-99FE-8D62C26B3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/>
              <a:t>6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A5C4E0F-0D77-9A3E-E0CA-55824A2039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35000" y="116985"/>
            <a:ext cx="8077200" cy="6096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Location Module — Lọc theo trạng thái tài xế</a:t>
            </a:r>
            <a:endParaRPr lang="en-US" altLang="en-US" sz="24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AFC445-410F-0627-BC33-AE765E8D3CB8}"/>
              </a:ext>
            </a:extLst>
          </p:cNvPr>
          <p:cNvSpPr txBox="1"/>
          <p:nvPr/>
        </p:nvSpPr>
        <p:spPr>
          <a:xfrm>
            <a:off x="1905000" y="5143500"/>
            <a:ext cx="8382000" cy="430887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endParaRPr lang="vi-VN" sz="2200" b="1">
              <a:solidFill>
                <a:srgbClr val="1D2939"/>
              </a:solidFill>
              <a:latin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955F207-45AC-A9B6-91B2-0EDE30AE08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1012152"/>
            <a:ext cx="8588670" cy="4833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969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44E86-2C66-965F-F876-ADE14302F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5AC9E6B0-1262-1CF8-0A2F-F59218B328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67762" y="0"/>
            <a:ext cx="9619238" cy="681036"/>
          </a:xfrm>
        </p:spPr>
        <p:txBody>
          <a:bodyPr anchor="ctr">
            <a:normAutofit/>
          </a:bodyPr>
          <a:lstStyle/>
          <a:p>
            <a:pPr>
              <a:defRPr/>
            </a:pPr>
            <a:r>
              <a:rPr lang="en-US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GraphHopper – Map matching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529519-8119-4081-7F33-03FB8E3D5670}"/>
              </a:ext>
            </a:extLst>
          </p:cNvPr>
          <p:cNvSpPr txBox="1"/>
          <p:nvPr/>
        </p:nvSpPr>
        <p:spPr>
          <a:xfrm>
            <a:off x="1905000" y="5143500"/>
            <a:ext cx="8382000" cy="430887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endParaRPr lang="vi-VN" sz="2200" b="1">
              <a:solidFill>
                <a:srgbClr val="1D2939"/>
              </a:solidFill>
              <a:latin typeface="Arial" panose="020B0604020202020204" pitchFamily="34" charset="0"/>
            </a:endParaRPr>
          </a:p>
        </p:txBody>
      </p:sp>
      <p:sp>
        <p:nvSpPr>
          <p:cNvPr id="19458" name="Slide Number Placeholder 5" hidden="1">
            <a:extLst>
              <a:ext uri="{FF2B5EF4-FFF2-40B4-BE49-F238E27FC236}">
                <a16:creationId xmlns:a16="http://schemas.microsoft.com/office/drawing/2014/main" id="{C2E94014-C870-925D-BE84-DAF8EB606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en-US" altLang="en-US" sz="1400"/>
              <a:t>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C1CE97-2196-08FF-034F-007C5DBF0035}"/>
              </a:ext>
            </a:extLst>
          </p:cNvPr>
          <p:cNvSpPr txBox="1"/>
          <p:nvPr/>
        </p:nvSpPr>
        <p:spPr>
          <a:xfrm>
            <a:off x="11890314" y="642667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55CF37-7DC5-2A9D-6DDB-FFD9B6A7AA4B}"/>
              </a:ext>
            </a:extLst>
          </p:cNvPr>
          <p:cNvSpPr txBox="1"/>
          <p:nvPr/>
        </p:nvSpPr>
        <p:spPr>
          <a:xfrm>
            <a:off x="854015" y="1104180"/>
            <a:ext cx="112057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/>
              <a:t>Map Matching gắn chuỗi GPS vào tuyến đường xe thực sự đi qua.</a:t>
            </a:r>
          </a:p>
          <a:p>
            <a:pPr marL="285750" indent="-285750">
              <a:buFontTx/>
              <a:buChar char="-"/>
            </a:pPr>
            <a:r>
              <a:rPr lang="en-US"/>
              <a:t>Đầu ra là một đoạn đường có hướng tương ứng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92C4222-9599-6F85-91D6-0EEE2183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0732" y="2204691"/>
            <a:ext cx="6466234" cy="422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417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9E23C-7107-E615-95B2-8E804B139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>
            <a:extLst>
              <a:ext uri="{FF2B5EF4-FFF2-40B4-BE49-F238E27FC236}">
                <a16:creationId xmlns:a16="http://schemas.microsoft.com/office/drawing/2014/main" id="{8418C296-93A7-5205-00D0-46D536CBD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/>
              <a:t>8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0ED24C0A-D6DC-8313-B475-74045D4F1C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7751" y="39685"/>
            <a:ext cx="8077200" cy="6096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4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Thuật toán tính độ tắc nghẽn</a:t>
            </a:r>
            <a:endParaRPr lang="en-US" altLang="en-US" sz="24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imelineLabel"/>
          <p:cNvSpPr txBox="1"/>
          <p:nvPr/>
        </p:nvSpPr>
        <p:spPr>
          <a:xfrm>
            <a:off x="900000" y="1420000"/>
            <a:ext cx="10300000" cy="35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sz="2000" b="1">
                <a:solidFill>
                  <a:srgbClr val="1D2939"/>
                </a:solidFill>
                <a:latin typeface="Arial" panose="020B0604020202020204" pitchFamily="34" charset="0"/>
              </a:rPr>
              <a:t>1 đoạn đường</a:t>
            </a:r>
            <a:r>
              <a:rPr lang="vi-VN" sz="2000" b="1">
                <a:solidFill>
                  <a:srgbClr val="1D2939"/>
                </a:solidFill>
                <a:latin typeface="Arial" panose="020B0604020202020204" pitchFamily="34" charset="0"/>
              </a:rPr>
              <a:t> = 10 </a:t>
            </a:r>
            <a:r>
              <a:rPr lang="en-US" sz="2000" b="1">
                <a:solidFill>
                  <a:srgbClr val="1D2939"/>
                </a:solidFill>
                <a:latin typeface="Arial" panose="020B0604020202020204" pitchFamily="34" charset="0"/>
              </a:rPr>
              <a:t>khung thời gian</a:t>
            </a:r>
            <a:r>
              <a:rPr lang="vi-VN" sz="2000" b="1">
                <a:solidFill>
                  <a:srgbClr val="1D2939"/>
                </a:solidFill>
                <a:latin typeface="Arial" panose="020B0604020202020204" pitchFamily="34" charset="0"/>
              </a:rPr>
              <a:t> × 30 giây</a:t>
            </a:r>
            <a:r>
              <a:rPr lang="en-US" sz="2000" b="1">
                <a:solidFill>
                  <a:srgbClr val="1D2939"/>
                </a:solidFill>
                <a:latin typeface="Arial" panose="020B0604020202020204" pitchFamily="34" charset="0"/>
              </a:rPr>
              <a:t> = 5 phút</a:t>
            </a:r>
            <a:endParaRPr lang="vi-VN" sz="2000" b="1">
              <a:solidFill>
                <a:srgbClr val="1D2939"/>
              </a:solidFill>
              <a:latin typeface="Arial" panose="020B0604020202020204" pitchFamily="34" charset="0"/>
            </a:endParaRPr>
          </a:p>
        </p:txBody>
      </p:sp>
      <p:sp>
        <p:nvSpPr>
          <p:cNvPr id="32" name="TimelineBorder"/>
          <p:cNvSpPr/>
          <p:nvPr/>
        </p:nvSpPr>
        <p:spPr>
          <a:xfrm>
            <a:off x="900000" y="1950000"/>
            <a:ext cx="10200000" cy="620000"/>
          </a:xfrm>
          <a:prstGeom prst="rect">
            <a:avLst/>
          </a:prstGeom>
          <a:noFill/>
          <a:ln w="15875">
            <a:solidFill>
              <a:srgbClr val="D3D7DD"/>
            </a:solidFill>
          </a:ln>
        </p:spPr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41" name="Divider1"/>
          <p:cNvSpPr/>
          <p:nvPr/>
        </p:nvSpPr>
        <p:spPr>
          <a:xfrm>
            <a:off x="1920000" y="1950000"/>
            <a:ext cx="6350" cy="620000"/>
          </a:xfrm>
          <a:prstGeom prst="rect">
            <a:avLst/>
          </a:prstGeom>
          <a:solidFill>
            <a:srgbClr val="D3D7DD"/>
          </a:solidFill>
          <a:ln>
            <a:noFill/>
          </a:ln>
        </p:spPr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42" name="Divider2"/>
          <p:cNvSpPr/>
          <p:nvPr/>
        </p:nvSpPr>
        <p:spPr>
          <a:xfrm>
            <a:off x="2940000" y="1950000"/>
            <a:ext cx="6350" cy="620000"/>
          </a:xfrm>
          <a:prstGeom prst="rect">
            <a:avLst/>
          </a:prstGeom>
          <a:solidFill>
            <a:srgbClr val="D3D7DD"/>
          </a:solidFill>
          <a:ln>
            <a:noFill/>
          </a:ln>
        </p:spPr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43" name="Divider3"/>
          <p:cNvSpPr/>
          <p:nvPr/>
        </p:nvSpPr>
        <p:spPr>
          <a:xfrm>
            <a:off x="3960000" y="1950000"/>
            <a:ext cx="6350" cy="620000"/>
          </a:xfrm>
          <a:prstGeom prst="rect">
            <a:avLst/>
          </a:prstGeom>
          <a:solidFill>
            <a:srgbClr val="D3D7DD"/>
          </a:solidFill>
          <a:ln>
            <a:noFill/>
          </a:ln>
        </p:spPr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44" name="Divider4"/>
          <p:cNvSpPr/>
          <p:nvPr/>
        </p:nvSpPr>
        <p:spPr>
          <a:xfrm>
            <a:off x="4980000" y="1950000"/>
            <a:ext cx="6350" cy="620000"/>
          </a:xfrm>
          <a:prstGeom prst="rect">
            <a:avLst/>
          </a:prstGeom>
          <a:solidFill>
            <a:srgbClr val="D3D7DD"/>
          </a:solidFill>
          <a:ln>
            <a:noFill/>
          </a:ln>
        </p:spPr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45" name="Divider5"/>
          <p:cNvSpPr/>
          <p:nvPr/>
        </p:nvSpPr>
        <p:spPr>
          <a:xfrm>
            <a:off x="6000000" y="1950000"/>
            <a:ext cx="6350" cy="620000"/>
          </a:xfrm>
          <a:prstGeom prst="rect">
            <a:avLst/>
          </a:prstGeom>
          <a:solidFill>
            <a:srgbClr val="D3D7DD"/>
          </a:solidFill>
          <a:ln>
            <a:noFill/>
          </a:ln>
        </p:spPr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46" name="Divider6"/>
          <p:cNvSpPr/>
          <p:nvPr/>
        </p:nvSpPr>
        <p:spPr>
          <a:xfrm>
            <a:off x="7020000" y="1950000"/>
            <a:ext cx="6350" cy="620000"/>
          </a:xfrm>
          <a:prstGeom prst="rect">
            <a:avLst/>
          </a:prstGeom>
          <a:solidFill>
            <a:srgbClr val="D3D7DD"/>
          </a:solidFill>
          <a:ln>
            <a:noFill/>
          </a:ln>
        </p:spPr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47" name="Divider7"/>
          <p:cNvSpPr/>
          <p:nvPr/>
        </p:nvSpPr>
        <p:spPr>
          <a:xfrm>
            <a:off x="8040000" y="1950000"/>
            <a:ext cx="6350" cy="620000"/>
          </a:xfrm>
          <a:prstGeom prst="rect">
            <a:avLst/>
          </a:prstGeom>
          <a:solidFill>
            <a:srgbClr val="D3D7DD"/>
          </a:solidFill>
          <a:ln>
            <a:noFill/>
          </a:ln>
        </p:spPr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48" name="Divider8"/>
          <p:cNvSpPr/>
          <p:nvPr/>
        </p:nvSpPr>
        <p:spPr>
          <a:xfrm>
            <a:off x="9060000" y="1950000"/>
            <a:ext cx="6350" cy="620000"/>
          </a:xfrm>
          <a:prstGeom prst="rect">
            <a:avLst/>
          </a:prstGeom>
          <a:solidFill>
            <a:srgbClr val="D3D7DD"/>
          </a:solidFill>
          <a:ln>
            <a:noFill/>
          </a:ln>
        </p:spPr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49" name="Divider9"/>
          <p:cNvSpPr/>
          <p:nvPr/>
        </p:nvSpPr>
        <p:spPr>
          <a:xfrm>
            <a:off x="10080000" y="1950000"/>
            <a:ext cx="6350" cy="620000"/>
          </a:xfrm>
          <a:prstGeom prst="rect">
            <a:avLst/>
          </a:prstGeom>
          <a:solidFill>
            <a:srgbClr val="D3D7DD"/>
          </a:solidFill>
          <a:ln>
            <a:noFill/>
          </a:ln>
        </p:spPr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0" name="BucketHighlight"/>
          <p:cNvSpPr/>
          <p:nvPr/>
        </p:nvSpPr>
        <p:spPr>
          <a:xfrm>
            <a:off x="8040000" y="1950000"/>
            <a:ext cx="1020000" cy="620000"/>
          </a:xfrm>
          <a:prstGeom prst="rect">
            <a:avLst/>
          </a:prstGeom>
          <a:solidFill>
            <a:srgbClr val="00A95C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lang="vi-VN" sz="1200" b="1">
                <a:solidFill>
                  <a:srgbClr val="FFFFFF"/>
                </a:solidFill>
                <a:latin typeface="Arial" panose="020B0604020202020204" pitchFamily="34" charset="0"/>
              </a:rPr>
              <a:t>bucket k</a:t>
            </a:r>
          </a:p>
        </p:txBody>
      </p:sp>
      <p:sp>
        <p:nvSpPr>
          <p:cNvPr id="51" name="T0"/>
          <p:cNvSpPr txBox="1"/>
          <p:nvPr/>
        </p:nvSpPr>
        <p:spPr>
          <a:xfrm>
            <a:off x="900000" y="2600000"/>
            <a:ext cx="900000" cy="26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vi-VN" sz="2000">
                <a:solidFill>
                  <a:srgbClr val="474F67"/>
                </a:solidFill>
                <a:latin typeface="Arial" panose="020B0604020202020204" pitchFamily="34" charset="0"/>
              </a:rPr>
              <a:t>0</a:t>
            </a:r>
            <a:r>
              <a:rPr lang="en-US" sz="2000">
                <a:solidFill>
                  <a:srgbClr val="474F67"/>
                </a:solidFill>
                <a:latin typeface="Arial" panose="020B0604020202020204" pitchFamily="34" charset="0"/>
              </a:rPr>
              <a:t>s</a:t>
            </a:r>
            <a:endParaRPr lang="vi-VN" sz="2000">
              <a:solidFill>
                <a:srgbClr val="474F67"/>
              </a:solidFill>
              <a:latin typeface="Arial" panose="020B0604020202020204" pitchFamily="34" charset="0"/>
            </a:endParaRPr>
          </a:p>
        </p:txBody>
      </p:sp>
      <p:sp>
        <p:nvSpPr>
          <p:cNvPr id="52" name="T5"/>
          <p:cNvSpPr txBox="1"/>
          <p:nvPr/>
        </p:nvSpPr>
        <p:spPr>
          <a:xfrm>
            <a:off x="10300000" y="2600000"/>
            <a:ext cx="800000" cy="26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/>
            <a:r>
              <a:rPr lang="vi-VN" sz="2000">
                <a:solidFill>
                  <a:srgbClr val="474F67"/>
                </a:solidFill>
                <a:latin typeface="Arial" panose="020B0604020202020204" pitchFamily="34" charset="0"/>
              </a:rPr>
              <a:t>5</a:t>
            </a:r>
            <a:r>
              <a:rPr lang="en-US" sz="2000">
                <a:solidFill>
                  <a:srgbClr val="474F67"/>
                </a:solidFill>
                <a:latin typeface="Arial" panose="020B0604020202020204" pitchFamily="34" charset="0"/>
              </a:rPr>
              <a:t>p</a:t>
            </a:r>
            <a:endParaRPr lang="vi-VN" sz="2000">
              <a:solidFill>
                <a:srgbClr val="474F67"/>
              </a:solidFill>
              <a:latin typeface="Arial" panose="020B0604020202020204" pitchFamily="34" charset="0"/>
            </a:endParaRPr>
          </a:p>
        </p:txBody>
      </p:sp>
      <p:sp>
        <p:nvSpPr>
          <p:cNvPr id="53" name="Leader"/>
          <p:cNvSpPr/>
          <p:nvPr/>
        </p:nvSpPr>
        <p:spPr>
          <a:xfrm>
            <a:off x="8541000" y="2570000"/>
            <a:ext cx="18000" cy="380000"/>
          </a:xfrm>
          <a:prstGeom prst="rect">
            <a:avLst/>
          </a:prstGeom>
          <a:solidFill>
            <a:srgbClr val="00A95C"/>
          </a:solidFill>
          <a:ln>
            <a:noFill/>
          </a:ln>
        </p:spPr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0" name="FormulaCard"/>
          <p:cNvSpPr/>
          <p:nvPr/>
        </p:nvSpPr>
        <p:spPr>
          <a:xfrm>
            <a:off x="1998350" y="2949999"/>
            <a:ext cx="8301650" cy="3174023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3D7DD"/>
            </a:solidFill>
          </a:ln>
        </p:spPr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1" name="CardHeader"/>
          <p:cNvSpPr txBox="1"/>
          <p:nvPr/>
        </p:nvSpPr>
        <p:spPr>
          <a:xfrm>
            <a:off x="2750000" y="3170000"/>
            <a:ext cx="6700000" cy="32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vi-VN" sz="1700" b="1">
                <a:solidFill>
                  <a:srgbClr val="1D2939"/>
                </a:solidFill>
                <a:latin typeface="Arial" panose="020B0604020202020204" pitchFamily="34" charset="0"/>
              </a:rPr>
              <a:t>Trong 1 </a:t>
            </a:r>
            <a:r>
              <a:rPr lang="en-US" sz="1700" b="1">
                <a:solidFill>
                  <a:srgbClr val="1D2939"/>
                </a:solidFill>
                <a:latin typeface="Arial" panose="020B0604020202020204" pitchFamily="34" charset="0"/>
              </a:rPr>
              <a:t>khung thời gian</a:t>
            </a:r>
            <a:r>
              <a:rPr lang="vi-VN" sz="1700" b="1">
                <a:solidFill>
                  <a:srgbClr val="1D2939"/>
                </a:solidFill>
                <a:latin typeface="Arial" panose="020B0604020202020204" pitchFamily="34" charset="0"/>
              </a:rPr>
              <a:t> (30 giây):</a:t>
            </a:r>
          </a:p>
        </p:txBody>
      </p:sp>
      <p:sp>
        <p:nvSpPr>
          <p:cNvPr id="62" name="CardLine1"/>
          <p:cNvSpPr txBox="1"/>
          <p:nvPr/>
        </p:nvSpPr>
        <p:spPr>
          <a:xfrm>
            <a:off x="2743739" y="3650000"/>
            <a:ext cx="6700000" cy="32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vi-VN" sz="2200" dirty="0">
                <a:solidFill>
                  <a:srgbClr val="474F67"/>
                </a:solidFill>
                <a:latin typeface="Arial" panose="020B0604020202020204" pitchFamily="34" charset="0"/>
              </a:rPr>
              <a:t>1.  </a:t>
            </a:r>
            <a:r>
              <a:rPr lang="en-US" sz="2200" dirty="0" err="1">
                <a:solidFill>
                  <a:srgbClr val="474F67"/>
                </a:solidFill>
                <a:latin typeface="Arial" panose="020B0604020202020204" pitchFamily="34" charset="0"/>
              </a:rPr>
              <a:t>Tỉ</a:t>
            </a:r>
            <a:r>
              <a:rPr lang="en-US" sz="2200" dirty="0">
                <a:solidFill>
                  <a:srgbClr val="474F67"/>
                </a:solidFill>
                <a:latin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474F67"/>
                </a:solidFill>
                <a:latin typeface="Arial" panose="020B0604020202020204" pitchFamily="34" charset="0"/>
              </a:rPr>
              <a:t>lệ</a:t>
            </a:r>
            <a:r>
              <a:rPr lang="en-US" sz="2200" dirty="0">
                <a:solidFill>
                  <a:srgbClr val="474F67"/>
                </a:solidFill>
                <a:latin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474F67"/>
                </a:solidFill>
                <a:latin typeface="Arial" panose="020B0604020202020204" pitchFamily="34" charset="0"/>
              </a:rPr>
              <a:t>tốc</a:t>
            </a:r>
            <a:r>
              <a:rPr lang="en-US" sz="2200" dirty="0">
                <a:solidFill>
                  <a:srgbClr val="474F67"/>
                </a:solidFill>
                <a:latin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474F67"/>
                </a:solidFill>
                <a:latin typeface="Arial" panose="020B0604020202020204" pitchFamily="34" charset="0"/>
              </a:rPr>
              <a:t>độ</a:t>
            </a:r>
            <a:r>
              <a:rPr lang="en-US" sz="2200" dirty="0">
                <a:solidFill>
                  <a:srgbClr val="474F67"/>
                </a:solidFill>
                <a:latin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474F67"/>
                </a:solidFill>
                <a:latin typeface="Arial" panose="020B0604020202020204" pitchFamily="34" charset="0"/>
              </a:rPr>
              <a:t>tại</a:t>
            </a:r>
            <a:r>
              <a:rPr lang="en-US" sz="2200" dirty="0">
                <a:solidFill>
                  <a:srgbClr val="474F67"/>
                </a:solidFill>
                <a:latin typeface="Arial" panose="020B0604020202020204" pitchFamily="34" charset="0"/>
              </a:rPr>
              <a:t> 1 </a:t>
            </a:r>
            <a:r>
              <a:rPr lang="en-US" sz="2200" dirty="0" err="1">
                <a:solidFill>
                  <a:srgbClr val="474F67"/>
                </a:solidFill>
                <a:latin typeface="Arial" panose="020B0604020202020204" pitchFamily="34" charset="0"/>
              </a:rPr>
              <a:t>điểm</a:t>
            </a:r>
            <a:r>
              <a:rPr lang="vi-VN" sz="2200" dirty="0">
                <a:solidFill>
                  <a:srgbClr val="474F67"/>
                </a:solidFill>
                <a:latin typeface="Arial" panose="020B0604020202020204" pitchFamily="34" charset="0"/>
              </a:rPr>
              <a:t> = min(</a:t>
            </a:r>
            <a:r>
              <a:rPr lang="en-US" sz="2200" dirty="0" err="1">
                <a:solidFill>
                  <a:srgbClr val="474F67"/>
                </a:solidFill>
                <a:latin typeface="Arial" panose="020B0604020202020204" pitchFamily="34" charset="0"/>
              </a:rPr>
              <a:t>tốc</a:t>
            </a:r>
            <a:r>
              <a:rPr lang="en-US" sz="2200" dirty="0">
                <a:solidFill>
                  <a:srgbClr val="474F67"/>
                </a:solidFill>
                <a:latin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474F67"/>
                </a:solidFill>
                <a:latin typeface="Arial" panose="020B0604020202020204" pitchFamily="34" charset="0"/>
              </a:rPr>
              <a:t>độ</a:t>
            </a:r>
            <a:r>
              <a:rPr lang="en-US" sz="2200" dirty="0">
                <a:solidFill>
                  <a:srgbClr val="474F67"/>
                </a:solidFill>
                <a:latin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474F67"/>
                </a:solidFill>
                <a:latin typeface="Arial" panose="020B0604020202020204" pitchFamily="34" charset="0"/>
              </a:rPr>
              <a:t>tức</a:t>
            </a:r>
            <a:r>
              <a:rPr lang="en-US" sz="2200" dirty="0">
                <a:solidFill>
                  <a:srgbClr val="474F67"/>
                </a:solidFill>
                <a:latin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474F67"/>
                </a:solidFill>
                <a:latin typeface="Arial" panose="020B0604020202020204" pitchFamily="34" charset="0"/>
              </a:rPr>
              <a:t>thời</a:t>
            </a:r>
            <a:r>
              <a:rPr lang="vi-VN" sz="2200" dirty="0">
                <a:solidFill>
                  <a:srgbClr val="474F67"/>
                </a:solidFill>
                <a:latin typeface="Arial" panose="020B0604020202020204" pitchFamily="34" charset="0"/>
              </a:rPr>
              <a:t> / </a:t>
            </a:r>
            <a:r>
              <a:rPr lang="en-US" sz="2200" err="1">
                <a:solidFill>
                  <a:srgbClr val="474F67"/>
                </a:solidFill>
                <a:latin typeface="Arial" panose="020B0604020202020204" pitchFamily="34" charset="0"/>
              </a:rPr>
              <a:t>tốc</a:t>
            </a:r>
            <a:r>
              <a:rPr lang="en-US" sz="2200">
                <a:solidFill>
                  <a:srgbClr val="474F67"/>
                </a:solidFill>
                <a:latin typeface="Arial" panose="020B0604020202020204" pitchFamily="34" charset="0"/>
              </a:rPr>
              <a:t> độ thông thoáng </a:t>
            </a:r>
            <a:r>
              <a:rPr lang="en-US" sz="2200" dirty="0" err="1">
                <a:solidFill>
                  <a:srgbClr val="474F67"/>
                </a:solidFill>
                <a:latin typeface="Arial" panose="020B0604020202020204" pitchFamily="34" charset="0"/>
              </a:rPr>
              <a:t>của</a:t>
            </a:r>
            <a:r>
              <a:rPr lang="en-US" sz="2200" dirty="0">
                <a:solidFill>
                  <a:srgbClr val="474F67"/>
                </a:solidFill>
                <a:latin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474F67"/>
                </a:solidFill>
                <a:latin typeface="Arial" panose="020B0604020202020204" pitchFamily="34" charset="0"/>
              </a:rPr>
              <a:t>đường</a:t>
            </a:r>
            <a:r>
              <a:rPr lang="vi-VN" sz="2200" dirty="0">
                <a:solidFill>
                  <a:srgbClr val="474F67"/>
                </a:solidFill>
                <a:latin typeface="Arial" panose="020B0604020202020204" pitchFamily="34" charset="0"/>
              </a:rPr>
              <a:t>, 1)</a:t>
            </a:r>
          </a:p>
        </p:txBody>
      </p:sp>
      <p:sp>
        <p:nvSpPr>
          <p:cNvPr id="63" name="CardLine2"/>
          <p:cNvSpPr txBox="1"/>
          <p:nvPr/>
        </p:nvSpPr>
        <p:spPr>
          <a:xfrm>
            <a:off x="2812751" y="4744022"/>
            <a:ext cx="6700000" cy="4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vi-VN" sz="2200" dirty="0">
                <a:solidFill>
                  <a:srgbClr val="474F67"/>
                </a:solidFill>
                <a:latin typeface="Arial" panose="020B0604020202020204" pitchFamily="34" charset="0"/>
              </a:rPr>
              <a:t>2.  </a:t>
            </a:r>
            <a:r>
              <a:rPr lang="en-US" sz="2200" dirty="0" err="1">
                <a:solidFill>
                  <a:srgbClr val="474F67"/>
                </a:solidFill>
                <a:latin typeface="Arial" panose="020B0604020202020204" pitchFamily="34" charset="0"/>
              </a:rPr>
              <a:t>tỉ</a:t>
            </a:r>
            <a:r>
              <a:rPr lang="en-US" sz="2200" dirty="0">
                <a:solidFill>
                  <a:srgbClr val="474F67"/>
                </a:solidFill>
                <a:latin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474F67"/>
                </a:solidFill>
                <a:latin typeface="Arial" panose="020B0604020202020204" pitchFamily="34" charset="0"/>
              </a:rPr>
              <a:t>lệ</a:t>
            </a:r>
            <a:r>
              <a:rPr lang="en-US" sz="2200" dirty="0">
                <a:solidFill>
                  <a:srgbClr val="474F67"/>
                </a:solidFill>
                <a:latin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474F67"/>
                </a:solidFill>
                <a:latin typeface="Arial" panose="020B0604020202020204" pitchFamily="34" charset="0"/>
              </a:rPr>
              <a:t>tốc</a:t>
            </a:r>
            <a:r>
              <a:rPr lang="en-US" sz="2200" dirty="0">
                <a:solidFill>
                  <a:srgbClr val="474F67"/>
                </a:solidFill>
                <a:latin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474F67"/>
                </a:solidFill>
                <a:latin typeface="Arial" panose="020B0604020202020204" pitchFamily="34" charset="0"/>
              </a:rPr>
              <a:t>độ</a:t>
            </a:r>
            <a:r>
              <a:rPr lang="en-US" sz="2200" dirty="0">
                <a:solidFill>
                  <a:srgbClr val="474F67"/>
                </a:solidFill>
                <a:latin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474F67"/>
                </a:solidFill>
                <a:latin typeface="Arial" panose="020B0604020202020204" pitchFamily="34" charset="0"/>
              </a:rPr>
              <a:t>của</a:t>
            </a:r>
            <a:r>
              <a:rPr lang="en-US" sz="2200" dirty="0">
                <a:solidFill>
                  <a:srgbClr val="474F67"/>
                </a:solidFill>
                <a:latin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474F67"/>
                </a:solidFill>
                <a:latin typeface="Arial" panose="020B0604020202020204" pitchFamily="34" charset="0"/>
              </a:rPr>
              <a:t>xe</a:t>
            </a:r>
            <a:r>
              <a:rPr lang="vi-VN" sz="2200" dirty="0">
                <a:solidFill>
                  <a:srgbClr val="474F67"/>
                </a:solidFill>
                <a:latin typeface="Arial" panose="020B0604020202020204" pitchFamily="34" charset="0"/>
              </a:rPr>
              <a:t> = </a:t>
            </a:r>
            <a:r>
              <a:rPr lang="en-US" sz="2200" dirty="0" err="1">
                <a:solidFill>
                  <a:srgbClr val="474F67"/>
                </a:solidFill>
                <a:latin typeface="Arial" panose="020B0604020202020204" pitchFamily="34" charset="0"/>
              </a:rPr>
              <a:t>trung</a:t>
            </a:r>
            <a:r>
              <a:rPr lang="en-US" sz="2200" dirty="0">
                <a:solidFill>
                  <a:srgbClr val="474F67"/>
                </a:solidFill>
                <a:latin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474F67"/>
                </a:solidFill>
                <a:latin typeface="Arial" panose="020B0604020202020204" pitchFamily="34" charset="0"/>
              </a:rPr>
              <a:t>bình</a:t>
            </a:r>
            <a:r>
              <a:rPr lang="vi-VN" sz="2200" dirty="0">
                <a:solidFill>
                  <a:srgbClr val="474F67"/>
                </a:solidFill>
                <a:latin typeface="Arial" panose="020B0604020202020204" pitchFamily="34" charset="0"/>
              </a:rPr>
              <a:t>(</a:t>
            </a:r>
            <a:r>
              <a:rPr lang="en-US" sz="2200" dirty="0" err="1">
                <a:solidFill>
                  <a:srgbClr val="474F67"/>
                </a:solidFill>
                <a:latin typeface="Arial" panose="020B0604020202020204" pitchFamily="34" charset="0"/>
              </a:rPr>
              <a:t>tỉ</a:t>
            </a:r>
            <a:r>
              <a:rPr lang="en-US" sz="2200" dirty="0">
                <a:solidFill>
                  <a:srgbClr val="474F67"/>
                </a:solidFill>
                <a:latin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474F67"/>
                </a:solidFill>
                <a:latin typeface="Arial" panose="020B0604020202020204" pitchFamily="34" charset="0"/>
              </a:rPr>
              <a:t>lệ</a:t>
            </a:r>
            <a:r>
              <a:rPr lang="en-US" sz="2200" dirty="0">
                <a:solidFill>
                  <a:srgbClr val="474F67"/>
                </a:solidFill>
                <a:latin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474F67"/>
                </a:solidFill>
                <a:latin typeface="Arial" panose="020B0604020202020204" pitchFamily="34" charset="0"/>
              </a:rPr>
              <a:t>tốc</a:t>
            </a:r>
            <a:r>
              <a:rPr lang="en-US" sz="2200" dirty="0">
                <a:solidFill>
                  <a:srgbClr val="474F67"/>
                </a:solidFill>
                <a:latin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474F67"/>
                </a:solidFill>
                <a:latin typeface="Arial" panose="020B0604020202020204" pitchFamily="34" charset="0"/>
              </a:rPr>
              <a:t>độ</a:t>
            </a:r>
            <a:r>
              <a:rPr lang="en-US" sz="2200" dirty="0">
                <a:solidFill>
                  <a:srgbClr val="474F67"/>
                </a:solidFill>
                <a:latin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474F67"/>
                </a:solidFill>
                <a:latin typeface="Arial" panose="020B0604020202020204" pitchFamily="34" charset="0"/>
              </a:rPr>
              <a:t>tại</a:t>
            </a:r>
            <a:r>
              <a:rPr lang="en-US" sz="2200" dirty="0">
                <a:solidFill>
                  <a:srgbClr val="474F67"/>
                </a:solidFill>
                <a:latin typeface="Arial" panose="020B0604020202020204" pitchFamily="34" charset="0"/>
              </a:rPr>
              <a:t> 1 </a:t>
            </a:r>
            <a:r>
              <a:rPr lang="en-US" sz="2200" dirty="0" err="1">
                <a:solidFill>
                  <a:srgbClr val="474F67"/>
                </a:solidFill>
                <a:latin typeface="Arial" panose="020B0604020202020204" pitchFamily="34" charset="0"/>
              </a:rPr>
              <a:t>điểm</a:t>
            </a:r>
            <a:r>
              <a:rPr lang="vi-VN" sz="2200" dirty="0">
                <a:solidFill>
                  <a:srgbClr val="474F67"/>
                </a:solidFill>
                <a:latin typeface="Arial" panose="020B0604020202020204" pitchFamily="34" charset="0"/>
              </a:rPr>
              <a:t> của xe đó trong </a:t>
            </a:r>
            <a:r>
              <a:rPr lang="en-US" sz="2200" dirty="0" err="1">
                <a:solidFill>
                  <a:srgbClr val="474F67"/>
                </a:solidFill>
                <a:latin typeface="Arial" panose="020B0604020202020204" pitchFamily="34" charset="0"/>
              </a:rPr>
              <a:t>khung</a:t>
            </a:r>
            <a:r>
              <a:rPr lang="en-US" sz="2200" dirty="0">
                <a:solidFill>
                  <a:srgbClr val="474F67"/>
                </a:solidFill>
                <a:latin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474F67"/>
                </a:solidFill>
                <a:latin typeface="Arial" panose="020B0604020202020204" pitchFamily="34" charset="0"/>
              </a:rPr>
              <a:t>thời</a:t>
            </a:r>
            <a:r>
              <a:rPr lang="en-US" sz="2200" dirty="0">
                <a:solidFill>
                  <a:srgbClr val="474F67"/>
                </a:solidFill>
                <a:latin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474F67"/>
                </a:solidFill>
                <a:latin typeface="Arial" panose="020B0604020202020204" pitchFamily="34" charset="0"/>
              </a:rPr>
              <a:t>gian</a:t>
            </a:r>
            <a:r>
              <a:rPr lang="vi-VN" sz="2200" dirty="0">
                <a:solidFill>
                  <a:srgbClr val="474F67"/>
                </a:solidFill>
                <a:latin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82412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DFB4A-C710-0FF5-2091-E79B433B5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>
            <a:extLst>
              <a:ext uri="{FF2B5EF4-FFF2-40B4-BE49-F238E27FC236}">
                <a16:creationId xmlns:a16="http://schemas.microsoft.com/office/drawing/2014/main" id="{2BBB442C-666A-BFDA-A793-75DA3BBAB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/>
              <a:t>9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094F1CA-0FBC-1561-8407-F4A04ACDF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940" y="8681"/>
            <a:ext cx="9619238" cy="681036"/>
          </a:xfrm>
        </p:spPr>
        <p:txBody>
          <a:bodyPr>
            <a:norm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Arial" panose="020B0604020202020204" pitchFamily="34" charset="0"/>
              </a:rPr>
              <a:t>Thuật toán tính độ tắc nghẽn</a:t>
            </a:r>
          </a:p>
        </p:txBody>
      </p:sp>
      <p:sp>
        <p:nvSpPr>
          <p:cNvPr id="100" name="Bar0"/>
          <p:cNvSpPr/>
          <p:nvPr/>
        </p:nvSpPr>
        <p:spPr>
          <a:xfrm>
            <a:off x="900000" y="2135000"/>
            <a:ext cx="405000" cy="315000"/>
          </a:xfrm>
          <a:prstGeom prst="rect">
            <a:avLst/>
          </a:prstGeom>
          <a:solidFill>
            <a:srgbClr val="00A95C"/>
          </a:solidFill>
          <a:ln>
            <a:noFill/>
          </a:ln>
        </p:spPr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1" name="Bar1"/>
          <p:cNvSpPr/>
          <p:nvPr/>
        </p:nvSpPr>
        <p:spPr>
          <a:xfrm>
            <a:off x="1330000" y="2070001"/>
            <a:ext cx="405000" cy="379999"/>
          </a:xfrm>
          <a:prstGeom prst="rect">
            <a:avLst/>
          </a:prstGeom>
          <a:solidFill>
            <a:srgbClr val="00A95C"/>
          </a:solidFill>
          <a:ln>
            <a:noFill/>
          </a:ln>
        </p:spPr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2" name="Bar2"/>
          <p:cNvSpPr/>
          <p:nvPr/>
        </p:nvSpPr>
        <p:spPr>
          <a:xfrm>
            <a:off x="1760000" y="2005001"/>
            <a:ext cx="405000" cy="444999"/>
          </a:xfrm>
          <a:prstGeom prst="rect">
            <a:avLst/>
          </a:prstGeom>
          <a:solidFill>
            <a:srgbClr val="00A95C"/>
          </a:solidFill>
          <a:ln>
            <a:noFill/>
          </a:ln>
        </p:spPr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3" name="Bar3"/>
          <p:cNvSpPr/>
          <p:nvPr/>
        </p:nvSpPr>
        <p:spPr>
          <a:xfrm>
            <a:off x="2190000" y="1940000"/>
            <a:ext cx="405000" cy="510000"/>
          </a:xfrm>
          <a:prstGeom prst="rect">
            <a:avLst/>
          </a:prstGeom>
          <a:solidFill>
            <a:srgbClr val="00A95C"/>
          </a:solidFill>
          <a:ln>
            <a:noFill/>
          </a:ln>
        </p:spPr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4" name="Bar4"/>
          <p:cNvSpPr/>
          <p:nvPr/>
        </p:nvSpPr>
        <p:spPr>
          <a:xfrm>
            <a:off x="2620000" y="1875000"/>
            <a:ext cx="405000" cy="575000"/>
          </a:xfrm>
          <a:prstGeom prst="rect">
            <a:avLst/>
          </a:prstGeom>
          <a:solidFill>
            <a:srgbClr val="00A95C"/>
          </a:solidFill>
          <a:ln>
            <a:noFill/>
          </a:ln>
        </p:spPr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5" name="Bar5"/>
          <p:cNvSpPr/>
          <p:nvPr/>
        </p:nvSpPr>
        <p:spPr>
          <a:xfrm>
            <a:off x="3050000" y="1810000"/>
            <a:ext cx="405000" cy="640000"/>
          </a:xfrm>
          <a:prstGeom prst="rect">
            <a:avLst/>
          </a:prstGeom>
          <a:solidFill>
            <a:srgbClr val="00A95C"/>
          </a:solidFill>
          <a:ln>
            <a:noFill/>
          </a:ln>
        </p:spPr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6" name="Bar6"/>
          <p:cNvSpPr/>
          <p:nvPr/>
        </p:nvSpPr>
        <p:spPr>
          <a:xfrm>
            <a:off x="3480000" y="1745000"/>
            <a:ext cx="405000" cy="705000"/>
          </a:xfrm>
          <a:prstGeom prst="rect">
            <a:avLst/>
          </a:prstGeom>
          <a:solidFill>
            <a:srgbClr val="00A95C"/>
          </a:solidFill>
          <a:ln>
            <a:noFill/>
          </a:ln>
        </p:spPr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7" name="Bar7"/>
          <p:cNvSpPr/>
          <p:nvPr/>
        </p:nvSpPr>
        <p:spPr>
          <a:xfrm>
            <a:off x="3910000" y="1680000"/>
            <a:ext cx="405000" cy="770000"/>
          </a:xfrm>
          <a:prstGeom prst="rect">
            <a:avLst/>
          </a:prstGeom>
          <a:solidFill>
            <a:srgbClr val="00A95C"/>
          </a:solidFill>
          <a:ln>
            <a:noFill/>
          </a:ln>
        </p:spPr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8" name="Bar8"/>
          <p:cNvSpPr/>
          <p:nvPr/>
        </p:nvSpPr>
        <p:spPr>
          <a:xfrm>
            <a:off x="4340000" y="1615001"/>
            <a:ext cx="405000" cy="834999"/>
          </a:xfrm>
          <a:prstGeom prst="rect">
            <a:avLst/>
          </a:prstGeom>
          <a:solidFill>
            <a:srgbClr val="00A95C"/>
          </a:solidFill>
          <a:ln>
            <a:noFill/>
          </a:ln>
        </p:spPr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9" name="Bar9"/>
          <p:cNvSpPr/>
          <p:nvPr/>
        </p:nvSpPr>
        <p:spPr>
          <a:xfrm>
            <a:off x="4770000" y="1550000"/>
            <a:ext cx="405000" cy="900000"/>
          </a:xfrm>
          <a:prstGeom prst="rect">
            <a:avLst/>
          </a:prstGeom>
          <a:solidFill>
            <a:srgbClr val="00A95C"/>
          </a:solidFill>
          <a:ln>
            <a:noFill/>
          </a:ln>
        </p:spPr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40" name="WeightLo"/>
          <p:cNvSpPr txBox="1"/>
          <p:nvPr/>
        </p:nvSpPr>
        <p:spPr>
          <a:xfrm>
            <a:off x="900000" y="2490000"/>
            <a:ext cx="800000" cy="26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vi-VN" sz="2000" b="1">
                <a:solidFill>
                  <a:srgbClr val="474F67"/>
                </a:solidFill>
                <a:latin typeface="Arial" panose="020B0604020202020204" pitchFamily="34" charset="0"/>
              </a:rPr>
              <a:t>1×</a:t>
            </a:r>
          </a:p>
        </p:txBody>
      </p:sp>
      <p:sp>
        <p:nvSpPr>
          <p:cNvPr id="41" name="WeightHi"/>
          <p:cNvSpPr txBox="1"/>
          <p:nvPr/>
        </p:nvSpPr>
        <p:spPr>
          <a:xfrm>
            <a:off x="4430000" y="2490000"/>
            <a:ext cx="800000" cy="26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/>
            <a:r>
              <a:rPr lang="en-US" sz="2000" b="1">
                <a:solidFill>
                  <a:srgbClr val="474F67"/>
                </a:solidFill>
                <a:latin typeface="Arial" panose="020B0604020202020204" pitchFamily="34" charset="0"/>
              </a:rPr>
              <a:t>3</a:t>
            </a:r>
            <a:r>
              <a:rPr lang="vi-VN" sz="2000" b="1">
                <a:solidFill>
                  <a:srgbClr val="474F67"/>
                </a:solidFill>
                <a:latin typeface="Arial" panose="020B0604020202020204" pitchFamily="34" charset="0"/>
              </a:rPr>
              <a:t>×</a:t>
            </a:r>
          </a:p>
        </p:txBody>
      </p:sp>
      <p:sp>
        <p:nvSpPr>
          <p:cNvPr id="60" name="FormulaCard"/>
          <p:cNvSpPr/>
          <p:nvPr/>
        </p:nvSpPr>
        <p:spPr>
          <a:xfrm>
            <a:off x="5550000" y="1532748"/>
            <a:ext cx="5650000" cy="165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3D7DD"/>
            </a:solidFill>
          </a:ln>
        </p:spPr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1" name="F1"/>
          <p:cNvSpPr txBox="1"/>
          <p:nvPr/>
        </p:nvSpPr>
        <p:spPr>
          <a:xfrm>
            <a:off x="5870000" y="1750000"/>
            <a:ext cx="5010000" cy="3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b="1">
                <a:solidFill>
                  <a:srgbClr val="1D2939"/>
                </a:solidFill>
                <a:latin typeface="Arial" panose="020B0604020202020204" pitchFamily="34" charset="0"/>
              </a:rPr>
              <a:t>Tỉ lệ tốc độ của cả cửa sổ</a:t>
            </a:r>
            <a:r>
              <a:rPr lang="vi-VN" b="1">
                <a:solidFill>
                  <a:srgbClr val="1D2939"/>
                </a:solidFill>
                <a:latin typeface="Arial" panose="020B0604020202020204" pitchFamily="34" charset="0"/>
              </a:rPr>
              <a:t> = </a:t>
            </a:r>
            <a:r>
              <a:rPr lang="en-US" b="1">
                <a:solidFill>
                  <a:srgbClr val="1D2939"/>
                </a:solidFill>
                <a:latin typeface="Arial" panose="020B0604020202020204" pitchFamily="34" charset="0"/>
              </a:rPr>
              <a:t>trung vị( tỉ lệ của các xe </a:t>
            </a:r>
            <a:r>
              <a:rPr lang="vi-VN" b="1">
                <a:solidFill>
                  <a:srgbClr val="1D2939"/>
                </a:solidFill>
                <a:latin typeface="Arial" panose="020B0604020202020204" pitchFamily="34" charset="0"/>
              </a:rPr>
              <a:t> trong </a:t>
            </a:r>
            <a:r>
              <a:rPr lang="en-US" b="1">
                <a:solidFill>
                  <a:srgbClr val="1D2939"/>
                </a:solidFill>
                <a:latin typeface="Arial" panose="020B0604020202020204" pitchFamily="34" charset="0"/>
              </a:rPr>
              <a:t>khoảng thời gian 30s</a:t>
            </a:r>
            <a:r>
              <a:rPr lang="vi-VN" b="1">
                <a:solidFill>
                  <a:srgbClr val="1D2939"/>
                </a:solidFill>
                <a:latin typeface="Arial" panose="020B0604020202020204" pitchFamily="34" charset="0"/>
              </a:rPr>
              <a:t>)</a:t>
            </a:r>
          </a:p>
        </p:txBody>
      </p:sp>
      <p:sp>
        <p:nvSpPr>
          <p:cNvPr id="63" name="F2"/>
          <p:cNvSpPr txBox="1"/>
          <p:nvPr/>
        </p:nvSpPr>
        <p:spPr>
          <a:xfrm>
            <a:off x="5870000" y="2561374"/>
            <a:ext cx="5010000" cy="3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en-US" b="1">
                <a:solidFill>
                  <a:srgbClr val="1D2939"/>
                </a:solidFill>
                <a:latin typeface="Arial" panose="020B0604020202020204" pitchFamily="34" charset="0"/>
              </a:rPr>
              <a:t>Giá trị đại diện CI</a:t>
            </a:r>
            <a:r>
              <a:rPr lang="vi-VN" b="1">
                <a:solidFill>
                  <a:srgbClr val="1D2939"/>
                </a:solidFill>
                <a:latin typeface="Arial" panose="020B0604020202020204" pitchFamily="34" charset="0"/>
              </a:rPr>
              <a:t> = Σ(</a:t>
            </a:r>
            <a:r>
              <a:rPr lang="en-US" b="1">
                <a:solidFill>
                  <a:srgbClr val="1D2939"/>
                </a:solidFill>
                <a:latin typeface="Arial" panose="020B0604020202020204" pitchFamily="34" charset="0"/>
              </a:rPr>
              <a:t>tỉ lệ tốc độ của cả cửa sổ</a:t>
            </a:r>
            <a:r>
              <a:rPr lang="vi-VN" b="1">
                <a:solidFill>
                  <a:srgbClr val="1D2939"/>
                </a:solidFill>
                <a:latin typeface="Arial" panose="020B0604020202020204" pitchFamily="34" charset="0"/>
              </a:rPr>
              <a:t> × trọng số) / Σ(trọng số)</a:t>
            </a:r>
          </a:p>
        </p:txBody>
      </p:sp>
      <p:sp>
        <p:nvSpPr>
          <p:cNvPr id="70" name="CardA"/>
          <p:cNvSpPr/>
          <p:nvPr/>
        </p:nvSpPr>
        <p:spPr>
          <a:xfrm>
            <a:off x="900000" y="3549999"/>
            <a:ext cx="4970000" cy="2160687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3D7DD"/>
            </a:solidFill>
          </a:ln>
        </p:spPr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71" name="CardABar"/>
          <p:cNvSpPr/>
          <p:nvPr/>
        </p:nvSpPr>
        <p:spPr>
          <a:xfrm>
            <a:off x="826650" y="3705342"/>
            <a:ext cx="88900" cy="1850000"/>
          </a:xfrm>
          <a:prstGeom prst="rect">
            <a:avLst/>
          </a:prstGeom>
          <a:solidFill>
            <a:srgbClr val="00A95C"/>
          </a:solidFill>
          <a:ln>
            <a:noFill/>
          </a:ln>
        </p:spPr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72" name="AHeader"/>
          <p:cNvSpPr txBox="1"/>
          <p:nvPr/>
        </p:nvSpPr>
        <p:spPr>
          <a:xfrm>
            <a:off x="1250000" y="3770000"/>
            <a:ext cx="4350000" cy="34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vi-VN" sz="2200" b="1">
                <a:solidFill>
                  <a:srgbClr val="1D2939"/>
                </a:solidFill>
                <a:latin typeface="Arial" panose="020B0604020202020204" pitchFamily="34" charset="0"/>
              </a:rPr>
              <a:t>Trạng thái</a:t>
            </a:r>
          </a:p>
        </p:txBody>
      </p:sp>
      <p:sp>
        <p:nvSpPr>
          <p:cNvPr id="73" name="ALine1"/>
          <p:cNvSpPr txBox="1"/>
          <p:nvPr/>
        </p:nvSpPr>
        <p:spPr>
          <a:xfrm>
            <a:off x="1250000" y="4210000"/>
            <a:ext cx="4350000" cy="32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endParaRPr lang="vi-VN" sz="1400">
              <a:solidFill>
                <a:srgbClr val="474F67"/>
              </a:solidFill>
              <a:latin typeface="Arial" panose="020B0604020202020204" pitchFamily="34" charset="0"/>
            </a:endParaRPr>
          </a:p>
        </p:txBody>
      </p:sp>
      <p:sp>
        <p:nvSpPr>
          <p:cNvPr id="74" name="ALine2"/>
          <p:cNvSpPr txBox="1"/>
          <p:nvPr/>
        </p:nvSpPr>
        <p:spPr>
          <a:xfrm>
            <a:off x="1250000" y="4150000"/>
            <a:ext cx="4350000" cy="62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vi-VN" sz="2200">
                <a:solidFill>
                  <a:srgbClr val="474F67"/>
                </a:solidFill>
                <a:latin typeface="Arial" panose="020B0604020202020204" pitchFamily="34" charset="0"/>
              </a:rPr>
              <a:t>CI </a:t>
            </a:r>
            <a:r>
              <a:rPr lang="en-US" sz="2200">
                <a:solidFill>
                  <a:srgbClr val="474F67"/>
                </a:solidFill>
                <a:latin typeface="Arial" panose="020B0604020202020204" pitchFamily="34" charset="0"/>
              </a:rPr>
              <a:t>&gt;</a:t>
            </a:r>
            <a:r>
              <a:rPr lang="vi-VN" sz="2200">
                <a:solidFill>
                  <a:srgbClr val="474F67"/>
                </a:solidFill>
                <a:latin typeface="Arial" panose="020B0604020202020204" pitchFamily="34" charset="0"/>
              </a:rPr>
              <a:t> 0.</a:t>
            </a:r>
            <a:r>
              <a:rPr lang="en-US" sz="2200">
                <a:solidFill>
                  <a:srgbClr val="474F67"/>
                </a:solidFill>
                <a:latin typeface="Arial" panose="020B0604020202020204" pitchFamily="34" charset="0"/>
              </a:rPr>
              <a:t>8</a:t>
            </a:r>
            <a:r>
              <a:rPr lang="vi-VN" sz="2200">
                <a:solidFill>
                  <a:srgbClr val="474F67"/>
                </a:solidFill>
                <a:latin typeface="Arial" panose="020B0604020202020204" pitchFamily="34" charset="0"/>
              </a:rPr>
              <a:t>  </a:t>
            </a:r>
            <a:r>
              <a:rPr lang="en-US" sz="2200" b="1">
                <a:solidFill>
                  <a:srgbClr val="30A655"/>
                </a:solidFill>
                <a:latin typeface="Arial" panose="020B0604020202020204" pitchFamily="34" charset="0"/>
              </a:rPr>
              <a:t>Thông thoáng</a:t>
            </a:r>
            <a:endParaRPr lang="vi-VN" sz="2200" b="1">
              <a:solidFill>
                <a:srgbClr val="30A655"/>
              </a:solidFill>
              <a:latin typeface="Arial" panose="020B0604020202020204" pitchFamily="34" charset="0"/>
            </a:endParaRPr>
          </a:p>
          <a:p>
            <a:pPr algn="l"/>
            <a:r>
              <a:rPr lang="en-US" sz="2200">
                <a:solidFill>
                  <a:srgbClr val="474F67"/>
                </a:solidFill>
                <a:latin typeface="Arial" panose="020B0604020202020204" pitchFamily="34" charset="0"/>
              </a:rPr>
              <a:t>0.8 &gt; </a:t>
            </a:r>
            <a:r>
              <a:rPr lang="vi-VN" sz="2200">
                <a:solidFill>
                  <a:srgbClr val="474F67"/>
                </a:solidFill>
                <a:latin typeface="Arial" panose="020B0604020202020204" pitchFamily="34" charset="0"/>
              </a:rPr>
              <a:t>CI </a:t>
            </a:r>
            <a:r>
              <a:rPr lang="en-US" sz="2200">
                <a:solidFill>
                  <a:srgbClr val="474F67"/>
                </a:solidFill>
                <a:latin typeface="Arial" panose="020B0604020202020204" pitchFamily="34" charset="0"/>
              </a:rPr>
              <a:t>&gt;</a:t>
            </a:r>
            <a:r>
              <a:rPr lang="vi-VN" sz="2200">
                <a:solidFill>
                  <a:srgbClr val="474F67"/>
                </a:solidFill>
                <a:latin typeface="Arial" panose="020B0604020202020204" pitchFamily="34" charset="0"/>
              </a:rPr>
              <a:t> 0.5  </a:t>
            </a:r>
            <a:r>
              <a:rPr lang="en-US" sz="2200" b="1">
                <a:solidFill>
                  <a:srgbClr val="F2911C"/>
                </a:solidFill>
                <a:latin typeface="Arial" panose="020B0604020202020204" pitchFamily="34" charset="0"/>
              </a:rPr>
              <a:t>Chậm</a:t>
            </a:r>
            <a:r>
              <a:rPr lang="vi-VN" sz="2200">
                <a:solidFill>
                  <a:srgbClr val="474F67"/>
                </a:solidFill>
                <a:latin typeface="Arial" panose="020B0604020202020204" pitchFamily="34" charset="0"/>
              </a:rPr>
              <a:t>   </a:t>
            </a:r>
            <a:endParaRPr lang="en-US" sz="2200">
              <a:solidFill>
                <a:srgbClr val="474F67"/>
              </a:solidFill>
              <a:latin typeface="Arial" panose="020B0604020202020204" pitchFamily="34" charset="0"/>
            </a:endParaRPr>
          </a:p>
          <a:p>
            <a:pPr algn="l"/>
            <a:r>
              <a:rPr lang="en-US" sz="2200">
                <a:solidFill>
                  <a:srgbClr val="474F67"/>
                </a:solidFill>
                <a:latin typeface="Arial" panose="020B0604020202020204" pitchFamily="34" charset="0"/>
              </a:rPr>
              <a:t>0.5 &gt; </a:t>
            </a:r>
            <a:r>
              <a:rPr lang="vi-VN" sz="2200">
                <a:solidFill>
                  <a:srgbClr val="474F67"/>
                </a:solidFill>
                <a:latin typeface="Arial" panose="020B0604020202020204" pitchFamily="34" charset="0"/>
              </a:rPr>
              <a:t>CI </a:t>
            </a:r>
            <a:r>
              <a:rPr lang="en-US" sz="2200">
                <a:solidFill>
                  <a:srgbClr val="474F67"/>
                </a:solidFill>
                <a:latin typeface="Arial" panose="020B0604020202020204" pitchFamily="34" charset="0"/>
              </a:rPr>
              <a:t>&gt;</a:t>
            </a:r>
            <a:r>
              <a:rPr lang="vi-VN" sz="2200">
                <a:solidFill>
                  <a:srgbClr val="474F67"/>
                </a:solidFill>
                <a:latin typeface="Arial" panose="020B0604020202020204" pitchFamily="34" charset="0"/>
              </a:rPr>
              <a:t> 0.</a:t>
            </a:r>
            <a:r>
              <a:rPr lang="en-US" sz="2200">
                <a:solidFill>
                  <a:srgbClr val="474F67"/>
                </a:solidFill>
                <a:latin typeface="Arial" panose="020B0604020202020204" pitchFamily="34" charset="0"/>
              </a:rPr>
              <a:t>2</a:t>
            </a:r>
            <a:r>
              <a:rPr lang="vi-VN" sz="2200">
                <a:solidFill>
                  <a:srgbClr val="474F67"/>
                </a:solidFill>
                <a:latin typeface="Arial" panose="020B0604020202020204" pitchFamily="34" charset="0"/>
              </a:rPr>
              <a:t>  </a:t>
            </a:r>
            <a:r>
              <a:rPr lang="en-US" sz="2200" b="1">
                <a:solidFill>
                  <a:srgbClr val="FF0000"/>
                </a:solidFill>
                <a:latin typeface="Arial" panose="020B0604020202020204" pitchFamily="34" charset="0"/>
              </a:rPr>
              <a:t>Tắc</a:t>
            </a:r>
            <a:endParaRPr lang="vi-VN" sz="2200" b="1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76" name="ALine3b"/>
          <p:cNvSpPr txBox="1"/>
          <p:nvPr/>
        </p:nvSpPr>
        <p:spPr>
          <a:xfrm>
            <a:off x="1238900" y="5178000"/>
            <a:ext cx="4350000" cy="32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vi-VN" sz="2200">
                <a:solidFill>
                  <a:srgbClr val="474F67"/>
                </a:solidFill>
                <a:latin typeface="Arial" panose="020B0604020202020204" pitchFamily="34" charset="0"/>
              </a:rPr>
              <a:t>Ngoài ra:  </a:t>
            </a:r>
            <a:r>
              <a:rPr lang="en-US" sz="2200" b="1">
                <a:solidFill>
                  <a:srgbClr val="D9303B"/>
                </a:solidFill>
                <a:latin typeface="Arial" panose="020B0604020202020204" pitchFamily="34" charset="0"/>
              </a:rPr>
              <a:t>Rất tắc</a:t>
            </a:r>
            <a:endParaRPr lang="vi-VN" sz="2200" b="1">
              <a:solidFill>
                <a:srgbClr val="D9303B"/>
              </a:solidFill>
              <a:latin typeface="Arial" panose="020B0604020202020204" pitchFamily="34" charset="0"/>
            </a:endParaRPr>
          </a:p>
        </p:txBody>
      </p:sp>
      <p:sp>
        <p:nvSpPr>
          <p:cNvPr id="80" name="CardB"/>
          <p:cNvSpPr/>
          <p:nvPr/>
        </p:nvSpPr>
        <p:spPr>
          <a:xfrm>
            <a:off x="6204450" y="3550000"/>
            <a:ext cx="5265350" cy="216068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3D7DD"/>
            </a:solidFill>
          </a:ln>
        </p:spPr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81" name="CardBBar"/>
          <p:cNvSpPr/>
          <p:nvPr/>
        </p:nvSpPr>
        <p:spPr>
          <a:xfrm>
            <a:off x="6160450" y="3705342"/>
            <a:ext cx="88900" cy="1850000"/>
          </a:xfrm>
          <a:prstGeom prst="rect">
            <a:avLst/>
          </a:prstGeom>
          <a:solidFill>
            <a:srgbClr val="F58643"/>
          </a:solidFill>
          <a:ln>
            <a:noFill/>
          </a:ln>
        </p:spPr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82" name="BHeader"/>
          <p:cNvSpPr txBox="1"/>
          <p:nvPr/>
        </p:nvSpPr>
        <p:spPr>
          <a:xfrm>
            <a:off x="6450000" y="3716084"/>
            <a:ext cx="4350000" cy="34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vi-VN" sz="2200" b="1">
                <a:solidFill>
                  <a:srgbClr val="1D2939"/>
                </a:solidFill>
                <a:latin typeface="Arial" panose="020B0604020202020204" pitchFamily="34" charset="0"/>
              </a:rPr>
              <a:t>Thiếu dữ liệu</a:t>
            </a:r>
            <a:r>
              <a:rPr lang="en-US" sz="2200" b="1">
                <a:solidFill>
                  <a:srgbClr val="1D2939"/>
                </a:solidFill>
                <a:latin typeface="Arial" panose="020B0604020202020204" pitchFamily="34" charset="0"/>
              </a:rPr>
              <a:t>/ segment</a:t>
            </a:r>
            <a:endParaRPr lang="vi-VN" sz="2200" b="1">
              <a:solidFill>
                <a:srgbClr val="1D2939"/>
              </a:solidFill>
              <a:latin typeface="Arial" panose="020B0604020202020204" pitchFamily="34" charset="0"/>
            </a:endParaRPr>
          </a:p>
        </p:txBody>
      </p:sp>
      <p:sp>
        <p:nvSpPr>
          <p:cNvPr id="83" name="BLine1"/>
          <p:cNvSpPr txBox="1"/>
          <p:nvPr/>
        </p:nvSpPr>
        <p:spPr>
          <a:xfrm>
            <a:off x="6450000" y="4150000"/>
            <a:ext cx="4842000" cy="117525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vi-VN" sz="2200">
                <a:solidFill>
                  <a:srgbClr val="474F67"/>
                </a:solidFill>
                <a:latin typeface="Arial" panose="020B0604020202020204" pitchFamily="34" charset="0"/>
              </a:rPr>
              <a:t>Số xe &lt; </a:t>
            </a:r>
            <a:r>
              <a:rPr lang="en-US" sz="2200">
                <a:solidFill>
                  <a:srgbClr val="474F67"/>
                </a:solidFill>
                <a:latin typeface="Arial" panose="020B0604020202020204" pitchFamily="34" charset="0"/>
              </a:rPr>
              <a:t>5 </a:t>
            </a:r>
            <a:r>
              <a:rPr lang="en-US" sz="2200">
                <a:solidFill>
                  <a:srgbClr val="474F67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 Fallback giá trị trong 5 phút, sau đó nếu không nhận được thì không tô màu đoạn đường đó</a:t>
            </a:r>
            <a:r>
              <a:rPr lang="vi-VN" sz="2200">
                <a:solidFill>
                  <a:srgbClr val="474F67"/>
                </a:solidFill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699647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DFB4A-C710-0FF5-2091-E79B433B5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>
            <a:extLst>
              <a:ext uri="{FF2B5EF4-FFF2-40B4-BE49-F238E27FC236}">
                <a16:creationId xmlns:a16="http://schemas.microsoft.com/office/drawing/2014/main" id="{2BBB442C-666A-BFDA-A793-75DA3BBAB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/>
              <a:t>10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094F1CA-0FBC-1561-8407-F4A04ACDF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940" y="8681"/>
            <a:ext cx="9619238" cy="681036"/>
          </a:xfrm>
        </p:spPr>
        <p:txBody>
          <a:bodyPr>
            <a:norm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Arial" panose="020B0604020202020204" pitchFamily="34" charset="0"/>
              </a:rPr>
              <a:t>Kết quả</a:t>
            </a:r>
            <a:endParaRPr lang="en-US" sz="24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06969EB-C271-09AF-EE16-F82B79792717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5579" y="1004543"/>
            <a:ext cx="8002117" cy="4944165"/>
          </a:xfr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9B48635-57AC-23D5-C7F4-1B092B4C77C7}"/>
              </a:ext>
            </a:extLst>
          </p:cNvPr>
          <p:cNvSpPr/>
          <p:nvPr/>
        </p:nvSpPr>
        <p:spPr>
          <a:xfrm>
            <a:off x="268120" y="1588212"/>
            <a:ext cx="1806184" cy="732294"/>
          </a:xfrm>
          <a:prstGeom prst="roundRect">
            <a:avLst/>
          </a:prstGeom>
          <a:solidFill>
            <a:srgbClr val="30A65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Arial" panose="020B0604020202020204" pitchFamily="34" charset="0"/>
              </a:rPr>
              <a:t>Thông thoáng</a:t>
            </a:r>
            <a:endParaRPr lang="vi-VN" sz="16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C2DC8B9-3071-C2DB-3680-DA5978816AEF}"/>
              </a:ext>
            </a:extLst>
          </p:cNvPr>
          <p:cNvSpPr/>
          <p:nvPr/>
        </p:nvSpPr>
        <p:spPr>
          <a:xfrm>
            <a:off x="268120" y="2761800"/>
            <a:ext cx="1756120" cy="732294"/>
          </a:xfrm>
          <a:prstGeom prst="roundRect">
            <a:avLst/>
          </a:prstGeom>
          <a:solidFill>
            <a:srgbClr val="FFC92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1D2939"/>
                </a:solidFill>
                <a:latin typeface="Arial" panose="020B0604020202020204" pitchFamily="34" charset="0"/>
              </a:rPr>
              <a:t>Chậm</a:t>
            </a:r>
            <a:endParaRPr lang="vi-VN" sz="1600" b="1" dirty="0">
              <a:solidFill>
                <a:srgbClr val="1D2939"/>
              </a:solidFill>
              <a:latin typeface="Arial" panose="020B06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9A59303-BBFA-C84B-800E-30BF866529F9}"/>
              </a:ext>
            </a:extLst>
          </p:cNvPr>
          <p:cNvSpPr/>
          <p:nvPr/>
        </p:nvSpPr>
        <p:spPr>
          <a:xfrm>
            <a:off x="357834" y="3935388"/>
            <a:ext cx="1666406" cy="663854"/>
          </a:xfrm>
          <a:prstGeom prst="round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Arial" panose="020B0604020202020204" pitchFamily="34" charset="0"/>
              </a:rPr>
              <a:t>Tắc</a:t>
            </a:r>
            <a:endParaRPr lang="vi-VN" sz="16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7B549EE-D32B-0AF5-B575-04C99CAB575A}"/>
              </a:ext>
            </a:extLst>
          </p:cNvPr>
          <p:cNvSpPr/>
          <p:nvPr/>
        </p:nvSpPr>
        <p:spPr>
          <a:xfrm>
            <a:off x="357834" y="5040535"/>
            <a:ext cx="1666406" cy="727569"/>
          </a:xfrm>
          <a:prstGeom prst="roundRect">
            <a:avLst/>
          </a:prstGeom>
          <a:solidFill>
            <a:srgbClr val="D930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Arial" panose="020B0604020202020204" pitchFamily="34" charset="0"/>
              </a:rPr>
              <a:t>Rất tắc</a:t>
            </a:r>
            <a:endParaRPr lang="vi-VN" sz="1600" b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6CDA82-DD70-5963-437E-50201999F44E}"/>
              </a:ext>
            </a:extLst>
          </p:cNvPr>
          <p:cNvSpPr txBox="1"/>
          <p:nvPr/>
        </p:nvSpPr>
        <p:spPr>
          <a:xfrm>
            <a:off x="845389" y="444260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vi-V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A4707C-323A-B1E8-8441-1E4DC1F43684}"/>
              </a:ext>
            </a:extLst>
          </p:cNvPr>
          <p:cNvSpPr txBox="1"/>
          <p:nvPr/>
        </p:nvSpPr>
        <p:spPr>
          <a:xfrm>
            <a:off x="1449238" y="555541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65873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F607A-4AB0-FB4D-6E13-10EC6BC4E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>
            <a:extLst>
              <a:ext uri="{FF2B5EF4-FFF2-40B4-BE49-F238E27FC236}">
                <a16:creationId xmlns:a16="http://schemas.microsoft.com/office/drawing/2014/main" id="{683AC3DE-07D4-B6E9-517D-E18ED4663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/>
              <a:t>11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60797E34-90C3-32D6-1583-F1A363B254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6236" y="144624"/>
            <a:ext cx="8077200" cy="6096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400" b="1">
                <a:solidFill>
                  <a:srgbClr val="FFFFFF"/>
                </a:solidFill>
                <a:latin typeface="Arial" panose="020B0604020202020204" pitchFamily="34" charset="0"/>
              </a:rPr>
              <a:t>Ý nghĩa và ứng dụng </a:t>
            </a:r>
            <a:endParaRPr lang="en-US" altLang="en-US" sz="24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19B20CC-4A10-37CE-C895-7007E010FD93}"/>
              </a:ext>
            </a:extLst>
          </p:cNvPr>
          <p:cNvSpPr/>
          <p:nvPr/>
        </p:nvSpPr>
        <p:spPr>
          <a:xfrm>
            <a:off x="762000" y="1587500"/>
            <a:ext cx="3302000" cy="31115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3D7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CA98D3-D704-FF63-8D69-3D815CFFEEBB}"/>
              </a:ext>
            </a:extLst>
          </p:cNvPr>
          <p:cNvSpPr/>
          <p:nvPr/>
        </p:nvSpPr>
        <p:spPr>
          <a:xfrm>
            <a:off x="762000" y="1587500"/>
            <a:ext cx="88900" cy="3111500"/>
          </a:xfrm>
          <a:prstGeom prst="rect">
            <a:avLst/>
          </a:prstGeom>
          <a:solidFill>
            <a:srgbClr val="00A95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FD94FC-D9C7-94AC-E508-E725F3BEB8AA}"/>
              </a:ext>
            </a:extLst>
          </p:cNvPr>
          <p:cNvSpPr txBox="1"/>
          <p:nvPr/>
        </p:nvSpPr>
        <p:spPr>
          <a:xfrm>
            <a:off x="990600" y="1714500"/>
            <a:ext cx="29210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vi-VN" b="1">
                <a:solidFill>
                  <a:srgbClr val="1D2939"/>
                </a:solidFill>
                <a:latin typeface="Arial" panose="020B0604020202020204" pitchFamily="34" charset="0"/>
              </a:rPr>
              <a:t>ETA &amp; Routing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474B85-6EBA-3248-4714-75A8AAA2A8BB}"/>
              </a:ext>
            </a:extLst>
          </p:cNvPr>
          <p:cNvSpPr txBox="1"/>
          <p:nvPr/>
        </p:nvSpPr>
        <p:spPr>
          <a:xfrm>
            <a:off x="990600" y="2349500"/>
            <a:ext cx="2895600" cy="784830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en-US" sz="1500">
                <a:solidFill>
                  <a:srgbClr val="474F67"/>
                </a:solidFill>
                <a:latin typeface="Arial" panose="020B0604020202020204" pitchFamily="34" charset="0"/>
              </a:rPr>
              <a:t>Đ</a:t>
            </a:r>
            <a:r>
              <a:rPr lang="vi-VN" sz="1500">
                <a:solidFill>
                  <a:srgbClr val="474F67"/>
                </a:solidFill>
                <a:latin typeface="Arial" panose="020B0604020202020204" pitchFamily="34" charset="0"/>
              </a:rPr>
              <a:t>iều chỉnh thời gian di chuyển sát thực tế hơn.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0CD2550-F8F8-7BEC-4030-1D1340A99230}"/>
              </a:ext>
            </a:extLst>
          </p:cNvPr>
          <p:cNvSpPr/>
          <p:nvPr/>
        </p:nvSpPr>
        <p:spPr>
          <a:xfrm>
            <a:off x="4445000" y="1587500"/>
            <a:ext cx="3302000" cy="31115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3D7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2CFE9A-C439-D868-A3A5-A3406C3218EC}"/>
              </a:ext>
            </a:extLst>
          </p:cNvPr>
          <p:cNvSpPr/>
          <p:nvPr/>
        </p:nvSpPr>
        <p:spPr>
          <a:xfrm>
            <a:off x="4445000" y="1587500"/>
            <a:ext cx="88900" cy="3111500"/>
          </a:xfrm>
          <a:prstGeom prst="rect">
            <a:avLst/>
          </a:prstGeom>
          <a:solidFill>
            <a:srgbClr val="F5864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270E95-C830-4F1E-3A0E-5F670FB2BC94}"/>
              </a:ext>
            </a:extLst>
          </p:cNvPr>
          <p:cNvSpPr txBox="1"/>
          <p:nvPr/>
        </p:nvSpPr>
        <p:spPr>
          <a:xfrm>
            <a:off x="4673600" y="1714500"/>
            <a:ext cx="29210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vi-VN" b="1">
                <a:solidFill>
                  <a:srgbClr val="1D2939"/>
                </a:solidFill>
                <a:latin typeface="Arial" panose="020B0604020202020204" pitchFamily="34" charset="0"/>
              </a:rPr>
              <a:t>Điểm đón / trả khách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D5DE50-3334-F082-1E6F-DED132234EFE}"/>
              </a:ext>
            </a:extLst>
          </p:cNvPr>
          <p:cNvSpPr txBox="1"/>
          <p:nvPr/>
        </p:nvSpPr>
        <p:spPr>
          <a:xfrm>
            <a:off x="4673600" y="2349500"/>
            <a:ext cx="2895600" cy="553998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vi-VN" sz="1500">
                <a:solidFill>
                  <a:srgbClr val="474F67"/>
                </a:solidFill>
                <a:latin typeface="Arial" panose="020B0604020202020204" pitchFamily="34" charset="0"/>
              </a:rPr>
              <a:t>Gợi ý điểm đón an toàn và nhanh hơn cho khách.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1ED081E-DF55-057D-CCAB-C819E5AB4C10}"/>
              </a:ext>
            </a:extLst>
          </p:cNvPr>
          <p:cNvSpPr/>
          <p:nvPr/>
        </p:nvSpPr>
        <p:spPr>
          <a:xfrm>
            <a:off x="8128000" y="1587500"/>
            <a:ext cx="3302000" cy="31115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3D7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5D2E404-FF63-43C8-E16D-3E98BAEB727D}"/>
              </a:ext>
            </a:extLst>
          </p:cNvPr>
          <p:cNvSpPr/>
          <p:nvPr/>
        </p:nvSpPr>
        <p:spPr>
          <a:xfrm>
            <a:off x="8128000" y="1587500"/>
            <a:ext cx="88900" cy="3111500"/>
          </a:xfrm>
          <a:prstGeom prst="rect">
            <a:avLst/>
          </a:prstGeom>
          <a:solidFill>
            <a:srgbClr val="F5677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1BA58A-14DF-C9D3-730B-44CD5DE22C93}"/>
              </a:ext>
            </a:extLst>
          </p:cNvPr>
          <p:cNvSpPr txBox="1"/>
          <p:nvPr/>
        </p:nvSpPr>
        <p:spPr>
          <a:xfrm>
            <a:off x="8356600" y="1714500"/>
            <a:ext cx="2921000" cy="369332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en-US" b="1">
                <a:solidFill>
                  <a:srgbClr val="1D2939"/>
                </a:solidFill>
                <a:latin typeface="Arial" panose="020B0604020202020204" pitchFamily="34" charset="0"/>
              </a:rPr>
              <a:t>Cảm xúc của khách hàng</a:t>
            </a:r>
            <a:endParaRPr lang="vi-VN" b="1">
              <a:solidFill>
                <a:srgbClr val="1D2939"/>
              </a:solidFill>
              <a:latin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E90DF7-9DCA-CD21-D8C1-1758D87B0500}"/>
              </a:ext>
            </a:extLst>
          </p:cNvPr>
          <p:cNvSpPr txBox="1"/>
          <p:nvPr/>
        </p:nvSpPr>
        <p:spPr>
          <a:xfrm>
            <a:off x="8356600" y="2349499"/>
            <a:ext cx="2895600" cy="94579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r>
              <a:rPr lang="en-US" sz="1500">
                <a:solidFill>
                  <a:srgbClr val="474F67"/>
                </a:solidFill>
                <a:latin typeface="Arial" panose="020B0604020202020204" pitchFamily="34" charset="0"/>
              </a:rPr>
              <a:t>Khách hàng hiểu lí do tại sao mình phải chờ đợi</a:t>
            </a:r>
            <a:endParaRPr lang="vi-VN" sz="1500">
              <a:solidFill>
                <a:srgbClr val="474F67"/>
              </a:solidFill>
              <a:latin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0B70AA-7371-8F3E-6596-390E5137DCE5}"/>
              </a:ext>
            </a:extLst>
          </p:cNvPr>
          <p:cNvSpPr txBox="1"/>
          <p:nvPr/>
        </p:nvSpPr>
        <p:spPr>
          <a:xfrm>
            <a:off x="1905000" y="5143500"/>
            <a:ext cx="8382000" cy="430887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noAutofit/>
          </a:bodyPr>
          <a:lstStyle/>
          <a:p>
            <a:pPr algn="ctr"/>
            <a:endParaRPr lang="vi-VN" sz="2200" b="1">
              <a:solidFill>
                <a:srgbClr val="1D2939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3804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967E2-FF75-E854-CAB6-A61A9C185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>
            <a:extLst>
              <a:ext uri="{FF2B5EF4-FFF2-40B4-BE49-F238E27FC236}">
                <a16:creationId xmlns:a16="http://schemas.microsoft.com/office/drawing/2014/main" id="{73892DC2-C7AF-ADD9-5246-27D4CBC22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38569" y="6388144"/>
            <a:ext cx="2743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/>
              <a:t>12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A59695F2-9734-C573-23C5-8440C757FC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6236" y="144624"/>
            <a:ext cx="8077200" cy="6096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US" sz="24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Benchmark</a:t>
            </a:r>
            <a:endParaRPr lang="en-US" altLang="en-US" sz="24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92E8AA-6E4A-A0FD-4B53-08288B8C0EAB}"/>
              </a:ext>
            </a:extLst>
          </p:cNvPr>
          <p:cNvSpPr txBox="1"/>
          <p:nvPr/>
        </p:nvSpPr>
        <p:spPr>
          <a:xfrm>
            <a:off x="888521" y="845746"/>
            <a:ext cx="1130347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Hiệu năng </a:t>
            </a:r>
            <a:r>
              <a:rPr lang="en-US"/>
              <a:t>:</a:t>
            </a:r>
          </a:p>
          <a:p>
            <a:endParaRPr lang="en-US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1CFD3D0D-7C92-1B9D-FC07-C45C77B534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5045284"/>
              </p:ext>
            </p:extLst>
          </p:nvPr>
        </p:nvGraphicFramePr>
        <p:xfrm>
          <a:off x="906236" y="1231562"/>
          <a:ext cx="10515600" cy="2377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0066453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8792391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Mốc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Kết quả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50022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30.000 tài xế (~6.000 GPS/s)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Ổn định: 100% request thành công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2708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50.000 tài xế (~10.000 GPS/s)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Thất bại: Kafka tồn đọng ~2 triệu GPS, GraphHopper trung bình 235ms/trace (tối đa 16,3s)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82445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Nút thắt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Map-Matching/GraphHopper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5484522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53CB04FC-AFB0-508A-53CD-E3CAE83C7D55}"/>
              </a:ext>
            </a:extLst>
          </p:cNvPr>
          <p:cNvSpPr txBox="1"/>
          <p:nvPr/>
        </p:nvSpPr>
        <p:spPr>
          <a:xfrm>
            <a:off x="770164" y="3721788"/>
            <a:ext cx="11175533" cy="1954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/>
              <a:t>Độ chính xác </a:t>
            </a:r>
            <a:r>
              <a:rPr lang="en-US" sz="2200">
                <a:sym typeface="Wingdings" panose="05000000000000000000" pitchFamily="2" charset="2"/>
              </a:rPr>
              <a:t>(AI taxonomy validation) :</a:t>
            </a:r>
          </a:p>
          <a:p>
            <a:pPr lvl="0">
              <a:lnSpc>
                <a:spcPct val="150000"/>
              </a:lnSpc>
            </a:pPr>
            <a:r>
              <a:rPr lang="en-US" sz="2200"/>
              <a:t>Bộ taxonomy: 5 road class × 8 nhánh tình huống  đạt 86.27%</a:t>
            </a:r>
          </a:p>
          <a:p>
            <a:pPr lvl="0">
              <a:lnSpc>
                <a:spcPct val="150000"/>
              </a:lnSpc>
            </a:pPr>
            <a:r>
              <a:rPr lang="en-US" sz="2200"/>
              <a:t>Giới hạn: phản ứng chậm với tai nạn ngắn hạn, không phát hiện tắc cục bộ theo làn</a:t>
            </a:r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39771485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FB4C1-1B59-C73A-2084-ACC2057E2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>
            <a:extLst>
              <a:ext uri="{FF2B5EF4-FFF2-40B4-BE49-F238E27FC236}">
                <a16:creationId xmlns:a16="http://schemas.microsoft.com/office/drawing/2014/main" id="{DD74502B-5E6B-ED16-EB4D-6D3F1C545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/>
              <a:t>13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DC92B1D-814D-1B99-BDBE-14E7ABE26B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6236" y="144624"/>
            <a:ext cx="8077200" cy="6096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US" sz="24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Cải tiến trong tương lai</a:t>
            </a:r>
            <a:endParaRPr lang="en-US" altLang="en-US" sz="24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63B2B4-122B-DCDD-2000-EAC03F612BF6}"/>
              </a:ext>
            </a:extLst>
          </p:cNvPr>
          <p:cNvSpPr txBox="1"/>
          <p:nvPr/>
        </p:nvSpPr>
        <p:spPr>
          <a:xfrm>
            <a:off x="906236" y="950176"/>
            <a:ext cx="11285763" cy="25790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/>
              <a:t>-    Hỗ trợ việc map matching bằng tile38 và chỉ để trường hợp khó cho graphhoper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2200"/>
              <a:t>Sử dụng AI lọc hành vi tài xế trước khi đưa vào hệ thống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2200"/>
              <a:t>Xác minh độ chính xác của thuật toán tính độ tắc nghẽn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2200"/>
              <a:t>Dùng dữ liệu lịch sử để có thể fallback tốt hơn, hoàn thiện tốc độ thông thoáng</a:t>
            </a:r>
          </a:p>
          <a:p>
            <a:pPr>
              <a:lnSpc>
                <a:spcPct val="150000"/>
              </a:lnSpc>
            </a:pP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3335325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5345</TotalTime>
  <Words>608</Words>
  <Application>Microsoft Office PowerPoint</Application>
  <PresentationFormat>Widescreen</PresentationFormat>
  <Paragraphs>85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Arial</vt:lpstr>
      <vt:lpstr>Calibri</vt:lpstr>
      <vt:lpstr>Times New Roman</vt:lpstr>
      <vt:lpstr>Wingdings</vt:lpstr>
      <vt:lpstr>Office Theme</vt:lpstr>
      <vt:lpstr>PowerPoint Presentation</vt:lpstr>
      <vt:lpstr>Bối cảnh bài toán</vt:lpstr>
      <vt:lpstr>Mục tiêu</vt:lpstr>
      <vt:lpstr>Kiến trúc giải pháp</vt:lpstr>
      <vt:lpstr>Location Module — Bước Validate</vt:lpstr>
      <vt:lpstr>Location Module — Lọc theo trạng thái tài xế</vt:lpstr>
      <vt:lpstr>GraphHopper – Map matching</vt:lpstr>
      <vt:lpstr>Thuật toán tính độ tắc nghẽn</vt:lpstr>
      <vt:lpstr>Thuật toán tính độ tắc nghẽn</vt:lpstr>
      <vt:lpstr>Kết quả</vt:lpstr>
      <vt:lpstr>Ý nghĩa và ứng dụng </vt:lpstr>
      <vt:lpstr>Benchmark</vt:lpstr>
      <vt:lpstr>Cải tiến trong tương lai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Gia Ba</dc:creator>
  <cp:lastModifiedBy>Huy Tran Gia</cp:lastModifiedBy>
  <cp:revision>249</cp:revision>
  <cp:lastPrinted>2023-12-27T01:57:00Z</cp:lastPrinted>
  <dcterms:created xsi:type="dcterms:W3CDTF">2023-08-08T03:48:00Z</dcterms:created>
  <dcterms:modified xsi:type="dcterms:W3CDTF">2026-08-26T09:53:33Z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2023-08-08T11:43:03Z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036899f8-ac9f-429d-84d0-69e9dd6bdae5</vt:lpwstr>
  </property>
  <property fmtid="{D5CDD505-2E9C-101B-9397-08002B2CF9AE}" pid="7" name="MSIP_Label_defa4170-0d19-0005-0004-bc88714345d2_ActionId">
    <vt:lpwstr>ee72a353-f99c-4256-a44c-0f8ac51b33fe</vt:lpwstr>
  </property>
  <property fmtid="{D5CDD505-2E9C-101B-9397-08002B2CF9AE}" pid="8" name="MSIP_Label_defa4170-0d19-0005-0004-bc88714345d2_ContentBits">
    <vt:lpwstr>0</vt:lpwstr>
  </property>
  <property fmtid="{D5CDD505-2E9C-101B-9397-08002B2CF9AE}" pid="9" name="ICV">
    <vt:lpwstr>3249E10EE9B044FEAC96AF5C948BAE9E_12</vt:lpwstr>
  </property>
  <property fmtid="{D5CDD505-2E9C-101B-9397-08002B2CF9AE}" pid="10" name="KSOProductBuildVer">
    <vt:lpwstr>1033-12.2.0.22549</vt:lpwstr>
  </property>
</Properties>
</file>