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8" r:id="rId11"/>
    <p:sldId id="269" r:id="rId12"/>
    <p:sldId id="265" r:id="rId13"/>
    <p:sldId id="266" r:id="rId14"/>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showGuides="1">
      <p:cViewPr varScale="1">
        <p:scale>
          <a:sx n="111" d="100"/>
          <a:sy n="111" d="100"/>
        </p:scale>
        <p:origin x="642" y="96"/>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Val macro-F1 (epoch tốt nhất)</c:v>
                </c:pt>
              </c:strCache>
            </c:strRef>
          </c:tx>
          <c:spPr>
            <a:solidFill>
              <a:srgbClr val="C9CED6"/>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0.872</c:v>
                </c:pt>
                <c:pt idx="1">
                  <c:v>0.88900000000000001</c:v>
                </c:pt>
                <c:pt idx="2">
                  <c:v>0.90200000000000002</c:v>
                </c:pt>
                <c:pt idx="3">
                  <c:v>0.94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B8-4E59-9ACB-871ADCAC7EDB}"/>
            </c:ext>
          </c:extLst>
        </c:ser>
        <c:ser>
          <c:idx val="1"/>
          <c:order val="1"/>
          <c:tx>
            <c:strRef>
              <c:f>Sheet1!$C$1</c:f>
              <c:strCache>
                <c:ptCount val="1"/>
                <c:pt idx="0">
                  <c:v>Test macro-F1</c:v>
                </c:pt>
              </c:strCache>
            </c:strRef>
          </c:tx>
          <c:spPr>
            <a:solidFill>
              <a:srgbClr val="00A95C"/>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0.752</c:v>
                </c:pt>
                <c:pt idx="1">
                  <c:v>0.78600000000000003</c:v>
                </c:pt>
                <c:pt idx="2">
                  <c:v>0.752</c:v>
                </c:pt>
                <c:pt idx="3">
                  <c:v>0.746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B8-4E59-9ACB-871ADCAC7ED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6"/>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1"/>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Test macro-F1</c:v>
                </c:pt>
              </c:strCache>
            </c:strRef>
          </c:tx>
          <c:invertIfNegative val="1"/>
          <c:dPt>
            <c:idx val="0"/>
            <c:invertIfNegative val="1"/>
            <c:bubble3D val="0"/>
            <c:spPr>
              <a:solidFill>
                <a:srgbClr val="00A95C"/>
              </a:solidFill>
            </c:spPr>
            <c:extLst>
              <c:ext xmlns:c16="http://schemas.microsoft.com/office/drawing/2014/chart" uri="{C3380CC4-5D6E-409C-BE32-E72D297353CC}">
                <c16:uniqueId val="{00000001-F86E-4003-8FF6-F6C452949BE2}"/>
              </c:ext>
            </c:extLst>
          </c:dPt>
          <c:dPt>
            <c:idx val="1"/>
            <c:invertIfNegative val="1"/>
            <c:bubble3D val="0"/>
            <c:spPr>
              <a:solidFill>
                <a:srgbClr val="F56776"/>
              </a:solidFill>
            </c:spPr>
            <c:extLst>
              <c:ext xmlns:c16="http://schemas.microsoft.com/office/drawing/2014/chart" uri="{C3380CC4-5D6E-409C-BE32-E72D297353CC}">
                <c16:uniqueId val="{00000003-F86E-4003-8FF6-F6C452949BE2}"/>
              </c:ext>
            </c:extLst>
          </c:dPt>
          <c:dPt>
            <c:idx val="2"/>
            <c:invertIfNegative val="1"/>
            <c:bubble3D val="0"/>
            <c:spPr>
              <a:solidFill>
                <a:srgbClr val="F58643"/>
              </a:solidFill>
            </c:spPr>
            <c:extLst>
              <c:ext xmlns:c16="http://schemas.microsoft.com/office/drawing/2014/chart" uri="{C3380CC4-5D6E-409C-BE32-E72D297353CC}">
                <c16:uniqueId val="{00000005-F86E-4003-8FF6-F6C452949BE2}"/>
              </c:ext>
            </c:extLst>
          </c:dPt>
          <c:dLbls>
            <c:numFmt formatCode="0.000" sourceLinked="0"/>
            <c:spPr>
              <a:noFill/>
              <a:ln>
                <a:noFill/>
              </a:ln>
              <a:effectLst/>
            </c:spPr>
            <c:txPr>
              <a:bodyPr/>
              <a:lstStyle/>
              <a:p>
                <a:pPr>
                  <a:defRPr sz="1400" b="1">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FP32 (gốc)</c:v>
                </c:pt>
                <c:pt idx="1">
                  <c:v>INT8 mặc định</c:v>
                </c:pt>
                <c:pt idx="2">
                  <c:v>INT8 percentile</c:v>
                </c:pt>
              </c:strCache>
            </c:strRef>
          </c:cat>
          <c:val>
            <c:numRef>
              <c:f>Sheet1!$B$2:$B$4</c:f>
              <c:numCache>
                <c:formatCode>General</c:formatCode>
                <c:ptCount val="3"/>
                <c:pt idx="0">
                  <c:v>0.74399999999999999</c:v>
                </c:pt>
                <c:pt idx="1">
                  <c:v>0.14399999999999999</c:v>
                </c:pt>
                <c:pt idx="2">
                  <c:v>0.27100000000000002</c:v>
                </c:pt>
              </c:numCache>
            </c:numRef>
          </c:val>
          <c:extLst>
            <c:ext xmlns:c16="http://schemas.microsoft.com/office/drawing/2014/chart" uri="{C3380CC4-5D6E-409C-BE32-E72D297353CC}">
              <c16:uniqueId val="{00000006-F86E-4003-8FF6-F6C452949BE2}"/>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4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2"/>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10/13/2026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10/13/2026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Cột xám là val macro-F1 ở epoch tốt nhất, cột xanh là test macro-F1. Mọi mô hình đều vượt xa mốc đoán đa số. Thứ hạng trên val và trên test không giống nhau.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 điều rút ra: mô hình nhẹ không thua mô hình nặng; điểm val lạc quan vì val chỉ có 4 tài xế; lớp nói chuyện với hành khách là điểm yếu chung. Test chỉ có 4 tài xế và một seed nên chênh dưới 0,03 chưa chắc là thật.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Mỗi lần chỉ đổi một tham số so với baseline. lr 3e-3 có val cao nhất nhưng test không tăng, thêm một bằng chứng val 4 tài xế không đáng tin để chọn cấu hình.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số em đo thật trên MobileNetV3-Small: bản FP32 xuất qua ONNX cho đúng điểm gốc 0,744, nhưng bản INT8 giảm xuống 0,14 đến 0,27 dù thử nhiều cách chọn khoảng giá trị. Mô hình nhỏ hơn 3,2 lần nhưng không dùng được. Theo tiêu chí của bài (tụt quá khoảng 2 điểm thì loại), MobileNetV3-Small chưa qua cổng khả thi. Em chưa biết chắc nguyên nhân, và EfficientNet-Lite0 (thiết kế cho lượng tử hoá) cùng ResNet18 chưa đo xong.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Các hạn chế này quyết định cách đọc kết quả: chỉ kết luận những chênh lệch lớn, và số tốc độ chỉ có ý nghĩa tương đối cho đến khi đo trên thiết bị edge.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Phần INT8, phân tích lỗi và cải thiện đang chạy; kết quả sẽ được thêm vào slide khi có. Phần đo trên thiết bị thật thuộc đồ án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8"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8"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9"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a:t>
            </a:fld>
            <a:endParaRPr lang="en-US"/>
          </a:p>
        </p:txBody>
      </p:sp>
      <p:sp>
        <p:nvSpPr>
          <p:cNvPr id="7" name="DeckTitle"/>
          <p:cNvSpPr txBox="1"/>
          <p:nvPr/>
        </p:nvSpPr>
        <p:spPr>
          <a:xfrm>
            <a:off x="344538" y="2755910"/>
            <a:ext cx="7589520" cy="523220"/>
          </a:xfrm>
          <a:prstGeom prst="rect">
            <a:avLst/>
          </a:prstGeom>
          <a:noFill/>
        </p:spPr>
        <p:txBody>
          <a:bodyPr wrap="square" lIns="0" tIns="0" rIns="0" bIns="0" anchor="t">
            <a:spAutoFit/>
          </a:bodyPr>
          <a:lstStyle/>
          <a:p>
            <a:pPr algn="l">
              <a:spcAft>
                <a:spcPts val="1000"/>
              </a:spcAft>
            </a:pPr>
            <a:r>
              <a:rPr sz="3400" b="1" i="0" dirty="0" err="1">
                <a:solidFill>
                  <a:srgbClr val="000000"/>
                </a:solidFill>
                <a:latin typeface="Arial"/>
              </a:rPr>
              <a:t>Nhận</a:t>
            </a:r>
            <a:r>
              <a:rPr sz="3400" b="1" i="0" dirty="0">
                <a:solidFill>
                  <a:srgbClr val="000000"/>
                </a:solidFill>
                <a:latin typeface="Arial"/>
              </a:rPr>
              <a:t> </a:t>
            </a:r>
            <a:r>
              <a:rPr sz="3400" b="1" i="0" dirty="0" err="1">
                <a:solidFill>
                  <a:srgbClr val="000000"/>
                </a:solidFill>
                <a:latin typeface="Arial"/>
              </a:rPr>
              <a:t>diện</a:t>
            </a:r>
            <a:r>
              <a:rPr sz="3400" b="1" i="0" dirty="0">
                <a:solidFill>
                  <a:srgbClr val="000000"/>
                </a:solidFill>
                <a:latin typeface="Arial"/>
              </a:rPr>
              <a:t> </a:t>
            </a:r>
            <a:r>
              <a:rPr sz="3400" b="1" i="0" dirty="0" err="1">
                <a:solidFill>
                  <a:srgbClr val="000000"/>
                </a:solidFill>
                <a:latin typeface="Arial"/>
              </a:rPr>
              <a:t>tài</a:t>
            </a:r>
            <a:r>
              <a:rPr sz="3400" b="1" i="0" dirty="0">
                <a:solidFill>
                  <a:srgbClr val="000000"/>
                </a:solidFill>
                <a:latin typeface="Arial"/>
              </a:rPr>
              <a:t> </a:t>
            </a:r>
            <a:r>
              <a:rPr sz="3400" b="1" i="0" dirty="0" err="1">
                <a:solidFill>
                  <a:srgbClr val="000000"/>
                </a:solidFill>
                <a:latin typeface="Arial"/>
              </a:rPr>
              <a:t>xế</a:t>
            </a:r>
            <a:r>
              <a:rPr sz="3400" b="1" i="0" dirty="0">
                <a:solidFill>
                  <a:srgbClr val="000000"/>
                </a:solidFill>
                <a:latin typeface="Arial"/>
              </a:rPr>
              <a:t> </a:t>
            </a:r>
            <a:r>
              <a:rPr sz="3400" b="1" i="0" dirty="0" err="1">
                <a:solidFill>
                  <a:srgbClr val="000000"/>
                </a:solidFill>
                <a:latin typeface="Arial"/>
              </a:rPr>
              <a:t>mất</a:t>
            </a:r>
            <a:r>
              <a:rPr sz="3400" b="1" i="0" dirty="0">
                <a:solidFill>
                  <a:srgbClr val="000000"/>
                </a:solidFill>
                <a:latin typeface="Arial"/>
              </a:rPr>
              <a:t> </a:t>
            </a:r>
            <a:r>
              <a:rPr sz="3400" b="1" i="0" dirty="0" err="1">
                <a:solidFill>
                  <a:srgbClr val="000000"/>
                </a:solidFill>
                <a:latin typeface="Arial"/>
              </a:rPr>
              <a:t>tập</a:t>
            </a:r>
            <a:r>
              <a:rPr sz="3400" b="1" i="0" dirty="0">
                <a:solidFill>
                  <a:srgbClr val="000000"/>
                </a:solidFill>
                <a:latin typeface="Arial"/>
              </a:rPr>
              <a:t> </a:t>
            </a:r>
            <a:r>
              <a:rPr sz="3400" b="1" i="0" dirty="0" err="1">
                <a:solidFill>
                  <a:srgbClr val="000000"/>
                </a:solidFill>
                <a:latin typeface="Arial"/>
              </a:rPr>
              <a:t>trung</a:t>
            </a:r>
            <a:endParaRPr sz="2600" b="0" i="0" dirty="0">
              <a:solidFill>
                <a:srgbClr val="474F67"/>
              </a:solidFill>
              <a:latin typeface="Arial"/>
            </a:endParaRPr>
          </a:p>
        </p:txBody>
      </p:sp>
      <p:sp>
        <p:nvSpPr>
          <p:cNvPr id="9" name="TextBox 8"/>
          <p:cNvSpPr txBox="1"/>
          <p:nvPr/>
        </p:nvSpPr>
        <p:spPr>
          <a:xfrm>
            <a:off x="756537" y="4050101"/>
            <a:ext cx="6035040" cy="502920"/>
          </a:xfrm>
          <a:prstGeom prst="rect">
            <a:avLst/>
          </a:prstGeom>
          <a:noFill/>
        </p:spPr>
        <p:txBody>
          <a:bodyPr wrap="square" lIns="0" tIns="0" rIns="0" bIns="0" anchor="t">
            <a:spAutoFit/>
          </a:bodyPr>
          <a:lstStyle/>
          <a:p>
            <a:pPr algn="l">
              <a:spcAft>
                <a:spcPts val="600"/>
              </a:spcAft>
            </a:pPr>
            <a:r>
              <a:rPr sz="2800" b="0" i="0" dirty="0">
                <a:solidFill>
                  <a:srgbClr val="000000"/>
                </a:solidFill>
                <a:latin typeface="Arial"/>
              </a:rPr>
              <a:t>Presenter: Huy Tran Gia</a:t>
            </a:r>
          </a:p>
        </p:txBody>
      </p:sp>
      <p:pic>
        <p:nvPicPr>
          <p:cNvPr id="3" name="Picture 2">
            <a:extLst>
              <a:ext uri="{FF2B5EF4-FFF2-40B4-BE49-F238E27FC236}">
                <a16:creationId xmlns:a16="http://schemas.microsoft.com/office/drawing/2014/main" id="{7AF56CD6-8D33-CEFC-5305-A30B00764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577" y="1577915"/>
            <a:ext cx="5057775" cy="3581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Bài</a:t>
            </a:r>
            <a:r>
              <a:rPr sz="2400" b="1" dirty="0">
                <a:solidFill>
                  <a:srgbClr val="FFFFFF"/>
                </a:solidFill>
                <a:latin typeface="Arial"/>
              </a:rPr>
              <a:t> </a:t>
            </a:r>
            <a:r>
              <a:rPr sz="2400" b="1" dirty="0" err="1">
                <a:solidFill>
                  <a:srgbClr val="FFFFFF"/>
                </a:solidFill>
                <a:latin typeface="Arial"/>
              </a:rPr>
              <a:t>toán</a:t>
            </a:r>
            <a:r>
              <a:rPr sz="2400" b="1" dirty="0">
                <a:solidFill>
                  <a:srgbClr val="FFFFFF"/>
                </a:solidFill>
                <a:latin typeface="Arial"/>
              </a:rPr>
              <a:t> </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2</a:t>
            </a:fld>
            <a:endParaRPr lang="en-US"/>
          </a:p>
        </p:txBody>
      </p:sp>
      <p:sp>
        <p:nvSpPr>
          <p:cNvPr id="7" name="TextBox 6"/>
          <p:cNvSpPr txBox="1"/>
          <p:nvPr/>
        </p:nvSpPr>
        <p:spPr>
          <a:xfrm>
            <a:off x="576072" y="914400"/>
            <a:ext cx="11064240" cy="553998"/>
          </a:xfrm>
          <a:prstGeom prst="rect">
            <a:avLst/>
          </a:prstGeom>
          <a:noFill/>
        </p:spPr>
        <p:txBody>
          <a:bodyPr wrap="square" lIns="0" tIns="0" rIns="0" bIns="0" anchor="t">
            <a:spAutoFit/>
          </a:bodyPr>
          <a:lstStyle/>
          <a:p>
            <a:pPr algn="l">
              <a:spcAft>
                <a:spcPts val="600"/>
              </a:spcAft>
            </a:pPr>
            <a:r>
              <a:rPr sz="1800" b="1" i="0" dirty="0" err="1">
                <a:solidFill>
                  <a:srgbClr val="1D2939"/>
                </a:solidFill>
                <a:latin typeface="Arial"/>
              </a:rPr>
              <a:t>Bài</a:t>
            </a:r>
            <a:r>
              <a:rPr sz="1800" b="1" i="0" dirty="0">
                <a:solidFill>
                  <a:srgbClr val="1D2939"/>
                </a:solidFill>
                <a:latin typeface="Arial"/>
              </a:rPr>
              <a:t> </a:t>
            </a:r>
            <a:r>
              <a:rPr sz="1800" b="1" i="0" dirty="0" err="1">
                <a:solidFill>
                  <a:srgbClr val="1D2939"/>
                </a:solidFill>
                <a:latin typeface="Arial"/>
              </a:rPr>
              <a:t>toán</a:t>
            </a:r>
            <a:r>
              <a:rPr sz="1800" b="1" i="0" dirty="0">
                <a:solidFill>
                  <a:srgbClr val="1D2939"/>
                </a:solidFill>
                <a:latin typeface="Arial"/>
              </a:rPr>
              <a:t>: </a:t>
            </a:r>
            <a:r>
              <a:rPr sz="1800" b="0" i="0" dirty="0" err="1">
                <a:solidFill>
                  <a:srgbClr val="474F67"/>
                </a:solidFill>
                <a:latin typeface="Arial"/>
              </a:rPr>
              <a:t>từ</a:t>
            </a:r>
            <a:r>
              <a:rPr sz="1800" b="0" i="0" dirty="0">
                <a:solidFill>
                  <a:srgbClr val="474F67"/>
                </a:solidFill>
                <a:latin typeface="Arial"/>
              </a:rPr>
              <a:t> </a:t>
            </a:r>
            <a:r>
              <a:rPr sz="1800" b="0" i="0" dirty="0" err="1">
                <a:solidFill>
                  <a:srgbClr val="474F67"/>
                </a:solidFill>
                <a:latin typeface="Arial"/>
              </a:rPr>
              <a:t>một</a:t>
            </a:r>
            <a:r>
              <a:rPr sz="1800" b="0" i="0" dirty="0">
                <a:solidFill>
                  <a:srgbClr val="474F67"/>
                </a:solidFill>
                <a:latin typeface="Arial"/>
              </a:rPr>
              <a:t> </a:t>
            </a:r>
            <a:r>
              <a:rPr sz="1800" b="0" i="0" dirty="0" err="1">
                <a:solidFill>
                  <a:srgbClr val="474F67"/>
                </a:solidFill>
                <a:latin typeface="Arial"/>
              </a:rPr>
              <a:t>ảnh</a:t>
            </a:r>
            <a:r>
              <a:rPr sz="1800" b="0" i="0" dirty="0">
                <a:solidFill>
                  <a:srgbClr val="474F67"/>
                </a:solidFill>
                <a:latin typeface="Arial"/>
              </a:rPr>
              <a:t> camera </a:t>
            </a:r>
            <a:r>
              <a:rPr sz="1800" b="0" i="0" dirty="0" err="1">
                <a:solidFill>
                  <a:srgbClr val="474F67"/>
                </a:solidFill>
                <a:latin typeface="Arial"/>
              </a:rPr>
              <a:t>trong</a:t>
            </a:r>
            <a:r>
              <a:rPr sz="1800" b="0" i="0" dirty="0">
                <a:solidFill>
                  <a:srgbClr val="474F67"/>
                </a:solidFill>
                <a:latin typeface="Arial"/>
              </a:rPr>
              <a:t> </a:t>
            </a:r>
            <a:r>
              <a:rPr sz="1800" b="0" i="0" dirty="0" err="1">
                <a:solidFill>
                  <a:srgbClr val="474F67"/>
                </a:solidFill>
                <a:latin typeface="Arial"/>
              </a:rPr>
              <a:t>xe</a:t>
            </a:r>
            <a:r>
              <a:rPr sz="1800" b="0" i="0" dirty="0">
                <a:solidFill>
                  <a:srgbClr val="474F67"/>
                </a:solidFill>
                <a:latin typeface="Arial"/>
              </a:rPr>
              <a:t>, </a:t>
            </a:r>
            <a:r>
              <a:rPr sz="1800" b="0" i="0" dirty="0" err="1">
                <a:solidFill>
                  <a:srgbClr val="474F67"/>
                </a:solidFill>
                <a:latin typeface="Arial"/>
              </a:rPr>
              <a:t>phân</a:t>
            </a:r>
            <a:r>
              <a:rPr sz="1800" b="0" i="0" dirty="0">
                <a:solidFill>
                  <a:srgbClr val="474F67"/>
                </a:solidFill>
                <a:latin typeface="Arial"/>
              </a:rPr>
              <a:t> </a:t>
            </a:r>
            <a:r>
              <a:rPr sz="1800" b="0" i="0" dirty="0" err="1">
                <a:solidFill>
                  <a:srgbClr val="474F67"/>
                </a:solidFill>
                <a:latin typeface="Arial"/>
              </a:rPr>
              <a:t>loại</a:t>
            </a:r>
            <a:r>
              <a:rPr sz="1800" b="0" i="0" dirty="0">
                <a:solidFill>
                  <a:srgbClr val="474F67"/>
                </a:solidFill>
                <a:latin typeface="Arial"/>
              </a:rPr>
              <a:t> </a:t>
            </a:r>
            <a:r>
              <a:rPr sz="1800" b="0" i="0" dirty="0" err="1">
                <a:solidFill>
                  <a:srgbClr val="474F67"/>
                </a:solidFill>
                <a:latin typeface="Arial"/>
              </a:rPr>
              <a:t>tài</a:t>
            </a:r>
            <a:r>
              <a:rPr sz="1800" b="0" i="0" dirty="0">
                <a:solidFill>
                  <a:srgbClr val="474F67"/>
                </a:solidFill>
                <a:latin typeface="Arial"/>
              </a:rPr>
              <a:t> </a:t>
            </a:r>
            <a:r>
              <a:rPr sz="1800" b="0" i="0" dirty="0" err="1">
                <a:solidFill>
                  <a:srgbClr val="474F67"/>
                </a:solidFill>
                <a:latin typeface="Arial"/>
              </a:rPr>
              <a:t>xế</a:t>
            </a:r>
            <a:r>
              <a:rPr sz="1800" b="0" i="0" dirty="0">
                <a:solidFill>
                  <a:srgbClr val="474F67"/>
                </a:solidFill>
                <a:latin typeface="Arial"/>
              </a:rPr>
              <a:t> </a:t>
            </a:r>
            <a:r>
              <a:rPr sz="1800" b="0" i="0" dirty="0" err="1">
                <a:solidFill>
                  <a:srgbClr val="474F67"/>
                </a:solidFill>
                <a:latin typeface="Arial"/>
              </a:rPr>
              <a:t>đang</a:t>
            </a:r>
            <a:r>
              <a:rPr sz="1800" b="0" i="0" dirty="0">
                <a:solidFill>
                  <a:srgbClr val="474F67"/>
                </a:solidFill>
                <a:latin typeface="Arial"/>
              </a:rPr>
              <a:t> </a:t>
            </a:r>
            <a:r>
              <a:rPr sz="1800" b="0" i="0" dirty="0" err="1">
                <a:solidFill>
                  <a:srgbClr val="474F67"/>
                </a:solidFill>
                <a:latin typeface="Arial"/>
              </a:rPr>
              <a:t>làm</a:t>
            </a:r>
            <a:r>
              <a:rPr sz="1800" b="0" i="0" dirty="0">
                <a:solidFill>
                  <a:srgbClr val="474F67"/>
                </a:solidFill>
                <a:latin typeface="Arial"/>
              </a:rPr>
              <a:t> </a:t>
            </a:r>
            <a:r>
              <a:rPr sz="1800" b="0" i="0" dirty="0" err="1">
                <a:solidFill>
                  <a:srgbClr val="474F67"/>
                </a:solidFill>
                <a:latin typeface="Arial"/>
              </a:rPr>
              <a:t>gì</a:t>
            </a:r>
            <a:r>
              <a:rPr lang="en-US" dirty="0" err="1">
                <a:solidFill>
                  <a:srgbClr val="474F67"/>
                </a:solidFill>
                <a:latin typeface="Arial"/>
              </a:rPr>
              <a:t>. </a:t>
            </a:r>
            <a:r>
              <a:rPr sz="1800" b="0" i="0" dirty="0" err="1">
                <a:solidFill>
                  <a:srgbClr val="474F67"/>
                </a:solidFill>
                <a:latin typeface="Arial"/>
              </a:rPr>
              <a:t>Mô</a:t>
            </a:r>
            <a:r>
              <a:rPr sz="1800" b="0" i="0" dirty="0">
                <a:solidFill>
                  <a:srgbClr val="474F67"/>
                </a:solidFill>
                <a:latin typeface="Arial"/>
              </a:rPr>
              <a:t> </a:t>
            </a:r>
            <a:r>
              <a:rPr sz="1800" b="0" i="0" dirty="0" err="1">
                <a:solidFill>
                  <a:srgbClr val="474F67"/>
                </a:solidFill>
                <a:latin typeface="Arial"/>
              </a:rPr>
              <a:t>hình</a:t>
            </a:r>
            <a:r>
              <a:rPr sz="1800" b="0" i="0" dirty="0">
                <a:solidFill>
                  <a:srgbClr val="474F67"/>
                </a:solidFill>
                <a:latin typeface="Arial"/>
              </a:rPr>
              <a:t> </a:t>
            </a:r>
            <a:r>
              <a:rPr sz="1800" b="0" i="0" dirty="0" err="1">
                <a:solidFill>
                  <a:srgbClr val="474F67"/>
                </a:solidFill>
                <a:latin typeface="Arial"/>
              </a:rPr>
              <a:t>phải</a:t>
            </a:r>
            <a:r>
              <a:rPr sz="1800" b="0" i="0" dirty="0">
                <a:solidFill>
                  <a:srgbClr val="474F67"/>
                </a:solidFill>
                <a:latin typeface="Arial"/>
              </a:rPr>
              <a:t> </a:t>
            </a:r>
            <a:r>
              <a:rPr sz="1800" b="0" i="0" dirty="0" err="1">
                <a:solidFill>
                  <a:srgbClr val="474F67"/>
                </a:solidFill>
                <a:latin typeface="Arial"/>
              </a:rPr>
              <a:t>chạy</a:t>
            </a:r>
            <a:r>
              <a:rPr sz="1800" b="0" i="0" dirty="0">
                <a:solidFill>
                  <a:srgbClr val="474F67"/>
                </a:solidFill>
                <a:latin typeface="Arial"/>
              </a:rPr>
              <a:t> </a:t>
            </a:r>
            <a:r>
              <a:rPr sz="1800" b="0" i="0" dirty="0" err="1">
                <a:solidFill>
                  <a:srgbClr val="474F67"/>
                </a:solidFill>
                <a:latin typeface="Arial"/>
              </a:rPr>
              <a:t>được</a:t>
            </a:r>
            <a:r>
              <a:rPr sz="1800" b="0" i="0" dirty="0">
                <a:solidFill>
                  <a:srgbClr val="474F67"/>
                </a:solidFill>
                <a:latin typeface="Arial"/>
              </a:rPr>
              <a:t> </a:t>
            </a:r>
            <a:r>
              <a:rPr sz="1800" b="0" i="0" dirty="0" err="1">
                <a:solidFill>
                  <a:srgbClr val="474F67"/>
                </a:solidFill>
                <a:latin typeface="Arial"/>
              </a:rPr>
              <a:t>trên</a:t>
            </a:r>
            <a:r>
              <a:rPr sz="1800" b="0" i="0" dirty="0">
                <a:solidFill>
                  <a:srgbClr val="474F67"/>
                </a:solidFill>
                <a:latin typeface="Arial"/>
              </a:rPr>
              <a:t> </a:t>
            </a:r>
            <a:r>
              <a:rPr sz="1800" b="0" i="0" dirty="0" err="1">
                <a:solidFill>
                  <a:srgbClr val="474F67"/>
                </a:solidFill>
                <a:latin typeface="Arial"/>
              </a:rPr>
              <a:t>thiết</a:t>
            </a:r>
            <a:r>
              <a:rPr sz="1800" b="0" i="0" dirty="0">
                <a:solidFill>
                  <a:srgbClr val="474F67"/>
                </a:solidFill>
                <a:latin typeface="Arial"/>
              </a:rPr>
              <a:t> </a:t>
            </a:r>
            <a:r>
              <a:rPr sz="1800" b="0" i="0" dirty="0" err="1">
                <a:solidFill>
                  <a:srgbClr val="474F67"/>
                </a:solidFill>
                <a:latin typeface="Arial"/>
              </a:rPr>
              <a:t>bị</a:t>
            </a:r>
            <a:r>
              <a:rPr sz="1800" b="0" i="0" dirty="0">
                <a:solidFill>
                  <a:srgbClr val="474F67"/>
                </a:solidFill>
                <a:latin typeface="Arial"/>
              </a:rPr>
              <a:t> edge: </a:t>
            </a:r>
            <a:r>
              <a:rPr sz="1800" b="0" i="0" dirty="0" err="1">
                <a:solidFill>
                  <a:srgbClr val="474F67"/>
                </a:solidFill>
                <a:latin typeface="Arial"/>
              </a:rPr>
              <a:t>nhỏ</a:t>
            </a:r>
            <a:r>
              <a:rPr sz="1800" b="0" i="0" dirty="0">
                <a:solidFill>
                  <a:srgbClr val="474F67"/>
                </a:solidFill>
                <a:latin typeface="Arial"/>
              </a:rPr>
              <a:t>, </a:t>
            </a:r>
            <a:r>
              <a:rPr sz="1800" b="0" i="0" dirty="0" err="1">
                <a:solidFill>
                  <a:srgbClr val="474F67"/>
                </a:solidFill>
                <a:latin typeface="Arial"/>
              </a:rPr>
              <a:t>nhanh</a:t>
            </a:r>
            <a:r>
              <a:rPr sz="1800" b="0" i="0" dirty="0">
                <a:solidFill>
                  <a:srgbClr val="474F67"/>
                </a:solidFill>
                <a:latin typeface="Arial"/>
              </a:rPr>
              <a:t>, </a:t>
            </a:r>
            <a:r>
              <a:rPr sz="1800" b="0" i="0" dirty="0" err="1">
                <a:solidFill>
                  <a:srgbClr val="474F67"/>
                </a:solidFill>
                <a:latin typeface="Arial"/>
              </a:rPr>
              <a:t>tiết</a:t>
            </a:r>
            <a:r>
              <a:rPr sz="1800" b="0" i="0" dirty="0">
                <a:solidFill>
                  <a:srgbClr val="474F67"/>
                </a:solidFill>
                <a:latin typeface="Arial"/>
              </a:rPr>
              <a:t> </a:t>
            </a:r>
            <a:r>
              <a:rPr sz="1800" b="0" i="0" dirty="0" err="1">
                <a:solidFill>
                  <a:srgbClr val="474F67"/>
                </a:solidFill>
                <a:latin typeface="Arial"/>
              </a:rPr>
              <a:t>kiệm</a:t>
            </a:r>
            <a:r>
              <a:rPr sz="1800" b="0" i="0" dirty="0">
                <a:solidFill>
                  <a:srgbClr val="474F67"/>
                </a:solidFill>
                <a:latin typeface="Arial"/>
              </a:rPr>
              <a:t> </a:t>
            </a:r>
            <a:r>
              <a:rPr sz="1800" b="0" i="0" dirty="0" err="1">
                <a:solidFill>
                  <a:srgbClr val="474F67"/>
                </a:solidFill>
                <a:latin typeface="Arial"/>
              </a:rPr>
              <a:t>bộ</a:t>
            </a:r>
            <a:r>
              <a:rPr sz="1800" b="0" i="0" dirty="0">
                <a:solidFill>
                  <a:srgbClr val="474F67"/>
                </a:solidFill>
                <a:latin typeface="Arial"/>
              </a:rPr>
              <a:t> </a:t>
            </a:r>
            <a:r>
              <a:rPr sz="1800" b="0" i="0" dirty="0" err="1">
                <a:solidFill>
                  <a:srgbClr val="474F67"/>
                </a:solidFill>
                <a:latin typeface="Arial"/>
              </a:rPr>
              <a:t>nhớ</a:t>
            </a:r>
            <a:r>
              <a:rPr sz="1800" b="0" i="0" dirty="0">
                <a:solidFill>
                  <a:srgbClr val="474F67"/>
                </a:solidFill>
                <a:latin typeface="Arial"/>
              </a:rPr>
              <a:t>.</a:t>
            </a:r>
          </a:p>
        </p:txBody>
      </p:sp>
      <p:pic>
        <p:nvPicPr>
          <p:cNvPr id="8" name="CloudVsEdge" descr="edge_pic.jpg"/>
          <p:cNvPicPr>
            <a:picLocks noChangeAspect="1"/>
          </p:cNvPicPr>
          <p:nvPr/>
        </p:nvPicPr>
        <p:blipFill>
          <a:blip r:embed="rId3"/>
          <a:stretch>
            <a:fillRect/>
          </a:stretch>
        </p:blipFill>
        <p:spPr>
          <a:xfrm>
            <a:off x="1325880" y="1737360"/>
            <a:ext cx="9509760" cy="36007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Dữ liệu: State Farm Distracted Driver</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3</a:t>
            </a:fld>
            <a:endParaRPr lang="en-US"/>
          </a:p>
        </p:txBody>
      </p:sp>
      <p:sp>
        <p:nvSpPr>
          <p:cNvPr id="7" name="Rounded Rectangle 6"/>
          <p:cNvSpPr/>
          <p:nvPr/>
        </p:nvSpPr>
        <p:spPr>
          <a:xfrm>
            <a:off x="576072"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22.424</a:t>
            </a:r>
          </a:p>
        </p:txBody>
      </p:sp>
      <p:sp>
        <p:nvSpPr>
          <p:cNvPr id="9" name="TextBox 8"/>
          <p:cNvSpPr txBox="1"/>
          <p:nvPr/>
        </p:nvSpPr>
        <p:spPr>
          <a:xfrm>
            <a:off x="576072"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có nhãn</a:t>
            </a:r>
          </a:p>
        </p:txBody>
      </p:sp>
      <p:sp>
        <p:nvSpPr>
          <p:cNvPr id="10" name="Rounded Rectangle 9"/>
          <p:cNvSpPr/>
          <p:nvPr/>
        </p:nvSpPr>
        <p:spPr>
          <a:xfrm>
            <a:off x="3374136"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74136"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26</a:t>
            </a:r>
          </a:p>
        </p:txBody>
      </p:sp>
      <p:sp>
        <p:nvSpPr>
          <p:cNvPr id="12" name="TextBox 11"/>
          <p:cNvSpPr txBox="1"/>
          <p:nvPr/>
        </p:nvSpPr>
        <p:spPr>
          <a:xfrm>
            <a:off x="3374136"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tài xế</a:t>
            </a:r>
          </a:p>
        </p:txBody>
      </p:sp>
      <p:sp>
        <p:nvSpPr>
          <p:cNvPr id="13" name="Rounded Rectangle 12"/>
          <p:cNvSpPr/>
          <p:nvPr/>
        </p:nvSpPr>
        <p:spPr>
          <a:xfrm>
            <a:off x="6172200"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10 → 6</a:t>
            </a:r>
          </a:p>
        </p:txBody>
      </p:sp>
      <p:sp>
        <p:nvSpPr>
          <p:cNvPr id="15" name="TextBox 14"/>
          <p:cNvSpPr txBox="1"/>
          <p:nvPr/>
        </p:nvSpPr>
        <p:spPr>
          <a:xfrm>
            <a:off x="6172200"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lớp hành vi</a:t>
            </a:r>
          </a:p>
        </p:txBody>
      </p:sp>
      <p:sp>
        <p:nvSpPr>
          <p:cNvPr id="16" name="Rounded Rectangle 15"/>
          <p:cNvSpPr/>
          <p:nvPr/>
        </p:nvSpPr>
        <p:spPr>
          <a:xfrm>
            <a:off x="8970264"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0264"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640×480</a:t>
            </a:r>
          </a:p>
        </p:txBody>
      </p:sp>
      <p:sp>
        <p:nvSpPr>
          <p:cNvPr id="18" name="TextBox 17"/>
          <p:cNvSpPr txBox="1"/>
          <p:nvPr/>
        </p:nvSpPr>
        <p:spPr>
          <a:xfrm>
            <a:off x="8970264"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RGB, JPEG</a:t>
            </a:r>
          </a:p>
        </p:txBody>
      </p:sp>
      <p:pic>
        <p:nvPicPr>
          <p:cNvPr id="19" name="Picture 18" descr="classes.jpg"/>
          <p:cNvPicPr>
            <a:picLocks noChangeAspect="1"/>
          </p:cNvPicPr>
          <p:nvPr/>
        </p:nvPicPr>
        <p:blipFill>
          <a:blip r:embed="rId3"/>
          <a:stretch>
            <a:fillRect/>
          </a:stretch>
        </p:blipFill>
        <p:spPr>
          <a:xfrm>
            <a:off x="576072" y="2331720"/>
            <a:ext cx="7498079" cy="2249424"/>
          </a:xfrm>
          <a:prstGeom prst="rect">
            <a:avLst/>
          </a:prstGeom>
        </p:spPr>
      </p:pic>
      <p:sp>
        <p:nvSpPr>
          <p:cNvPr id="21" name="Rounded Rectangle 20"/>
          <p:cNvSpPr/>
          <p:nvPr/>
        </p:nvSpPr>
        <p:spPr>
          <a:xfrm>
            <a:off x="8321040" y="2331720"/>
            <a:ext cx="3319272" cy="3611880"/>
          </a:xfrm>
          <a:prstGeom prst="roundRect">
            <a:avLst>
              <a:gd name="adj" fmla="val 9641"/>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57031" y="2487168"/>
            <a:ext cx="91440" cy="33009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468880"/>
            <a:ext cx="2971800" cy="3429000"/>
          </a:xfrm>
          <a:prstGeom prst="rect">
            <a:avLst/>
          </a:prstGeom>
          <a:noFill/>
        </p:spPr>
        <p:txBody>
          <a:bodyPr wrap="square" lIns="0" tIns="0" rIns="0" bIns="0" anchor="t">
            <a:spAutoFit/>
          </a:bodyPr>
          <a:lstStyle/>
          <a:p>
            <a:pPr algn="l">
              <a:spcAft>
                <a:spcPts val="500"/>
              </a:spcAft>
            </a:pPr>
            <a:r>
              <a:rPr sz="1800" b="1" i="0" dirty="0" err="1">
                <a:solidFill>
                  <a:srgbClr val="1D2939"/>
                </a:solidFill>
                <a:latin typeface="Arial"/>
              </a:rPr>
              <a:t>Gộp</a:t>
            </a:r>
            <a:r>
              <a:rPr sz="1800" b="1" i="0" dirty="0">
                <a:solidFill>
                  <a:srgbClr val="1D2939"/>
                </a:solidFill>
                <a:latin typeface="Arial"/>
              </a:rPr>
              <a:t> 10 </a:t>
            </a:r>
            <a:r>
              <a:rPr sz="1800" b="1" i="0" dirty="0" err="1">
                <a:solidFill>
                  <a:srgbClr val="1D2939"/>
                </a:solidFill>
                <a:latin typeface="Arial"/>
              </a:rPr>
              <a:t>lớp</a:t>
            </a:r>
            <a:r>
              <a:rPr sz="1800" b="1" i="0" dirty="0">
                <a:solidFill>
                  <a:srgbClr val="1D2939"/>
                </a:solidFill>
                <a:latin typeface="Arial"/>
              </a:rPr>
              <a:t> </a:t>
            </a:r>
            <a:r>
              <a:rPr sz="1800" b="1" i="0" dirty="0" err="1">
                <a:solidFill>
                  <a:srgbClr val="1D2939"/>
                </a:solidFill>
                <a:latin typeface="Arial"/>
              </a:rPr>
              <a:t>thành</a:t>
            </a:r>
            <a:r>
              <a:rPr sz="1800" b="1" i="0" dirty="0">
                <a:solidFill>
                  <a:srgbClr val="1D2939"/>
                </a:solidFill>
                <a:latin typeface="Arial"/>
              </a:rPr>
              <a:t> 6 </a:t>
            </a:r>
            <a:r>
              <a:rPr sz="1800" b="1" i="0" dirty="0" err="1">
                <a:solidFill>
                  <a:srgbClr val="1D2939"/>
                </a:solidFill>
                <a:latin typeface="Arial"/>
              </a:rPr>
              <a:t>nhóm</a:t>
            </a:r>
            <a:endParaRPr sz="1800" b="1" i="0" dirty="0">
              <a:solidFill>
                <a:srgbClr val="1D2939"/>
              </a:solidFill>
              <a:latin typeface="Arial"/>
            </a:endParaRPr>
          </a:p>
          <a:p>
            <a:pPr marL="256032" indent="-201168" algn="l">
              <a:spcAft>
                <a:spcPts val="500"/>
              </a:spcAft>
              <a:buChar char="•"/>
            </a:pPr>
            <a:r>
              <a:rPr sz="1500" b="1" i="0" dirty="0">
                <a:solidFill>
                  <a:srgbClr val="1D2939"/>
                </a:solidFill>
                <a:latin typeface="Arial"/>
              </a:rPr>
              <a:t>normal </a:t>
            </a:r>
            <a:r>
              <a:rPr sz="1500" b="0" i="0" dirty="0">
                <a:solidFill>
                  <a:srgbClr val="474F67"/>
                </a:solidFill>
                <a:latin typeface="Arial"/>
              </a:rPr>
              <a:t>= c0</a:t>
            </a:r>
          </a:p>
          <a:p>
            <a:pPr marL="256032" indent="-201168" algn="l">
              <a:spcAft>
                <a:spcPts val="500"/>
              </a:spcAft>
              <a:buChar char="•"/>
            </a:pPr>
            <a:r>
              <a:rPr sz="1500" b="1" i="0" dirty="0">
                <a:solidFill>
                  <a:srgbClr val="1D2939"/>
                </a:solidFill>
                <a:latin typeface="Arial"/>
              </a:rPr>
              <a:t>phone </a:t>
            </a:r>
            <a:r>
              <a:rPr sz="1500" b="0" i="0" dirty="0">
                <a:solidFill>
                  <a:srgbClr val="474F67"/>
                </a:solidFill>
                <a:latin typeface="Arial"/>
              </a:rPr>
              <a:t>= c1–c4</a:t>
            </a:r>
          </a:p>
          <a:p>
            <a:pPr marL="256032" indent="-201168" algn="l">
              <a:spcAft>
                <a:spcPts val="500"/>
              </a:spcAft>
              <a:buChar char="•"/>
            </a:pPr>
            <a:r>
              <a:rPr sz="1500" b="1" i="0" dirty="0" err="1">
                <a:solidFill>
                  <a:srgbClr val="1D2939"/>
                </a:solidFill>
                <a:latin typeface="Arial"/>
              </a:rPr>
              <a:t>device_ops</a:t>
            </a:r>
            <a:r>
              <a:rPr sz="1500" b="1" i="0" dirty="0">
                <a:solidFill>
                  <a:srgbClr val="1D2939"/>
                </a:solidFill>
                <a:latin typeface="Arial"/>
              </a:rPr>
              <a:t> </a:t>
            </a:r>
            <a:r>
              <a:rPr sz="1500" b="0" i="0" dirty="0">
                <a:solidFill>
                  <a:srgbClr val="474F67"/>
                </a:solidFill>
                <a:latin typeface="Arial"/>
              </a:rPr>
              <a:t>= c5</a:t>
            </a:r>
          </a:p>
          <a:p>
            <a:pPr marL="256032" indent="-201168" algn="l">
              <a:spcAft>
                <a:spcPts val="500"/>
              </a:spcAft>
              <a:buChar char="•"/>
            </a:pPr>
            <a:r>
              <a:rPr sz="1500" b="1" i="0" dirty="0" err="1">
                <a:solidFill>
                  <a:srgbClr val="1D2939"/>
                </a:solidFill>
                <a:latin typeface="Arial"/>
              </a:rPr>
              <a:t>eat_drink</a:t>
            </a:r>
            <a:r>
              <a:rPr sz="1500" b="1" i="0" dirty="0">
                <a:solidFill>
                  <a:srgbClr val="1D2939"/>
                </a:solidFill>
                <a:latin typeface="Arial"/>
              </a:rPr>
              <a:t> </a:t>
            </a:r>
            <a:r>
              <a:rPr sz="1500" b="0" i="0" dirty="0">
                <a:solidFill>
                  <a:srgbClr val="474F67"/>
                </a:solidFill>
                <a:latin typeface="Arial"/>
              </a:rPr>
              <a:t>= c6</a:t>
            </a:r>
          </a:p>
          <a:p>
            <a:pPr marL="256032" indent="-201168" algn="l">
              <a:spcAft>
                <a:spcPts val="500"/>
              </a:spcAft>
              <a:buChar char="•"/>
            </a:pPr>
            <a:r>
              <a:rPr sz="1500" b="1" i="0" dirty="0" err="1">
                <a:solidFill>
                  <a:srgbClr val="1D2939"/>
                </a:solidFill>
                <a:latin typeface="Arial"/>
              </a:rPr>
              <a:t>reach_grooming</a:t>
            </a:r>
            <a:r>
              <a:rPr sz="1500" b="1" i="0" dirty="0">
                <a:solidFill>
                  <a:srgbClr val="1D2939"/>
                </a:solidFill>
                <a:latin typeface="Arial"/>
              </a:rPr>
              <a:t> </a:t>
            </a:r>
            <a:r>
              <a:rPr sz="1500" b="0" i="0" dirty="0">
                <a:solidFill>
                  <a:srgbClr val="474F67"/>
                </a:solidFill>
                <a:latin typeface="Arial"/>
              </a:rPr>
              <a:t>= c7, c8</a:t>
            </a:r>
          </a:p>
          <a:p>
            <a:pPr marL="256032" indent="-201168" algn="l">
              <a:spcAft>
                <a:spcPts val="500"/>
              </a:spcAft>
              <a:buChar char="•"/>
            </a:pPr>
            <a:r>
              <a:rPr sz="1500" b="1" i="0" dirty="0" err="1">
                <a:solidFill>
                  <a:srgbClr val="1D2939"/>
                </a:solidFill>
                <a:latin typeface="Arial"/>
              </a:rPr>
              <a:t>talk_passenger</a:t>
            </a:r>
            <a:r>
              <a:rPr sz="1500" b="1" i="0" dirty="0">
                <a:solidFill>
                  <a:srgbClr val="1D2939"/>
                </a:solidFill>
                <a:latin typeface="Arial"/>
              </a:rPr>
              <a:t> </a:t>
            </a:r>
            <a:r>
              <a:rPr sz="1500" b="0" i="0" dirty="0">
                <a:solidFill>
                  <a:srgbClr val="474F67"/>
                </a:solidFill>
                <a:latin typeface="Arial"/>
              </a:rPr>
              <a:t>= c9</a:t>
            </a:r>
          </a:p>
          <a:p>
            <a:pPr algn="l">
              <a:spcAft>
                <a:spcPts val="500"/>
              </a:spcAft>
            </a:pPr>
            <a:r>
              <a:rPr sz="1400" b="0" i="1" dirty="0" err="1">
                <a:solidFill>
                  <a:srgbClr val="F58643"/>
                </a:solidFill>
                <a:latin typeface="Arial"/>
              </a:rPr>
              <a:t>Hệ</a:t>
            </a:r>
            <a:r>
              <a:rPr sz="1400" b="0" i="1" dirty="0">
                <a:solidFill>
                  <a:srgbClr val="F58643"/>
                </a:solidFill>
                <a:latin typeface="Arial"/>
              </a:rPr>
              <a:t> </a:t>
            </a:r>
            <a:r>
              <a:rPr sz="1400" b="0" i="1" dirty="0" err="1">
                <a:solidFill>
                  <a:srgbClr val="F58643"/>
                </a:solidFill>
                <a:latin typeface="Arial"/>
              </a:rPr>
              <a:t>quả</a:t>
            </a:r>
            <a:r>
              <a:rPr sz="1400" b="0" i="1" dirty="0">
                <a:solidFill>
                  <a:srgbClr val="F58643"/>
                </a:solidFill>
                <a:latin typeface="Arial"/>
              </a:rPr>
              <a:t>: phone </a:t>
            </a:r>
            <a:r>
              <a:rPr sz="1400" b="0" i="1" dirty="0" err="1">
                <a:solidFill>
                  <a:srgbClr val="F58643"/>
                </a:solidFill>
                <a:latin typeface="Arial"/>
              </a:rPr>
              <a:t>chiếm</a:t>
            </a:r>
            <a:r>
              <a:rPr sz="1400" b="0" i="1" dirty="0">
                <a:solidFill>
                  <a:srgbClr val="F58643"/>
                </a:solidFill>
                <a:latin typeface="Arial"/>
              </a:rPr>
              <a:t> 41,6% </a:t>
            </a:r>
            <a:r>
              <a:rPr sz="1400" b="0" i="1" dirty="0" err="1">
                <a:solidFill>
                  <a:srgbClr val="F58643"/>
                </a:solidFill>
                <a:latin typeface="Arial"/>
              </a:rPr>
              <a:t>ảnh</a:t>
            </a:r>
            <a:r>
              <a:rPr sz="1400" b="0" i="1" dirty="0">
                <a:solidFill>
                  <a:srgbClr val="F58643"/>
                </a:solidFill>
                <a:latin typeface="Arial"/>
              </a:rPr>
              <a:t> train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Xử lý dữ liệu</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4</a:t>
            </a:fld>
            <a:endParaRPr lang="en-US"/>
          </a:p>
        </p:txBody>
      </p:sp>
      <p:sp>
        <p:nvSpPr>
          <p:cNvPr id="7" name="Rounded Rectangle 6"/>
          <p:cNvSpPr/>
          <p:nvPr/>
        </p:nvSpPr>
        <p:spPr>
          <a:xfrm>
            <a:off x="576072"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1. Manifest</a:t>
            </a:r>
          </a:p>
        </p:txBody>
      </p:sp>
      <p:sp>
        <p:nvSpPr>
          <p:cNvPr id="10" name="TextBox 9"/>
          <p:cNvSpPr txBox="1"/>
          <p:nvPr/>
        </p:nvSpPr>
        <p:spPr>
          <a:xfrm>
            <a:off x="777240"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Một</a:t>
            </a:r>
            <a:r>
              <a:rPr sz="1400" b="0" i="0" dirty="0">
                <a:solidFill>
                  <a:srgbClr val="474F67"/>
                </a:solidFill>
                <a:latin typeface="Arial"/>
              </a:rPr>
              <a:t> file CSV: </a:t>
            </a:r>
            <a:r>
              <a:rPr sz="1400" b="0" i="0" dirty="0" err="1">
                <a:solidFill>
                  <a:srgbClr val="474F67"/>
                </a:solidFill>
                <a:latin typeface="Arial"/>
              </a:rPr>
              <a:t>đường</a:t>
            </a:r>
            <a:r>
              <a:rPr sz="1400" b="0" i="0" dirty="0">
                <a:solidFill>
                  <a:srgbClr val="474F67"/>
                </a:solidFill>
                <a:latin typeface="Arial"/>
              </a:rPr>
              <a:t> </a:t>
            </a:r>
            <a:r>
              <a:rPr sz="1400" b="0" i="0" dirty="0" err="1">
                <a:solidFill>
                  <a:srgbClr val="474F67"/>
                </a:solidFill>
                <a:latin typeface="Arial"/>
              </a:rPr>
              <a:t>dẫn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tập</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nguồn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gốc</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a:t>
            </a:r>
            <a:r>
              <a:rPr sz="1400" b="0" i="0" dirty="0" err="1">
                <a:solidFill>
                  <a:srgbClr val="474F67"/>
                </a:solidFill>
                <a:latin typeface="Arial"/>
              </a:rPr>
              <a:t>gốc</a:t>
            </a:r>
            <a:r>
              <a:rPr sz="1400" b="0" i="0" dirty="0">
                <a:solidFill>
                  <a:srgbClr val="474F67"/>
                </a:solidFill>
                <a:latin typeface="Arial"/>
              </a:rPr>
              <a:t> </a:t>
            </a:r>
            <a:r>
              <a:rPr sz="1400" b="0" i="0" dirty="0" err="1">
                <a:solidFill>
                  <a:srgbClr val="474F67"/>
                </a:solidFill>
                <a:latin typeface="Arial"/>
              </a:rPr>
              <a:t>không</a:t>
            </a:r>
            <a:r>
              <a:rPr sz="1400" b="0" i="0" dirty="0">
                <a:solidFill>
                  <a:srgbClr val="474F67"/>
                </a:solidFill>
                <a:latin typeface="Arial"/>
              </a:rPr>
              <a:t> </a:t>
            </a:r>
            <a:r>
              <a:rPr sz="1400" b="0" i="0" dirty="0" err="1">
                <a:solidFill>
                  <a:srgbClr val="474F67"/>
                </a:solidFill>
                <a:latin typeface="Arial"/>
              </a:rPr>
              <a:t>bị</a:t>
            </a:r>
            <a:r>
              <a:rPr sz="1400" b="0" i="0" dirty="0">
                <a:solidFill>
                  <a:srgbClr val="474F67"/>
                </a:solidFill>
                <a:latin typeface="Arial"/>
              </a:rPr>
              <a:t> </a:t>
            </a:r>
            <a:r>
              <a:rPr sz="1400" b="0" i="0" dirty="0" err="1">
                <a:solidFill>
                  <a:srgbClr val="474F67"/>
                </a:solidFill>
                <a:latin typeface="Arial"/>
              </a:rPr>
              <a:t>sửa</a:t>
            </a:r>
            <a:r>
              <a:rPr sz="1400" b="0" i="0" dirty="0">
                <a:solidFill>
                  <a:srgbClr val="474F67"/>
                </a:solidFill>
                <a:latin typeface="Arial"/>
              </a:rPr>
              <a:t>.</a:t>
            </a:r>
          </a:p>
        </p:txBody>
      </p:sp>
      <p:sp>
        <p:nvSpPr>
          <p:cNvPr id="11" name="Right Arrow 10"/>
          <p:cNvSpPr/>
          <p:nvPr/>
        </p:nvSpPr>
        <p:spPr>
          <a:xfrm>
            <a:off x="3145536"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38144"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2. Chia theo tài xế</a:t>
            </a:r>
          </a:p>
        </p:txBody>
      </p:sp>
      <p:sp>
        <p:nvSpPr>
          <p:cNvPr id="15" name="TextBox 14"/>
          <p:cNvSpPr txBox="1"/>
          <p:nvPr/>
        </p:nvSpPr>
        <p:spPr>
          <a:xfrm>
            <a:off x="3639312" y="1572768"/>
            <a:ext cx="2194560" cy="430887"/>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18 / 4 / 4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cho</a:t>
            </a:r>
            <a:r>
              <a:rPr sz="1400" b="0" i="0" dirty="0">
                <a:solidFill>
                  <a:srgbClr val="474F67"/>
                </a:solidFill>
                <a:latin typeface="Arial"/>
              </a:rPr>
              <a:t> train / </a:t>
            </a:r>
            <a:r>
              <a:rPr sz="1400" b="0" i="0" dirty="0" err="1">
                <a:solidFill>
                  <a:srgbClr val="474F67"/>
                </a:solidFill>
                <a:latin typeface="Arial"/>
              </a:rPr>
              <a:t>val</a:t>
            </a:r>
            <a:r>
              <a:rPr sz="1400" b="0" i="0" dirty="0">
                <a:solidFill>
                  <a:srgbClr val="474F67"/>
                </a:solidFill>
                <a:latin typeface="Arial"/>
              </a:rPr>
              <a:t> / test (seed 42).</a:t>
            </a:r>
          </a:p>
        </p:txBody>
      </p:sp>
      <p:sp>
        <p:nvSpPr>
          <p:cNvPr id="16" name="Right Arrow 15"/>
          <p:cNvSpPr/>
          <p:nvPr/>
        </p:nvSpPr>
        <p:spPr>
          <a:xfrm>
            <a:off x="6007608"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0216"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7" y="1115568"/>
            <a:ext cx="91440" cy="183794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1383"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3. Bỏ ảnh gần trùng</a:t>
            </a:r>
          </a:p>
        </p:txBody>
      </p:sp>
      <p:sp>
        <p:nvSpPr>
          <p:cNvPr id="20" name="TextBox 19"/>
          <p:cNvSpPr txBox="1"/>
          <p:nvPr/>
        </p:nvSpPr>
        <p:spPr>
          <a:xfrm>
            <a:off x="6501383" y="1572768"/>
            <a:ext cx="2194560" cy="14630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22.424 → 20.007 </a:t>
            </a:r>
            <a:r>
              <a:rPr sz="1400" b="0" i="0" dirty="0" err="1">
                <a:solidFill>
                  <a:srgbClr val="474F67"/>
                </a:solidFill>
                <a:latin typeface="Arial"/>
              </a:rPr>
              <a:t>ảnh</a:t>
            </a:r>
            <a:r>
              <a:rPr sz="1400" b="0" i="0" dirty="0">
                <a:solidFill>
                  <a:srgbClr val="474F67"/>
                </a:solidFill>
                <a:latin typeface="Arial"/>
              </a:rPr>
              <a:t> (−10,8%). </a:t>
            </a:r>
            <a:r>
              <a:rPr sz="1400" b="0" i="0" dirty="0" err="1">
                <a:solidFill>
                  <a:srgbClr val="474F67"/>
                </a:solidFill>
                <a:latin typeface="Arial"/>
              </a:rPr>
              <a:t>Ngưỡng</a:t>
            </a:r>
            <a:r>
              <a:rPr sz="1400" b="0" i="0" dirty="0">
                <a:solidFill>
                  <a:srgbClr val="474F67"/>
                </a:solidFill>
                <a:latin typeface="Arial"/>
              </a:rPr>
              <a:t> </a:t>
            </a:r>
            <a:r>
              <a:rPr sz="1400" b="0" i="0" dirty="0" err="1">
                <a:solidFill>
                  <a:srgbClr val="474F67"/>
                </a:solidFill>
                <a:latin typeface="Arial"/>
              </a:rPr>
              <a:t>độ</a:t>
            </a:r>
            <a:r>
              <a:rPr sz="1400" b="0" i="0" dirty="0">
                <a:solidFill>
                  <a:srgbClr val="474F67"/>
                </a:solidFill>
                <a:latin typeface="Arial"/>
              </a:rPr>
              <a:t> </a:t>
            </a:r>
            <a:r>
              <a:rPr sz="1400" b="0" i="0" dirty="0" err="1">
                <a:solidFill>
                  <a:srgbClr val="474F67"/>
                </a:solidFill>
                <a:latin typeface="Arial"/>
              </a:rPr>
              <a:t>lệch</a:t>
            </a:r>
            <a:r>
              <a:rPr sz="1400" b="0" i="0" dirty="0">
                <a:solidFill>
                  <a:srgbClr val="474F67"/>
                </a:solidFill>
                <a:latin typeface="Arial"/>
              </a:rPr>
              <a:t> pixel &lt; 2, </a:t>
            </a:r>
            <a:r>
              <a:rPr sz="1400" b="0" i="0" dirty="0" err="1">
                <a:solidFill>
                  <a:srgbClr val="474F67"/>
                </a:solidFill>
                <a:latin typeface="Arial"/>
              </a:rPr>
              <a:t>trong</a:t>
            </a:r>
            <a:r>
              <a:rPr sz="1400" b="0" i="0" dirty="0">
                <a:solidFill>
                  <a:srgbClr val="474F67"/>
                </a:solidFill>
                <a:latin typeface="Arial"/>
              </a:rPr>
              <a:t> </a:t>
            </a:r>
            <a:r>
              <a:rPr sz="1400" b="0" i="0" dirty="0" err="1">
                <a:solidFill>
                  <a:srgbClr val="474F67"/>
                </a:solidFill>
                <a:latin typeface="Arial"/>
              </a:rPr>
              <a:t>cùng</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và</a:t>
            </a:r>
            <a:r>
              <a:rPr sz="1400" b="0" i="0" dirty="0">
                <a:solidFill>
                  <a:srgbClr val="474F67"/>
                </a:solidFill>
                <a:latin typeface="Arial"/>
              </a:rPr>
              <a:t> </a:t>
            </a:r>
            <a:r>
              <a:rPr sz="1400" b="0" i="0" dirty="0" err="1">
                <a:solidFill>
                  <a:srgbClr val="474F67"/>
                </a:solidFill>
                <a:latin typeface="Arial"/>
              </a:rPr>
              <a:t>lớp</a:t>
            </a:r>
            <a:r>
              <a:rPr sz="1400" b="0" i="0" dirty="0">
                <a:solidFill>
                  <a:srgbClr val="474F67"/>
                </a:solidFill>
                <a:latin typeface="Arial"/>
              </a:rPr>
              <a:t>.</a:t>
            </a:r>
          </a:p>
        </p:txBody>
      </p:sp>
      <p:sp>
        <p:nvSpPr>
          <p:cNvPr id="21" name="Right Arrow 20"/>
          <p:cNvSpPr/>
          <p:nvPr/>
        </p:nvSpPr>
        <p:spPr>
          <a:xfrm>
            <a:off x="8869680"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62288" y="929235"/>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115568"/>
            <a:ext cx="91440" cy="183794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63456"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4. Resize 320×240</a:t>
            </a:r>
          </a:p>
        </p:txBody>
      </p:sp>
      <p:sp>
        <p:nvSpPr>
          <p:cNvPr id="25" name="TextBox 24"/>
          <p:cNvSpPr txBox="1"/>
          <p:nvPr/>
        </p:nvSpPr>
        <p:spPr>
          <a:xfrm>
            <a:off x="9363456"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Giữ</a:t>
            </a:r>
            <a:r>
              <a:rPr sz="1400" b="0" i="0" dirty="0">
                <a:solidFill>
                  <a:srgbClr val="474F67"/>
                </a:solidFill>
                <a:latin typeface="Arial"/>
              </a:rPr>
              <a:t> </a:t>
            </a:r>
            <a:r>
              <a:rPr sz="1400" b="0" i="0" dirty="0" err="1">
                <a:solidFill>
                  <a:srgbClr val="474F67"/>
                </a:solidFill>
                <a:latin typeface="Arial"/>
              </a:rPr>
              <a:t>tỉ</a:t>
            </a:r>
            <a:r>
              <a:rPr sz="1400" b="0" i="0" dirty="0">
                <a:solidFill>
                  <a:srgbClr val="474F67"/>
                </a:solidFill>
                <a:latin typeface="Arial"/>
              </a:rPr>
              <a:t> </a:t>
            </a:r>
            <a:r>
              <a:rPr sz="1400" b="0" i="0" dirty="0" err="1">
                <a:solidFill>
                  <a:srgbClr val="474F67"/>
                </a:solidFill>
                <a:latin typeface="Arial"/>
              </a:rPr>
              <a:t>lệ</a:t>
            </a:r>
            <a:r>
              <a:rPr sz="1400" b="0" i="0" dirty="0">
                <a:solidFill>
                  <a:srgbClr val="474F67"/>
                </a:solidFill>
                <a:latin typeface="Arial"/>
              </a:rPr>
              <a:t> 4:3, JPEG 90, 496 MB. </a:t>
            </a:r>
            <a:r>
              <a:rPr sz="1400" b="0" i="0" dirty="0" err="1">
                <a:solidFill>
                  <a:srgbClr val="474F67"/>
                </a:solidFill>
                <a:latin typeface="Arial"/>
              </a:rPr>
              <a:t>Lúc</a:t>
            </a:r>
            <a:r>
              <a:rPr sz="1400" b="0" i="0" dirty="0">
                <a:solidFill>
                  <a:srgbClr val="474F67"/>
                </a:solidFill>
                <a:latin typeface="Arial"/>
              </a:rPr>
              <a:t> train </a:t>
            </a:r>
            <a:r>
              <a:rPr sz="1400" b="0" i="0" dirty="0" err="1">
                <a:solidFill>
                  <a:srgbClr val="474F67"/>
                </a:solidFill>
                <a:latin typeface="Arial"/>
              </a:rPr>
              <a:t>đưa</a:t>
            </a:r>
            <a:r>
              <a:rPr sz="1400" b="0" i="0" dirty="0">
                <a:solidFill>
                  <a:srgbClr val="474F67"/>
                </a:solidFill>
                <a:latin typeface="Arial"/>
              </a:rPr>
              <a:t> </a:t>
            </a:r>
            <a:r>
              <a:rPr sz="1400" b="0" i="0" dirty="0" err="1">
                <a:solidFill>
                  <a:srgbClr val="474F67"/>
                </a:solidFill>
                <a:latin typeface="Arial"/>
              </a:rPr>
              <a:t>về</a:t>
            </a:r>
            <a:r>
              <a:rPr sz="1400" b="0" i="0" dirty="0">
                <a:solidFill>
                  <a:srgbClr val="474F67"/>
                </a:solidFill>
                <a:latin typeface="Arial"/>
              </a:rPr>
              <a:t> 224×224, </a:t>
            </a:r>
            <a:r>
              <a:rPr sz="1400" b="0" i="0" dirty="0" err="1">
                <a:solidFill>
                  <a:srgbClr val="474F67"/>
                </a:solidFill>
                <a:latin typeface="Arial"/>
              </a:rPr>
              <a:t>chuẩn</a:t>
            </a:r>
            <a:r>
              <a:rPr sz="1400" b="0" i="0" dirty="0">
                <a:solidFill>
                  <a:srgbClr val="474F67"/>
                </a:solidFill>
                <a:latin typeface="Arial"/>
              </a:rPr>
              <a:t> </a:t>
            </a:r>
            <a:r>
              <a:rPr sz="1400" b="0" i="0" dirty="0" err="1">
                <a:solidFill>
                  <a:srgbClr val="474F67"/>
                </a:solidFill>
                <a:latin typeface="Arial"/>
              </a:rPr>
              <a:t>hoá</a:t>
            </a:r>
            <a:r>
              <a:rPr sz="1400" b="0" i="0" dirty="0">
                <a:solidFill>
                  <a:srgbClr val="474F67"/>
                </a:solidFill>
                <a:latin typeface="Arial"/>
              </a:rPr>
              <a:t> ImageNet.</a:t>
            </a:r>
          </a:p>
        </p:txBody>
      </p:sp>
      <p:pic>
        <p:nvPicPr>
          <p:cNvPr id="26" name="Picture 25" descr="pairs_top.jpg"/>
          <p:cNvPicPr>
            <a:picLocks noChangeAspect="1"/>
          </p:cNvPicPr>
          <p:nvPr/>
        </p:nvPicPr>
        <p:blipFill>
          <a:blip r:embed="rId3"/>
          <a:stretch>
            <a:fillRect/>
          </a:stretch>
        </p:blipFill>
        <p:spPr>
          <a:xfrm>
            <a:off x="576072" y="3383280"/>
            <a:ext cx="3291840" cy="2468880"/>
          </a:xfrm>
          <a:prstGeom prst="rect">
            <a:avLst/>
          </a:prstGeom>
        </p:spPr>
      </p:pic>
      <p:sp>
        <p:nvSpPr>
          <p:cNvPr id="28" name="Rounded Rectangle 27"/>
          <p:cNvSpPr/>
          <p:nvPr/>
        </p:nvSpPr>
        <p:spPr>
          <a:xfrm>
            <a:off x="4206240" y="3383280"/>
            <a:ext cx="7434072" cy="251460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3520440"/>
            <a:ext cx="7040880" cy="1333698"/>
          </a:xfrm>
          <a:prstGeom prst="rect">
            <a:avLst/>
          </a:prstGeom>
          <a:noFill/>
        </p:spPr>
        <p:txBody>
          <a:bodyPr wrap="square" lIns="0" tIns="0" rIns="0" bIns="0" anchor="t">
            <a:spAutoFit/>
          </a:bodyPr>
          <a:lstStyle/>
          <a:p>
            <a:pPr marL="256032" indent="-201168" algn="l">
              <a:spcAft>
                <a:spcPts val="700"/>
              </a:spcAft>
              <a:buChar char="•"/>
            </a:pPr>
            <a:r>
              <a:rPr sz="1500" b="1" i="0" dirty="0">
                <a:solidFill>
                  <a:srgbClr val="1D2939"/>
                </a:solidFill>
                <a:latin typeface="Arial"/>
              </a:rPr>
              <a:t>Chia </a:t>
            </a:r>
            <a:r>
              <a:rPr sz="1500" b="1" i="0" dirty="0" err="1">
                <a:solidFill>
                  <a:srgbClr val="1D2939"/>
                </a:solidFill>
                <a:latin typeface="Arial"/>
              </a:rPr>
              <a:t>theo</a:t>
            </a:r>
            <a:r>
              <a:rPr sz="1500" b="1" i="0" dirty="0">
                <a:solidFill>
                  <a:srgbClr val="1D2939"/>
                </a:solidFill>
                <a:latin typeface="Arial"/>
              </a:rPr>
              <a:t> </a:t>
            </a:r>
            <a:r>
              <a:rPr sz="1500" b="1" i="0" dirty="0" err="1">
                <a:solidFill>
                  <a:srgbClr val="1D2939"/>
                </a:solidFill>
                <a:latin typeface="Arial"/>
              </a:rPr>
              <a:t>tài</a:t>
            </a:r>
            <a:r>
              <a:rPr sz="1500" b="1" i="0" dirty="0">
                <a:solidFill>
                  <a:srgbClr val="1D2939"/>
                </a:solidFill>
                <a:latin typeface="Arial"/>
              </a:rPr>
              <a:t> </a:t>
            </a:r>
            <a:r>
              <a:rPr sz="1500" b="1" i="0" dirty="0" err="1">
                <a:solidFill>
                  <a:srgbClr val="1D2939"/>
                </a:solidFill>
                <a:latin typeface="Arial"/>
              </a:rPr>
              <a:t>xế</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một</a:t>
            </a:r>
            <a:r>
              <a:rPr sz="1500" b="0" i="0" dirty="0">
                <a:solidFill>
                  <a:srgbClr val="474F67"/>
                </a:solidFill>
                <a:latin typeface="Arial"/>
              </a:rPr>
              <a:t> </a:t>
            </a:r>
            <a:r>
              <a:rPr sz="1500" b="0" i="0" dirty="0" err="1">
                <a:solidFill>
                  <a:srgbClr val="474F67"/>
                </a:solidFill>
                <a:latin typeface="Arial"/>
              </a:rPr>
              <a:t>người</a:t>
            </a:r>
            <a:r>
              <a:rPr sz="1500" b="0" i="0" dirty="0">
                <a:solidFill>
                  <a:srgbClr val="474F67"/>
                </a:solidFill>
                <a:latin typeface="Arial"/>
              </a:rPr>
              <a:t> </a:t>
            </a:r>
            <a:r>
              <a:rPr sz="1500" b="0" i="0" dirty="0" err="1">
                <a:solidFill>
                  <a:srgbClr val="474F67"/>
                </a:solidFill>
                <a:latin typeface="Arial"/>
              </a:rPr>
              <a:t>gần</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giống</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chia </a:t>
            </a:r>
            <a:r>
              <a:rPr sz="1500" b="0" i="0" dirty="0" err="1">
                <a:solidFill>
                  <a:srgbClr val="474F67"/>
                </a:solidFill>
                <a:latin typeface="Arial"/>
              </a:rPr>
              <a:t>theo</a:t>
            </a:r>
            <a:r>
              <a:rPr sz="1500" b="0" i="0" dirty="0">
                <a:solidFill>
                  <a:srgbClr val="474F67"/>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sẽ</a:t>
            </a:r>
            <a:r>
              <a:rPr lang="en-US" sz="1500" b="0" i="0" dirty="0">
                <a:solidFill>
                  <a:srgbClr val="474F67"/>
                </a:solidFill>
                <a:latin typeface="Arial"/>
              </a:rPr>
              <a:t> </a:t>
            </a:r>
            <a:r>
              <a:rPr lang="en-US" sz="1500" b="0" i="0" dirty="0" err="1">
                <a:solidFill>
                  <a:srgbClr val="474F67"/>
                </a:solidFill>
                <a:latin typeface="Arial"/>
              </a:rPr>
              <a:t>bị</a:t>
            </a:r>
            <a:r>
              <a:rPr lang="en-US" sz="1500" b="0" i="0" dirty="0">
                <a:solidFill>
                  <a:srgbClr val="474F67"/>
                </a:solidFill>
                <a:latin typeface="Arial"/>
              </a:rPr>
              <a:t> overfitting</a:t>
            </a:r>
            <a:r>
              <a:rPr lang="en-US" sz="1500" dirty="0">
                <a:solidFill>
                  <a:srgbClr val="474F67"/>
                </a:solidFill>
                <a:latin typeface="Arial"/>
              </a:rPr>
              <a:t>.</a:t>
            </a:r>
            <a:endParaRPr sz="1500" b="0" i="0" dirty="0">
              <a:solidFill>
                <a:srgbClr val="474F67"/>
              </a:solidFill>
              <a:latin typeface="Arial"/>
            </a:endParaRPr>
          </a:p>
          <a:p>
            <a:pPr marL="256032" indent="-201168" algn="l">
              <a:spcAft>
                <a:spcPts val="700"/>
              </a:spcAft>
              <a:buChar char="•"/>
            </a:pPr>
            <a:r>
              <a:rPr sz="1500" b="1" i="0" dirty="0" err="1">
                <a:solidFill>
                  <a:srgbClr val="1D2939"/>
                </a:solidFill>
                <a:latin typeface="Arial"/>
              </a:rPr>
              <a:t>Bỏ</a:t>
            </a:r>
            <a:r>
              <a:rPr sz="1500" b="1" i="0" dirty="0">
                <a:solidFill>
                  <a:srgbClr val="1D2939"/>
                </a:solidFill>
                <a:latin typeface="Arial"/>
              </a:rPr>
              <a:t> </a:t>
            </a:r>
            <a:r>
              <a:rPr sz="1500" b="1" i="0" dirty="0" err="1">
                <a:solidFill>
                  <a:srgbClr val="1D2939"/>
                </a:solidFill>
                <a:latin typeface="Arial"/>
              </a:rPr>
              <a:t>ảnh</a:t>
            </a:r>
            <a:r>
              <a:rPr sz="1500" b="1" i="0" dirty="0">
                <a:solidFill>
                  <a:srgbClr val="1D2939"/>
                </a:solidFill>
                <a:latin typeface="Arial"/>
              </a:rPr>
              <a:t> </a:t>
            </a:r>
            <a:r>
              <a:rPr sz="1500" b="1" i="0" dirty="0" err="1">
                <a:solidFill>
                  <a:srgbClr val="1D2939"/>
                </a:solidFill>
                <a:latin typeface="Arial"/>
              </a:rPr>
              <a:t>trùng</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trùng</a:t>
            </a:r>
            <a:r>
              <a:rPr sz="1500" b="0" i="0" dirty="0">
                <a:solidFill>
                  <a:srgbClr val="474F67"/>
                </a:solidFill>
                <a:latin typeface="Arial"/>
              </a:rPr>
              <a:t> </a:t>
            </a:r>
            <a:r>
              <a:rPr sz="1500" b="0" i="0" dirty="0" err="1">
                <a:solidFill>
                  <a:srgbClr val="474F67"/>
                </a:solidFill>
                <a:latin typeface="Arial"/>
              </a:rPr>
              <a:t>làm</a:t>
            </a:r>
            <a:r>
              <a:rPr sz="1500" b="0" i="0" dirty="0">
                <a:solidFill>
                  <a:srgbClr val="474F67"/>
                </a:solidFill>
                <a:latin typeface="Arial"/>
              </a:rPr>
              <a:t> </a:t>
            </a: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giá</a:t>
            </a:r>
            <a:r>
              <a:rPr sz="1500" b="0" i="0" dirty="0">
                <a:solidFill>
                  <a:srgbClr val="474F67"/>
                </a:solidFill>
                <a:latin typeface="Arial"/>
              </a:rPr>
              <a:t> </a:t>
            </a:r>
            <a:r>
              <a:rPr sz="1500" b="0" i="0" dirty="0" err="1">
                <a:solidFill>
                  <a:srgbClr val="474F67"/>
                </a:solidFill>
                <a:latin typeface="Arial"/>
              </a:rPr>
              <a:t>lạc</a:t>
            </a:r>
            <a:r>
              <a:rPr sz="1500" b="0" i="0" dirty="0">
                <a:solidFill>
                  <a:srgbClr val="474F67"/>
                </a:solidFill>
                <a:latin typeface="Arial"/>
              </a:rPr>
              <a:t> </a:t>
            </a:r>
            <a:r>
              <a:rPr sz="1500" b="0" i="0" dirty="0" err="1">
                <a:solidFill>
                  <a:srgbClr val="474F67"/>
                </a:solidFill>
                <a:latin typeface="Arial"/>
              </a:rPr>
              <a:t>quan</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train </a:t>
            </a:r>
            <a:r>
              <a:rPr sz="1500" b="0" i="0" dirty="0" err="1">
                <a:solidFill>
                  <a:srgbClr val="474F67"/>
                </a:solidFill>
                <a:latin typeface="Arial"/>
              </a:rPr>
              <a:t>chậm</a:t>
            </a:r>
            <a:r>
              <a:rPr sz="1500" b="0" i="0" dirty="0">
                <a:solidFill>
                  <a:srgbClr val="474F67"/>
                </a:solidFill>
                <a:latin typeface="Arial"/>
              </a:rPr>
              <a:t> </a:t>
            </a:r>
            <a:r>
              <a:rPr sz="1500" b="0" i="0" dirty="0" err="1">
                <a:solidFill>
                  <a:srgbClr val="474F67"/>
                </a:solidFill>
                <a:latin typeface="Arial"/>
              </a:rPr>
              <a:t>hơn</a:t>
            </a:r>
            <a:r>
              <a:rPr sz="1500" b="0" i="0" dirty="0">
                <a:solidFill>
                  <a:srgbClr val="474F67"/>
                </a:solidFill>
                <a:latin typeface="Arial"/>
              </a:rPr>
              <a:t> </a:t>
            </a:r>
            <a:r>
              <a:rPr sz="1500" b="0" i="0" dirty="0" err="1">
                <a:solidFill>
                  <a:srgbClr val="474F67"/>
                </a:solidFill>
                <a:latin typeface="Arial"/>
              </a:rPr>
              <a:t>mà</a:t>
            </a:r>
            <a:r>
              <a:rPr sz="1500" b="0" i="0" dirty="0">
                <a:solidFill>
                  <a:srgbClr val="474F67"/>
                </a:solidFill>
                <a:latin typeface="Arial"/>
              </a:rPr>
              <a:t> </a:t>
            </a:r>
            <a:r>
              <a:rPr sz="1500" b="0" i="0" dirty="0" err="1">
                <a:solidFill>
                  <a:srgbClr val="474F67"/>
                </a:solidFill>
                <a:latin typeface="Arial"/>
              </a:rPr>
              <a:t>không</a:t>
            </a:r>
            <a:r>
              <a:rPr sz="1500" b="0" i="0" dirty="0">
                <a:solidFill>
                  <a:srgbClr val="474F67"/>
                </a:solidFill>
                <a:latin typeface="Arial"/>
              </a:rPr>
              <a:t> </a:t>
            </a:r>
            <a:r>
              <a:rPr sz="1500" b="0" i="0" dirty="0" err="1">
                <a:solidFill>
                  <a:srgbClr val="474F67"/>
                </a:solidFill>
                <a:latin typeface="Arial"/>
              </a:rPr>
              <a:t>thêm</a:t>
            </a:r>
            <a:r>
              <a:rPr sz="1500" b="0" i="0" dirty="0">
                <a:solidFill>
                  <a:srgbClr val="474F67"/>
                </a:solidFill>
                <a:latin typeface="Arial"/>
              </a:rPr>
              <a:t> </a:t>
            </a:r>
            <a:r>
              <a:rPr sz="1500" b="0" i="0" dirty="0" err="1">
                <a:solidFill>
                  <a:srgbClr val="474F67"/>
                </a:solidFill>
                <a:latin typeface="Arial"/>
              </a:rPr>
              <a:t>thông</a:t>
            </a:r>
            <a:r>
              <a:rPr sz="1500" b="0" i="0" dirty="0">
                <a:solidFill>
                  <a:srgbClr val="474F67"/>
                </a:solidFill>
                <a:latin typeface="Arial"/>
              </a:rPr>
              <a:t> tin.</a:t>
            </a:r>
          </a:p>
          <a:p>
            <a:pPr marL="256032" indent="-201168" algn="l">
              <a:spcAft>
                <a:spcPts val="700"/>
              </a:spcAft>
              <a:buChar char="•"/>
            </a:pPr>
            <a:r>
              <a:rPr sz="1500" b="1" i="0" dirty="0">
                <a:solidFill>
                  <a:srgbClr val="1D2939"/>
                </a:solidFill>
                <a:latin typeface="Arial"/>
              </a:rPr>
              <a:t>Augmentation: </a:t>
            </a:r>
            <a:r>
              <a:rPr sz="1500" b="0" i="0" dirty="0" err="1">
                <a:solidFill>
                  <a:srgbClr val="474F67"/>
                </a:solidFill>
                <a:latin typeface="Arial"/>
              </a:rPr>
              <a:t>cắt</a:t>
            </a:r>
            <a:r>
              <a:rPr sz="1500" b="0" i="0" dirty="0">
                <a:solidFill>
                  <a:srgbClr val="474F67"/>
                </a:solidFill>
                <a:latin typeface="Arial"/>
              </a:rPr>
              <a:t> </a:t>
            </a:r>
            <a:r>
              <a:rPr sz="1500" b="0" i="0" dirty="0" err="1">
                <a:solidFill>
                  <a:srgbClr val="474F67"/>
                </a:solidFill>
                <a:latin typeface="Arial"/>
              </a:rPr>
              <a:t>ngẫu</a:t>
            </a:r>
            <a:r>
              <a:rPr sz="1500" b="0" i="0" dirty="0">
                <a:solidFill>
                  <a:srgbClr val="474F67"/>
                </a:solidFill>
                <a:latin typeface="Arial"/>
              </a:rPr>
              <a:t> </a:t>
            </a:r>
            <a:r>
              <a:rPr sz="1500" b="0" i="0" dirty="0" err="1">
                <a:solidFill>
                  <a:srgbClr val="474F67"/>
                </a:solidFill>
                <a:latin typeface="Arial"/>
              </a:rPr>
              <a:t>nhiên</a:t>
            </a:r>
            <a:r>
              <a:rPr sz="1500" b="0" i="0" dirty="0">
                <a:solidFill>
                  <a:srgbClr val="474F67"/>
                </a:solidFill>
                <a:latin typeface="Arial"/>
              </a:rPr>
              <a:t>, </a:t>
            </a:r>
            <a:r>
              <a:rPr sz="1500" b="0" i="0" dirty="0" err="1">
                <a:solidFill>
                  <a:srgbClr val="474F67"/>
                </a:solidFill>
                <a:latin typeface="Arial"/>
              </a:rPr>
              <a:t>xoay</a:t>
            </a:r>
            <a:r>
              <a:rPr sz="1500" b="0" i="0" dirty="0">
                <a:solidFill>
                  <a:srgbClr val="474F67"/>
                </a:solidFill>
                <a:latin typeface="Arial"/>
              </a:rPr>
              <a:t> ±8°, </a:t>
            </a:r>
            <a:r>
              <a:rPr sz="1500" b="0" i="0" dirty="0" err="1">
                <a:solidFill>
                  <a:srgbClr val="474F67"/>
                </a:solidFill>
                <a:latin typeface="Arial"/>
              </a:rPr>
              <a:t>đổi</a:t>
            </a:r>
            <a:r>
              <a:rPr sz="1500" b="0" i="0" dirty="0">
                <a:solidFill>
                  <a:srgbClr val="474F67"/>
                </a:solidFill>
                <a:latin typeface="Arial"/>
              </a:rPr>
              <a:t> </a:t>
            </a:r>
            <a:r>
              <a:rPr sz="1500" b="0" i="0" dirty="0" err="1">
                <a:solidFill>
                  <a:srgbClr val="474F67"/>
                </a:solidFill>
                <a:latin typeface="Arial"/>
              </a:rPr>
              <a:t>sáng</a:t>
            </a:r>
            <a:r>
              <a:rPr sz="1500" b="0" i="0" dirty="0">
                <a:solidFill>
                  <a:srgbClr val="474F67"/>
                </a:solidFill>
                <a:latin typeface="Arial"/>
              </a:rPr>
              <a:t>/</a:t>
            </a:r>
            <a:r>
              <a:rPr sz="1500" b="0" i="0" dirty="0" err="1">
                <a:solidFill>
                  <a:srgbClr val="474F67"/>
                </a:solidFill>
                <a:latin typeface="Arial"/>
              </a:rPr>
              <a:t>màu</a:t>
            </a:r>
            <a:r>
              <a:rPr lang="vi-VN" sz="1500" b="0" i="0" dirty="0">
                <a:solidFill>
                  <a:srgbClr val="474F67"/>
                </a:solidFill>
                <a:latin typeface="Arial"/>
              </a:rPr>
              <a:t>. </a:t>
            </a:r>
            <a:endParaRPr sz="1500" b="0" i="0" dirty="0">
              <a:solidFill>
                <a:srgbClr val="474F67"/>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a:solidFill>
                  <a:srgbClr val="FFFFFF"/>
                </a:solidFill>
                <a:latin typeface="Arial"/>
              </a:rPr>
              <a:t>Giao </a:t>
            </a:r>
            <a:r>
              <a:rPr sz="2400" b="1" dirty="0" err="1">
                <a:solidFill>
                  <a:srgbClr val="FFFFFF"/>
                </a:solidFill>
                <a:latin typeface="Arial"/>
              </a:rPr>
              <a:t>thức</a:t>
            </a:r>
            <a:r>
              <a:rPr sz="2400" b="1" dirty="0">
                <a:solidFill>
                  <a:srgbClr val="FFFFFF"/>
                </a:solidFill>
                <a:latin typeface="Arial"/>
              </a:rPr>
              <a:t> </a:t>
            </a:r>
            <a:r>
              <a:rPr sz="2400" b="1" dirty="0" err="1">
                <a:solidFill>
                  <a:srgbClr val="FFFFFF"/>
                </a:solidFill>
                <a:latin typeface="Arial"/>
              </a:rPr>
              <a:t>thí</a:t>
            </a:r>
            <a:r>
              <a:rPr sz="2400" b="1" dirty="0">
                <a:solidFill>
                  <a:srgbClr val="FFFFFF"/>
                </a:solidFill>
                <a:latin typeface="Arial"/>
              </a:rPr>
              <a:t> </a:t>
            </a:r>
            <a:r>
              <a:rPr sz="2400" b="1" dirty="0" err="1">
                <a:solidFill>
                  <a:srgbClr val="FFFFFF"/>
                </a:solidFill>
                <a:latin typeface="Arial"/>
              </a:rPr>
              <a:t>nghiệm</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5</a:t>
            </a:fld>
            <a:endParaRPr lang="en-US"/>
          </a:p>
        </p:txBody>
      </p:sp>
      <p:graphicFrame>
        <p:nvGraphicFramePr>
          <p:cNvPr id="7" name="Table 6"/>
          <p:cNvGraphicFramePr>
            <a:graphicFrameLocks noGrp="1"/>
          </p:cNvGraphicFramePr>
          <p:nvPr/>
        </p:nvGraphicFramePr>
        <p:xfrm>
          <a:off x="576072" y="960120"/>
          <a:ext cx="6766560" cy="438912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548640">
                <a:tc>
                  <a:txBody>
                    <a:bodyPr/>
                    <a:lstStyle/>
                    <a:p>
                      <a:pPr algn="l"/>
                      <a:r>
                        <a:rPr sz="1600" b="1">
                          <a:solidFill>
                            <a:srgbClr val="FFFFFF"/>
                          </a:solidFill>
                          <a:latin typeface="Arial"/>
                        </a:rPr>
                        <a:t>Thành phần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600" b="1">
                          <a:solidFill>
                            <a:srgbClr val="FFFFFF"/>
                          </a:solidFill>
                          <a:latin typeface="Arial"/>
                        </a:rPr>
                        <a:t>Cấu hình cố định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Khởi tạo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Pretrained ImageNet, fine-tune </a:t>
                      </a:r>
                      <a:r>
                        <a:rPr sz="1600" b="0" dirty="0" err="1">
                          <a:solidFill>
                            <a:srgbClr val="1D2939"/>
                          </a:solidFill>
                          <a:latin typeface="Arial"/>
                        </a:rPr>
                        <a:t>toàn</a:t>
                      </a:r>
                      <a:r>
                        <a:rPr sz="1600" b="0" dirty="0">
                          <a:solidFill>
                            <a:srgbClr val="1D2939"/>
                          </a:solidFill>
                          <a:latin typeface="Arial"/>
                        </a:rPr>
                        <a:t> </a:t>
                      </a:r>
                      <a:r>
                        <a:rPr sz="1600" b="0" dirty="0" err="1">
                          <a:solidFill>
                            <a:srgbClr val="1D2939"/>
                          </a:solidFill>
                          <a:latin typeface="Arial"/>
                        </a:rPr>
                        <a:t>bộ</a:t>
                      </a:r>
                      <a:endParaRPr sz="1600" b="0"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Optimizer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err="1">
                          <a:solidFill>
                            <a:srgbClr val="1D2939"/>
                          </a:solidFill>
                          <a:latin typeface="Arial"/>
                        </a:rPr>
                        <a:t>AdamW</a:t>
                      </a:r>
                      <a:r>
                        <a:rPr sz="1600" b="0" dirty="0">
                          <a:solidFill>
                            <a:srgbClr val="1D2939"/>
                          </a:solidFill>
                          <a:latin typeface="Arial"/>
                        </a:rPr>
                        <a:t>, </a:t>
                      </a:r>
                      <a:r>
                        <a:rPr sz="1600" b="0" dirty="0" err="1">
                          <a:solidFill>
                            <a:srgbClr val="1D2939"/>
                          </a:solidFill>
                          <a:latin typeface="Arial"/>
                        </a:rPr>
                        <a:t>lr</a:t>
                      </a:r>
                      <a:r>
                        <a:rPr sz="1600" b="0" dirty="0">
                          <a:solidFill>
                            <a:srgbClr val="1D2939"/>
                          </a:solidFill>
                          <a:latin typeface="Arial"/>
                        </a:rPr>
                        <a:t> 1e-3, weight decay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dirty="0" err="1">
                          <a:solidFill>
                            <a:srgbClr val="1D2939"/>
                          </a:solidFill>
                          <a:latin typeface="Arial"/>
                        </a:rPr>
                        <a:t>Lịch</a:t>
                      </a:r>
                      <a:r>
                        <a:rPr sz="1600" b="1" dirty="0">
                          <a:solidFill>
                            <a:srgbClr val="1D2939"/>
                          </a:solidFill>
                          <a:latin typeface="Arial"/>
                        </a:rPr>
                        <a:t> </a:t>
                      </a:r>
                      <a:r>
                        <a:rPr sz="1600" b="1" dirty="0" err="1">
                          <a:solidFill>
                            <a:srgbClr val="1D2939"/>
                          </a:solidFill>
                          <a:latin typeface="Arial"/>
                        </a:rPr>
                        <a:t>học</a:t>
                      </a:r>
                      <a:endParaRPr sz="1600" b="1"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Cosine annealing, 10 epoch, batch 64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Hàm mất mát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a:solidFill>
                            <a:srgbClr val="1D2939"/>
                          </a:solidFill>
                          <a:latin typeface="Arial"/>
                        </a:rPr>
                        <a:t>Cross-entropy, label smoothing 0,1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r h="548640">
                <a:tc>
                  <a:txBody>
                    <a:bodyPr/>
                    <a:lstStyle/>
                    <a:p>
                      <a:pPr algn="l"/>
                      <a:r>
                        <a:rPr sz="1600" b="1">
                          <a:solidFill>
                            <a:srgbClr val="1D2939"/>
                          </a:solidFill>
                          <a:latin typeface="Arial"/>
                        </a:rPr>
                        <a:t>Ảnh vào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224×224, augmentation (</a:t>
                      </a:r>
                      <a:r>
                        <a:rPr sz="1600" b="0" dirty="0" err="1">
                          <a:solidFill>
                            <a:srgbClr val="1D2939"/>
                          </a:solidFill>
                          <a:latin typeface="Arial"/>
                        </a:rPr>
                        <a:t>không</a:t>
                      </a:r>
                      <a:r>
                        <a:rPr sz="1600" b="0" dirty="0">
                          <a:solidFill>
                            <a:srgbClr val="1D2939"/>
                          </a:solidFill>
                          <a:latin typeface="Arial"/>
                        </a:rPr>
                        <a:t> </a:t>
                      </a:r>
                      <a:r>
                        <a:rPr sz="1600" b="0" dirty="0" err="1">
                          <a:solidFill>
                            <a:srgbClr val="1D2939"/>
                          </a:solidFill>
                          <a:latin typeface="Arial"/>
                        </a:rPr>
                        <a:t>lật</a:t>
                      </a:r>
                      <a:r>
                        <a:rPr sz="1600" b="0" dirty="0">
                          <a:solidFill>
                            <a:srgbClr val="1D2939"/>
                          </a:solidFill>
                          <a:latin typeface="Arial"/>
                        </a:rPr>
                        <a:t> </a:t>
                      </a:r>
                      <a:r>
                        <a:rPr sz="1600" b="0" dirty="0" err="1">
                          <a:solidFill>
                            <a:srgbClr val="1D2939"/>
                          </a:solidFill>
                          <a:latin typeface="Arial"/>
                        </a:rPr>
                        <a:t>ngang</a:t>
                      </a:r>
                      <a:r>
                        <a:rPr sz="1600" b="0" dirty="0">
                          <a:solidFill>
                            <a:srgbClr val="1D2939"/>
                          </a:solidFill>
                          <a:latin typeface="Arial"/>
                        </a:rPr>
                        <a: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D2939"/>
                          </a:solidFill>
                          <a:latin typeface="Arial"/>
                        </a:rPr>
                        <a:t>Chọn checkpoint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a:solidFill>
                            <a:srgbClr val="1D2939"/>
                          </a:solidFill>
                          <a:latin typeface="Arial"/>
                        </a:rPr>
                        <a:t>Epoch có val macro-F1 cao nhất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6"/>
                  </a:ext>
                </a:extLst>
              </a:tr>
              <a:tr h="548640">
                <a:tc>
                  <a:txBody>
                    <a:bodyPr/>
                    <a:lstStyle/>
                    <a:p>
                      <a:pPr algn="l"/>
                      <a:r>
                        <a:rPr sz="1600" b="1">
                          <a:solidFill>
                            <a:srgbClr val="1D2939"/>
                          </a:solidFill>
                          <a:latin typeface="Arial"/>
                        </a:rPr>
                        <a:t>Đánh giá</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Test </a:t>
                      </a:r>
                      <a:r>
                        <a:rPr sz="1600" b="0" dirty="0" err="1">
                          <a:solidFill>
                            <a:srgbClr val="1D2939"/>
                          </a:solidFill>
                          <a:latin typeface="Arial"/>
                        </a:rPr>
                        <a:t>báo</a:t>
                      </a:r>
                      <a:r>
                        <a:rPr sz="1600" b="0" dirty="0">
                          <a:solidFill>
                            <a:srgbClr val="1D2939"/>
                          </a:solidFill>
                          <a:latin typeface="Arial"/>
                        </a:rPr>
                        <a:t> </a:t>
                      </a:r>
                      <a:r>
                        <a:rPr sz="1600" b="0" dirty="0" err="1">
                          <a:solidFill>
                            <a:srgbClr val="1D2939"/>
                          </a:solidFill>
                          <a:latin typeface="Arial"/>
                        </a:rPr>
                        <a:t>cáo</a:t>
                      </a:r>
                      <a:r>
                        <a:rPr sz="1600" b="0" dirty="0">
                          <a:solidFill>
                            <a:srgbClr val="1D2939"/>
                          </a:solidFill>
                          <a:latin typeface="Arial"/>
                        </a:rPr>
                        <a:t> </a:t>
                      </a:r>
                      <a:r>
                        <a:rPr sz="1600" b="0" dirty="0" err="1">
                          <a:solidFill>
                            <a:srgbClr val="1D2939"/>
                          </a:solidFill>
                          <a:latin typeface="Arial"/>
                        </a:rPr>
                        <a:t>một</a:t>
                      </a:r>
                      <a:r>
                        <a:rPr sz="1600" b="0" dirty="0">
                          <a:solidFill>
                            <a:srgbClr val="1D2939"/>
                          </a:solidFill>
                          <a:latin typeface="Arial"/>
                        </a:rPr>
                        <a:t> </a:t>
                      </a:r>
                      <a:r>
                        <a:rPr sz="1600" b="0" dirty="0" err="1">
                          <a:solidFill>
                            <a:srgbClr val="1D2939"/>
                          </a:solidFill>
                          <a:latin typeface="Arial"/>
                        </a:rPr>
                        <a:t>lần</a:t>
                      </a:r>
                      <a:r>
                        <a:rPr sz="1600" b="0" dirty="0">
                          <a:solidFill>
                            <a:srgbClr val="1D2939"/>
                          </a:solidFill>
                          <a:latin typeface="Arial"/>
                        </a:rPr>
                        <a:t>, seed 42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7680960" y="960120"/>
            <a:ext cx="3959352" cy="4389120"/>
          </a:xfrm>
          <a:prstGeom prst="roundRect">
            <a:avLst>
              <a:gd name="adj" fmla="val 8083"/>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16952" y="1115568"/>
            <a:ext cx="91440" cy="40782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1097280"/>
            <a:ext cx="3611880" cy="4114800"/>
          </a:xfrm>
          <a:prstGeom prst="rect">
            <a:avLst/>
          </a:prstGeom>
          <a:noFill/>
        </p:spPr>
        <p:txBody>
          <a:bodyPr wrap="square" lIns="0" tIns="0" rIns="0" bIns="0" anchor="t">
            <a:spAutoFit/>
          </a:bodyPr>
          <a:lstStyle/>
          <a:p>
            <a:pPr algn="l">
              <a:spcAft>
                <a:spcPts val="1000"/>
              </a:spcAft>
            </a:pPr>
            <a:r>
              <a:rPr sz="1800" b="1" i="0" dirty="0" err="1">
                <a:solidFill>
                  <a:srgbClr val="1D2939"/>
                </a:solidFill>
                <a:latin typeface="Arial"/>
              </a:rPr>
              <a:t>Thước</a:t>
            </a:r>
            <a:r>
              <a:rPr sz="1800" b="1" i="0" dirty="0">
                <a:solidFill>
                  <a:srgbClr val="1D2939"/>
                </a:solidFill>
                <a:latin typeface="Arial"/>
              </a:rPr>
              <a:t> </a:t>
            </a:r>
            <a:r>
              <a:rPr sz="1800" b="1" i="0" dirty="0" err="1">
                <a:solidFill>
                  <a:srgbClr val="1D2939"/>
                </a:solidFill>
                <a:latin typeface="Arial"/>
              </a:rPr>
              <a:t>đo</a:t>
            </a:r>
            <a:r>
              <a:rPr sz="1800" b="1" i="0" dirty="0">
                <a:solidFill>
                  <a:srgbClr val="1D2939"/>
                </a:solidFill>
                <a:latin typeface="Arial"/>
              </a:rPr>
              <a:t> </a:t>
            </a:r>
            <a:r>
              <a:rPr sz="1800" b="1" i="0" dirty="0" err="1">
                <a:solidFill>
                  <a:srgbClr val="1D2939"/>
                </a:solidFill>
                <a:latin typeface="Arial"/>
              </a:rPr>
              <a:t>chính</a:t>
            </a:r>
            <a:r>
              <a:rPr sz="1800" b="1" i="0" dirty="0">
                <a:solidFill>
                  <a:srgbClr val="1D2939"/>
                </a:solidFill>
                <a:latin typeface="Arial"/>
              </a:rPr>
              <a:t>: macro-F1</a:t>
            </a:r>
          </a:p>
          <a:p>
            <a:pPr algn="l">
              <a:spcAft>
                <a:spcPts val="1000"/>
              </a:spcAft>
            </a:pPr>
            <a:r>
              <a:rPr sz="1500" b="0" i="0" dirty="0">
                <a:solidFill>
                  <a:srgbClr val="474F67"/>
                </a:solidFill>
                <a:latin typeface="Arial"/>
              </a:rPr>
              <a:t>Trung </a:t>
            </a:r>
            <a:r>
              <a:rPr sz="1500" b="0" i="0" dirty="0" err="1">
                <a:solidFill>
                  <a:srgbClr val="474F67"/>
                </a:solidFill>
                <a:latin typeface="Arial"/>
              </a:rPr>
              <a:t>bình</a:t>
            </a:r>
            <a:r>
              <a:rPr sz="1500" b="0" i="0" dirty="0">
                <a:solidFill>
                  <a:srgbClr val="474F67"/>
                </a:solidFill>
                <a:latin typeface="Arial"/>
              </a:rPr>
              <a:t> F1 </a:t>
            </a:r>
            <a:r>
              <a:rPr sz="1500" b="0" i="0" dirty="0" err="1">
                <a:solidFill>
                  <a:srgbClr val="474F67"/>
                </a:solidFill>
                <a:latin typeface="Arial"/>
              </a:rPr>
              <a:t>của</a:t>
            </a:r>
            <a:r>
              <a:rPr sz="1500" b="0" i="0" dirty="0">
                <a:solidFill>
                  <a:srgbClr val="474F67"/>
                </a:solidFill>
                <a:latin typeface="Arial"/>
              </a:rPr>
              <a:t> 6 </a:t>
            </a:r>
            <a:r>
              <a:rPr sz="1500" b="0" i="0" dirty="0" err="1">
                <a:solidFill>
                  <a:srgbClr val="474F67"/>
                </a:solidFill>
                <a:latin typeface="Arial"/>
              </a:rPr>
              <a:t>lớp</a:t>
            </a:r>
            <a:r>
              <a:rPr sz="1500" b="0" i="0" dirty="0">
                <a:solidFill>
                  <a:srgbClr val="474F67"/>
                </a:solidFill>
                <a:latin typeface="Arial"/>
              </a:rPr>
              <a:t>, </a:t>
            </a:r>
            <a:r>
              <a:rPr sz="1500" b="0" i="0" dirty="0" err="1">
                <a:solidFill>
                  <a:srgbClr val="474F67"/>
                </a:solidFill>
                <a:latin typeface="Arial"/>
              </a:rPr>
              <a:t>mỗi</a:t>
            </a:r>
            <a:r>
              <a:rPr sz="1500" b="0" i="0" dirty="0">
                <a:solidFill>
                  <a:srgbClr val="474F67"/>
                </a:solidFill>
                <a:latin typeface="Arial"/>
              </a:rPr>
              <a:t> </a:t>
            </a:r>
            <a:r>
              <a:rPr sz="1500" b="0" i="0" dirty="0" err="1">
                <a:solidFill>
                  <a:srgbClr val="474F67"/>
                </a:solidFill>
                <a:latin typeface="Arial"/>
              </a:rPr>
              <a:t>lớp</a:t>
            </a:r>
            <a:r>
              <a:rPr sz="1500" b="0" i="0" dirty="0">
                <a:solidFill>
                  <a:srgbClr val="474F67"/>
                </a:solidFill>
                <a:latin typeface="Arial"/>
              </a:rPr>
              <a:t> </a:t>
            </a:r>
            <a:r>
              <a:rPr sz="1500" b="0" i="0" dirty="0" err="1">
                <a:solidFill>
                  <a:srgbClr val="474F67"/>
                </a:solidFill>
                <a:latin typeface="Arial"/>
              </a:rPr>
              <a:t>nặng</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Accuracy </a:t>
            </a:r>
            <a:r>
              <a:rPr sz="1500" b="0" i="0" dirty="0" err="1">
                <a:solidFill>
                  <a:srgbClr val="474F67"/>
                </a:solidFill>
                <a:latin typeface="Arial"/>
              </a:rPr>
              <a:t>dễ</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lừa</a:t>
            </a:r>
            <a:r>
              <a:rPr sz="1500" b="0" i="0" dirty="0">
                <a:solidFill>
                  <a:srgbClr val="474F67"/>
                </a:solidFill>
                <a:latin typeface="Arial"/>
              </a:rPr>
              <a:t> </a:t>
            </a:r>
            <a:r>
              <a:rPr sz="1500" b="0" i="0" dirty="0" err="1">
                <a:solidFill>
                  <a:srgbClr val="474F67"/>
                </a:solidFill>
                <a:latin typeface="Arial"/>
              </a:rPr>
              <a:t>vì</a:t>
            </a:r>
            <a:r>
              <a:rPr sz="1500" b="0" i="0" dirty="0">
                <a:solidFill>
                  <a:srgbClr val="474F67"/>
                </a:solidFill>
                <a:latin typeface="Arial"/>
              </a:rPr>
              <a:t> </a:t>
            </a:r>
            <a:r>
              <a:rPr sz="1500" b="0" i="0" dirty="0" err="1">
                <a:solidFill>
                  <a:srgbClr val="474F67"/>
                </a:solidFill>
                <a:latin typeface="Arial"/>
              </a:rPr>
              <a:t>lớp</a:t>
            </a:r>
            <a:r>
              <a:rPr sz="1500" b="0" i="0" dirty="0">
                <a:solidFill>
                  <a:srgbClr val="474F67"/>
                </a:solidFill>
                <a:latin typeface="Arial"/>
              </a:rPr>
              <a:t> phone </a:t>
            </a:r>
            <a:r>
              <a:rPr sz="1500" b="0" i="0" dirty="0" err="1">
                <a:solidFill>
                  <a:srgbClr val="474F67"/>
                </a:solidFill>
                <a:latin typeface="Arial"/>
              </a:rPr>
              <a:t>chiếm</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40%.</a:t>
            </a:r>
          </a:p>
          <a:p>
            <a:pPr algn="l">
              <a:spcAft>
                <a:spcPts val="1000"/>
              </a:spcAft>
            </a:pPr>
            <a:r>
              <a:rPr sz="1500" b="1" i="0" dirty="0" err="1">
                <a:solidFill>
                  <a:srgbClr val="1D2939"/>
                </a:solidFill>
                <a:latin typeface="Arial"/>
              </a:rPr>
              <a:t>Mốc</a:t>
            </a:r>
            <a:r>
              <a:rPr sz="1500" b="1" i="0" dirty="0">
                <a:solidFill>
                  <a:srgbClr val="1D2939"/>
                </a:solidFill>
                <a:latin typeface="Arial"/>
              </a:rPr>
              <a:t> "</a:t>
            </a:r>
            <a:r>
              <a:rPr sz="1500" b="1" i="0" dirty="0" err="1">
                <a:solidFill>
                  <a:srgbClr val="1D2939"/>
                </a:solidFill>
                <a:latin typeface="Arial"/>
              </a:rPr>
              <a:t>luôn</a:t>
            </a:r>
            <a:r>
              <a:rPr sz="1500" b="1" i="0" dirty="0">
                <a:solidFill>
                  <a:srgbClr val="1D2939"/>
                </a:solidFill>
                <a:latin typeface="Arial"/>
              </a:rPr>
              <a:t> </a:t>
            </a:r>
            <a:r>
              <a:rPr sz="1500" b="1" i="0" dirty="0" err="1">
                <a:solidFill>
                  <a:srgbClr val="1D2939"/>
                </a:solidFill>
                <a:latin typeface="Arial"/>
              </a:rPr>
              <a:t>đoán</a:t>
            </a:r>
            <a:r>
              <a:rPr sz="1500" b="1" i="0" dirty="0">
                <a:solidFill>
                  <a:srgbClr val="1D2939"/>
                </a:solidFill>
                <a:latin typeface="Arial"/>
              </a:rPr>
              <a:t> phone" </a:t>
            </a:r>
            <a:r>
              <a:rPr sz="1500" b="1" i="0" dirty="0" err="1">
                <a:solidFill>
                  <a:srgbClr val="1D2939"/>
                </a:solidFill>
                <a:latin typeface="Arial"/>
              </a:rPr>
              <a:t>trên</a:t>
            </a:r>
            <a:r>
              <a:rPr sz="1500" b="1" i="0" dirty="0">
                <a:solidFill>
                  <a:srgbClr val="1D2939"/>
                </a:solidFill>
                <a:latin typeface="Arial"/>
              </a:rPr>
              <a:t> test:</a:t>
            </a:r>
          </a:p>
          <a:p>
            <a:pPr algn="l">
              <a:spcAft>
                <a:spcPts val="1000"/>
              </a:spcAft>
            </a:pPr>
            <a:r>
              <a:rPr sz="2400" b="1" i="0" dirty="0">
                <a:solidFill>
                  <a:srgbClr val="00A95C"/>
                </a:solidFill>
                <a:latin typeface="Arial"/>
              </a:rPr>
              <a:t>macro-F1 0,093</a:t>
            </a:r>
          </a:p>
          <a:p>
            <a:pPr algn="l">
              <a:spcAft>
                <a:spcPts val="1000"/>
              </a:spcAft>
            </a:pPr>
            <a:r>
              <a:rPr sz="1400" b="0" i="0" dirty="0">
                <a:solidFill>
                  <a:srgbClr val="474F67"/>
                </a:solidFill>
                <a:latin typeface="Arial"/>
              </a:rPr>
              <a:t>(accuracy </a:t>
            </a:r>
            <a:r>
              <a:rPr sz="1400" b="0" i="0" dirty="0" err="1">
                <a:solidFill>
                  <a:srgbClr val="474F67"/>
                </a:solidFill>
                <a:latin typeface="Arial"/>
              </a:rPr>
              <a:t>vẫn</a:t>
            </a:r>
            <a:r>
              <a:rPr sz="1400" b="0" i="0" dirty="0">
                <a:solidFill>
                  <a:srgbClr val="474F67"/>
                </a:solidFill>
                <a:latin typeface="Arial"/>
              </a:rPr>
              <a:t> </a:t>
            </a:r>
            <a:r>
              <a:rPr sz="1400" b="0" i="0" dirty="0" err="1">
                <a:solidFill>
                  <a:srgbClr val="474F67"/>
                </a:solidFill>
                <a:latin typeface="Arial"/>
              </a:rPr>
              <a:t>đạt</a:t>
            </a:r>
            <a:r>
              <a:rPr sz="1400" b="0" i="0" dirty="0">
                <a:solidFill>
                  <a:srgbClr val="474F67"/>
                </a:solidFill>
                <a:latin typeface="Arial"/>
              </a:rPr>
              <a:t> 0,387)</a:t>
            </a:r>
          </a:p>
          <a:p>
            <a:pPr algn="l">
              <a:spcAft>
                <a:spcPts val="1000"/>
              </a:spcAft>
            </a:pPr>
            <a:r>
              <a:rPr sz="1500" b="1" i="0" dirty="0" err="1">
                <a:solidFill>
                  <a:srgbClr val="1D2939"/>
                </a:solidFill>
                <a:latin typeface="Arial"/>
              </a:rPr>
              <a:t>Phần</a:t>
            </a:r>
            <a:r>
              <a:rPr sz="1500" b="1" i="0" dirty="0">
                <a:solidFill>
                  <a:srgbClr val="1D2939"/>
                </a:solidFill>
                <a:latin typeface="Arial"/>
              </a:rPr>
              <a:t> edge </a:t>
            </a:r>
            <a:r>
              <a:rPr sz="1500" b="1" i="0" dirty="0" err="1">
                <a:solidFill>
                  <a:srgbClr val="1D2939"/>
                </a:solidFill>
                <a:latin typeface="Arial"/>
              </a:rPr>
              <a:t>đo</a:t>
            </a:r>
            <a:r>
              <a:rPr sz="1500" b="1" i="0" dirty="0">
                <a:solidFill>
                  <a:srgbClr val="1D2939"/>
                </a:solidFill>
                <a:latin typeface="Arial"/>
              </a:rPr>
              <a:t> </a:t>
            </a:r>
            <a:r>
              <a:rPr sz="1500" b="1" i="0" dirty="0" err="1">
                <a:solidFill>
                  <a:srgbClr val="1D2939"/>
                </a:solidFill>
                <a:latin typeface="Arial"/>
              </a:rPr>
              <a:t>thêm</a:t>
            </a:r>
            <a:r>
              <a:rPr sz="1500" b="1" i="0" dirty="0">
                <a:solidFill>
                  <a:srgbClr val="1D2939"/>
                </a:solidFill>
                <a:latin typeface="Arial"/>
              </a:rPr>
              <a:t>: </a:t>
            </a:r>
            <a:r>
              <a:rPr sz="1500" b="0" i="0" dirty="0" err="1">
                <a:solidFill>
                  <a:srgbClr val="474F67"/>
                </a:solidFill>
                <a:latin typeface="Arial"/>
              </a:rPr>
              <a:t>số</a:t>
            </a:r>
            <a:r>
              <a:rPr sz="1500" b="0" i="0" dirty="0">
                <a:solidFill>
                  <a:srgbClr val="474F67"/>
                </a:solidFill>
                <a:latin typeface="Arial"/>
              </a:rPr>
              <a:t> </a:t>
            </a:r>
            <a:r>
              <a:rPr sz="1500" b="0" i="0" dirty="0" err="1">
                <a:solidFill>
                  <a:srgbClr val="474F67"/>
                </a:solidFill>
                <a:latin typeface="Arial"/>
              </a:rPr>
              <a:t>tham</a:t>
            </a:r>
            <a:r>
              <a:rPr sz="1500" b="0" i="0" dirty="0">
                <a:solidFill>
                  <a:srgbClr val="474F67"/>
                </a:solidFill>
                <a:latin typeface="Arial"/>
              </a:rPr>
              <a:t> </a:t>
            </a:r>
            <a:r>
              <a:rPr sz="1500" b="0" i="0" dirty="0" err="1">
                <a:solidFill>
                  <a:srgbClr val="474F67"/>
                </a:solidFill>
                <a:latin typeface="Arial"/>
              </a:rPr>
              <a:t>số</a:t>
            </a:r>
            <a:r>
              <a:rPr sz="1500" b="0" i="0" dirty="0">
                <a:solidFill>
                  <a:srgbClr val="474F67"/>
                </a:solidFill>
                <a:latin typeface="Arial"/>
              </a:rPr>
              <a:t>, MACs, </a:t>
            </a:r>
            <a:r>
              <a:rPr sz="1500" b="0" i="0" dirty="0" err="1">
                <a:solidFill>
                  <a:srgbClr val="474F67"/>
                </a:solidFill>
                <a:latin typeface="Arial"/>
              </a:rPr>
              <a:t>kích</a:t>
            </a:r>
            <a:r>
              <a:rPr sz="1500" b="0" i="0" dirty="0">
                <a:solidFill>
                  <a:srgbClr val="474F67"/>
                </a:solidFill>
                <a:latin typeface="Arial"/>
              </a:rPr>
              <a:t> </a:t>
            </a:r>
            <a:r>
              <a:rPr sz="1500" b="0" i="0" dirty="0" err="1">
                <a:solidFill>
                  <a:srgbClr val="474F67"/>
                </a:solidFill>
                <a:latin typeface="Arial"/>
              </a:rPr>
              <a:t>thước</a:t>
            </a:r>
            <a:r>
              <a:rPr sz="1500" b="0" i="0" dirty="0">
                <a:solidFill>
                  <a:srgbClr val="474F67"/>
                </a:solidFill>
                <a:latin typeface="Arial"/>
              </a:rPr>
              <a:t> MB, </a:t>
            </a:r>
            <a:r>
              <a:rPr sz="1500" b="0" i="0" dirty="0" err="1">
                <a:solidFill>
                  <a:srgbClr val="474F67"/>
                </a:solidFill>
                <a:latin typeface="Arial"/>
              </a:rPr>
              <a:t>độ</a:t>
            </a:r>
            <a:r>
              <a:rPr sz="1500" b="0" i="0" dirty="0">
                <a:solidFill>
                  <a:srgbClr val="474F67"/>
                </a:solidFill>
                <a:latin typeface="Arial"/>
              </a:rPr>
              <a:t> </a:t>
            </a:r>
            <a:r>
              <a:rPr sz="1500" b="0" i="0" dirty="0" err="1">
                <a:solidFill>
                  <a:srgbClr val="474F67"/>
                </a:solidFill>
                <a:latin typeface="Arial"/>
              </a:rPr>
              <a:t>trễ</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FPS, </a:t>
            </a:r>
            <a:r>
              <a:rPr sz="1500" b="0" i="0" dirty="0" err="1">
                <a:solidFill>
                  <a:srgbClr val="474F67"/>
                </a:solidFill>
                <a:latin typeface="Arial"/>
              </a:rPr>
              <a:t>trước</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a:t>
            </a:r>
            <a:r>
              <a:rPr sz="1500" b="0" i="0" dirty="0" err="1">
                <a:solidFill>
                  <a:srgbClr val="474F67"/>
                </a:solidFill>
                <a:latin typeface="Arial"/>
              </a:rPr>
              <a:t>sau</a:t>
            </a:r>
            <a:r>
              <a:rPr sz="1500" b="0" i="0" dirty="0">
                <a:solidFill>
                  <a:srgbClr val="474F67"/>
                </a:solidFill>
                <a:latin typeface="Arial"/>
              </a:rPr>
              <a:t> INT8.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Các mô hình so sánh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6</a:t>
            </a:fld>
            <a:endParaRPr lang="en-US"/>
          </a:p>
        </p:txBody>
      </p:sp>
      <p:sp>
        <p:nvSpPr>
          <p:cNvPr id="7" name="Rounded Rectangle 6"/>
          <p:cNvSpPr/>
          <p:nvPr/>
        </p:nvSpPr>
        <p:spPr>
          <a:xfrm>
            <a:off x="57607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MobileNetV3-Small</a:t>
            </a:r>
          </a:p>
        </p:txBody>
      </p:sp>
      <p:sp>
        <p:nvSpPr>
          <p:cNvPr id="10" name="Rounded Rectangle 9"/>
          <p:cNvSpPr/>
          <p:nvPr/>
        </p:nvSpPr>
        <p:spPr>
          <a:xfrm>
            <a:off x="80467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Ứng viên edge (mục tiêu)</a:t>
            </a:r>
          </a:p>
        </p:txBody>
      </p:sp>
      <p:sp>
        <p:nvSpPr>
          <p:cNvPr id="11" name="TextBox 10"/>
          <p:cNvSpPr txBox="1"/>
          <p:nvPr/>
        </p:nvSpPr>
        <p:spPr>
          <a:xfrm>
            <a:off x="80467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1,52 M</a:t>
            </a:r>
          </a:p>
        </p:txBody>
      </p:sp>
      <p:sp>
        <p:nvSpPr>
          <p:cNvPr id="12" name="TextBox 11"/>
          <p:cNvSpPr txBox="1"/>
          <p:nvPr/>
        </p:nvSpPr>
        <p:spPr>
          <a:xfrm>
            <a:off x="80467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13" name="TextBox 12"/>
          <p:cNvSpPr txBox="1"/>
          <p:nvPr/>
        </p:nvSpPr>
        <p:spPr>
          <a:xfrm>
            <a:off x="80467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55 M</a:t>
            </a:r>
          </a:p>
        </p:txBody>
      </p:sp>
      <p:sp>
        <p:nvSpPr>
          <p:cNvPr id="14" name="TextBox 13"/>
          <p:cNvSpPr txBox="1"/>
          <p:nvPr/>
        </p:nvSpPr>
        <p:spPr>
          <a:xfrm>
            <a:off x="80467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15" name="Rounded Rectangle 14"/>
          <p:cNvSpPr/>
          <p:nvPr/>
        </p:nvSpPr>
        <p:spPr>
          <a:xfrm>
            <a:off x="341071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4670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931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EfficientNet-Lite0</a:t>
            </a:r>
          </a:p>
        </p:txBody>
      </p:sp>
      <p:sp>
        <p:nvSpPr>
          <p:cNvPr id="18" name="Rounded Rectangle 17"/>
          <p:cNvSpPr/>
          <p:nvPr/>
        </p:nvSpPr>
        <p:spPr>
          <a:xfrm>
            <a:off x="363931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Ứng viên edge</a:t>
            </a:r>
          </a:p>
        </p:txBody>
      </p:sp>
      <p:sp>
        <p:nvSpPr>
          <p:cNvPr id="19" name="TextBox 18"/>
          <p:cNvSpPr txBox="1"/>
          <p:nvPr/>
        </p:nvSpPr>
        <p:spPr>
          <a:xfrm>
            <a:off x="363931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3,38 M</a:t>
            </a:r>
          </a:p>
        </p:txBody>
      </p:sp>
      <p:sp>
        <p:nvSpPr>
          <p:cNvPr id="20" name="TextBox 19"/>
          <p:cNvSpPr txBox="1"/>
          <p:nvPr/>
        </p:nvSpPr>
        <p:spPr>
          <a:xfrm>
            <a:off x="363931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1" name="TextBox 20"/>
          <p:cNvSpPr txBox="1"/>
          <p:nvPr/>
        </p:nvSpPr>
        <p:spPr>
          <a:xfrm>
            <a:off x="363931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384 M</a:t>
            </a:r>
          </a:p>
        </p:txBody>
      </p:sp>
      <p:sp>
        <p:nvSpPr>
          <p:cNvPr id="22" name="TextBox 21"/>
          <p:cNvSpPr txBox="1"/>
          <p:nvPr/>
        </p:nvSpPr>
        <p:spPr>
          <a:xfrm>
            <a:off x="363931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23" name="Rounded Rectangle 22"/>
          <p:cNvSpPr/>
          <p:nvPr/>
        </p:nvSpPr>
        <p:spPr>
          <a:xfrm>
            <a:off x="624535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81344" y="1115568"/>
            <a:ext cx="91440" cy="35295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ResNet18</a:t>
            </a:r>
          </a:p>
        </p:txBody>
      </p:sp>
      <p:sp>
        <p:nvSpPr>
          <p:cNvPr id="26" name="Rounded Rectangle 25"/>
          <p:cNvSpPr/>
          <p:nvPr/>
        </p:nvSpPr>
        <p:spPr>
          <a:xfrm>
            <a:off x="6473952" y="1627632"/>
            <a:ext cx="2148840" cy="347472"/>
          </a:xfrm>
          <a:prstGeom prst="roundRect">
            <a:avLst>
              <a:gd name="adj" fmla="val 50000"/>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Mốc nặng vừa</a:t>
            </a:r>
          </a:p>
        </p:txBody>
      </p:sp>
      <p:sp>
        <p:nvSpPr>
          <p:cNvPr id="27" name="TextBox 26"/>
          <p:cNvSpPr txBox="1"/>
          <p:nvPr/>
        </p:nvSpPr>
        <p:spPr>
          <a:xfrm>
            <a:off x="6473952" y="224028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11,18 M</a:t>
            </a:r>
          </a:p>
        </p:txBody>
      </p:sp>
      <p:sp>
        <p:nvSpPr>
          <p:cNvPr id="28" name="TextBox 27"/>
          <p:cNvSpPr txBox="1"/>
          <p:nvPr/>
        </p:nvSpPr>
        <p:spPr>
          <a:xfrm>
            <a:off x="647395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9" name="TextBox 28"/>
          <p:cNvSpPr txBox="1"/>
          <p:nvPr/>
        </p:nvSpPr>
        <p:spPr>
          <a:xfrm>
            <a:off x="6473952" y="329184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1,81 G</a:t>
            </a:r>
          </a:p>
        </p:txBody>
      </p:sp>
      <p:sp>
        <p:nvSpPr>
          <p:cNvPr id="30" name="TextBox 29"/>
          <p:cNvSpPr txBox="1"/>
          <p:nvPr/>
        </p:nvSpPr>
        <p:spPr>
          <a:xfrm>
            <a:off x="647395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
        <p:nvSpPr>
          <p:cNvPr id="31" name="Rounded Rectangle 30"/>
          <p:cNvSpPr/>
          <p:nvPr/>
        </p:nvSpPr>
        <p:spPr>
          <a:xfrm>
            <a:off x="907999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15984" y="1115568"/>
            <a:ext cx="91440" cy="35295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0859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ResNet50</a:t>
            </a:r>
          </a:p>
        </p:txBody>
      </p:sp>
      <p:sp>
        <p:nvSpPr>
          <p:cNvPr id="34" name="Rounded Rectangle 33"/>
          <p:cNvSpPr/>
          <p:nvPr/>
        </p:nvSpPr>
        <p:spPr>
          <a:xfrm>
            <a:off x="9308592" y="1627632"/>
            <a:ext cx="2148840" cy="347472"/>
          </a:xfrm>
          <a:prstGeom prst="roundRect">
            <a:avLst>
              <a:gd name="adj" fmla="val 50000"/>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rial"/>
              </a:rPr>
              <a:t>Mốc nặng</a:t>
            </a:r>
          </a:p>
        </p:txBody>
      </p:sp>
      <p:sp>
        <p:nvSpPr>
          <p:cNvPr id="35" name="TextBox 34"/>
          <p:cNvSpPr txBox="1"/>
          <p:nvPr/>
        </p:nvSpPr>
        <p:spPr>
          <a:xfrm>
            <a:off x="9308592" y="224028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23,52 M</a:t>
            </a:r>
          </a:p>
        </p:txBody>
      </p:sp>
      <p:sp>
        <p:nvSpPr>
          <p:cNvPr id="36" name="TextBox 35"/>
          <p:cNvSpPr txBox="1"/>
          <p:nvPr/>
        </p:nvSpPr>
        <p:spPr>
          <a:xfrm>
            <a:off x="930859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37" name="TextBox 36"/>
          <p:cNvSpPr txBox="1"/>
          <p:nvPr/>
        </p:nvSpPr>
        <p:spPr>
          <a:xfrm>
            <a:off x="9308592" y="329184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4,09 G</a:t>
            </a:r>
          </a:p>
        </p:txBody>
      </p:sp>
      <p:sp>
        <p:nvSpPr>
          <p:cNvPr id="38" name="TextBox 37"/>
          <p:cNvSpPr txBox="1"/>
          <p:nvPr/>
        </p:nvSpPr>
        <p:spPr>
          <a:xfrm>
            <a:off x="930859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
        <p:nvSpPr>
          <p:cNvPr id="39" name="TextBox 38"/>
          <p:cNvSpPr txBox="1"/>
          <p:nvPr/>
        </p:nvSpPr>
        <p:spPr>
          <a:xfrm>
            <a:off x="576072" y="5074920"/>
            <a:ext cx="11064240" cy="822960"/>
          </a:xfrm>
          <a:prstGeom prst="rect">
            <a:avLst/>
          </a:prstGeom>
          <a:noFill/>
        </p:spPr>
        <p:txBody>
          <a:bodyPr wrap="square" lIns="0" tIns="0" rIns="0" bIns="0" anchor="t">
            <a:spAutoFit/>
          </a:bodyPr>
          <a:lstStyle/>
          <a:p>
            <a:pPr algn="l">
              <a:spcAft>
                <a:spcPts val="600"/>
              </a:spcAft>
            </a:pP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giao</a:t>
            </a:r>
            <a:r>
              <a:rPr sz="1500" b="0" i="0" dirty="0">
                <a:solidFill>
                  <a:srgbClr val="474F67"/>
                </a:solidFill>
                <a:latin typeface="Arial"/>
              </a:rPr>
              <a:t> </a:t>
            </a:r>
            <a:r>
              <a:rPr sz="1500" b="0" i="0" dirty="0" err="1">
                <a:solidFill>
                  <a:srgbClr val="474F67"/>
                </a:solidFill>
                <a:latin typeface="Arial"/>
              </a:rPr>
              <a:t>thức</a:t>
            </a:r>
            <a:r>
              <a:rPr sz="1500" b="0" i="0" dirty="0">
                <a:solidFill>
                  <a:srgbClr val="474F67"/>
                </a:solidFill>
                <a:latin typeface="Arial"/>
              </a:rPr>
              <a:t> </a:t>
            </a:r>
            <a:r>
              <a:rPr sz="1500" b="0" i="0" dirty="0" err="1">
                <a:solidFill>
                  <a:srgbClr val="474F67"/>
                </a:solidFill>
                <a:latin typeface="Arial"/>
              </a:rPr>
              <a:t>cho</a:t>
            </a:r>
            <a:r>
              <a:rPr sz="1500" b="0" i="0" dirty="0">
                <a:solidFill>
                  <a:srgbClr val="474F67"/>
                </a:solidFill>
                <a:latin typeface="Arial"/>
              </a:rPr>
              <a:t> </a:t>
            </a:r>
            <a:r>
              <a:rPr sz="1500" b="0" i="0" dirty="0" err="1">
                <a:solidFill>
                  <a:srgbClr val="474F67"/>
                </a:solidFill>
                <a:latin typeface="Arial"/>
              </a:rPr>
              <a:t>cả</a:t>
            </a:r>
            <a:r>
              <a:rPr sz="1500" b="0" i="0" dirty="0">
                <a:solidFill>
                  <a:srgbClr val="474F67"/>
                </a:solidFill>
                <a:latin typeface="Arial"/>
              </a:rPr>
              <a:t> 4 </a:t>
            </a:r>
            <a:r>
              <a:rPr sz="1500" b="0" i="0" dirty="0" err="1">
                <a:solidFill>
                  <a:srgbClr val="474F67"/>
                </a:solidFill>
                <a:latin typeface="Arial"/>
              </a:rPr>
              <a:t>mô</a:t>
            </a:r>
            <a:r>
              <a:rPr sz="1500" b="0" i="0" dirty="0">
                <a:solidFill>
                  <a:srgbClr val="474F67"/>
                </a:solidFill>
                <a:latin typeface="Arial"/>
              </a:rPr>
              <a:t> </a:t>
            </a:r>
            <a:r>
              <a:rPr sz="1500" b="0" i="0" dirty="0" err="1">
                <a:solidFill>
                  <a:srgbClr val="474F67"/>
                </a:solidFill>
                <a:latin typeface="Arial"/>
              </a:rPr>
              <a:t>hình</a:t>
            </a:r>
            <a:r>
              <a:rPr sz="1500" b="0" i="0" dirty="0">
                <a:solidFill>
                  <a:srgbClr val="474F67"/>
                </a:solidFill>
                <a:latin typeface="Arial"/>
              </a:rPr>
              <a:t>. ResNet50 </a:t>
            </a:r>
            <a:r>
              <a:rPr sz="1500" b="0" i="0" dirty="0" err="1">
                <a:solidFill>
                  <a:srgbClr val="474F67"/>
                </a:solidFill>
                <a:latin typeface="Arial"/>
              </a:rPr>
              <a:t>nặng</a:t>
            </a:r>
            <a:r>
              <a:rPr sz="1500" b="0" i="0" dirty="0">
                <a:solidFill>
                  <a:srgbClr val="474F67"/>
                </a:solidFill>
                <a:latin typeface="Arial"/>
              </a:rPr>
              <a:t> </a:t>
            </a:r>
            <a:r>
              <a:rPr sz="1500" b="0" i="0" dirty="0" err="1">
                <a:solidFill>
                  <a:srgbClr val="474F67"/>
                </a:solidFill>
                <a:latin typeface="Arial"/>
              </a:rPr>
              <a:t>gấp</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74 </a:t>
            </a:r>
            <a:r>
              <a:rPr sz="1500" b="0" i="0" dirty="0" err="1">
                <a:solidFill>
                  <a:srgbClr val="474F67"/>
                </a:solidFill>
                <a:latin typeface="Arial"/>
              </a:rPr>
              <a:t>lần</a:t>
            </a:r>
            <a:r>
              <a:rPr sz="1500" b="0" i="0" dirty="0">
                <a:solidFill>
                  <a:srgbClr val="474F67"/>
                </a:solidFill>
                <a:latin typeface="Arial"/>
              </a:rPr>
              <a:t> MobileNetV3-Small </a:t>
            </a:r>
            <a:r>
              <a:rPr sz="1500" b="0" i="0" dirty="0" err="1">
                <a:solidFill>
                  <a:srgbClr val="474F67"/>
                </a:solidFill>
                <a:latin typeface="Arial"/>
              </a:rPr>
              <a:t>về</a:t>
            </a:r>
            <a:r>
              <a:rPr sz="1500" b="0" i="0" dirty="0">
                <a:solidFill>
                  <a:srgbClr val="474F67"/>
                </a:solidFill>
                <a:latin typeface="Arial"/>
              </a:rPr>
              <a:t> </a:t>
            </a:r>
            <a:r>
              <a:rPr sz="1500" b="0" i="0" dirty="0" err="1">
                <a:solidFill>
                  <a:srgbClr val="474F67"/>
                </a:solidFill>
                <a:latin typeface="Arial"/>
              </a:rPr>
              <a:t>tính</a:t>
            </a:r>
            <a:r>
              <a:rPr sz="1500" b="0" i="0" dirty="0">
                <a:solidFill>
                  <a:srgbClr val="474F67"/>
                </a:solidFill>
                <a:latin typeface="Arial"/>
              </a:rPr>
              <a:t> </a:t>
            </a:r>
            <a:r>
              <a:rPr sz="1500" b="0" i="0" dirty="0" err="1">
                <a:solidFill>
                  <a:srgbClr val="474F67"/>
                </a:solidFill>
                <a:latin typeface="Arial"/>
              </a:rPr>
              <a:t>toán</a:t>
            </a:r>
            <a:r>
              <a:rPr sz="1500" b="0" i="0" dirty="0">
                <a:solidFill>
                  <a:srgbClr val="474F67"/>
                </a:solidFill>
                <a:latin typeface="Arial"/>
              </a:rPr>
              <a:t>; EfficientNet-Lite0 ở </a:t>
            </a:r>
            <a:r>
              <a:rPr sz="1500" b="0" i="0" dirty="0" err="1">
                <a:solidFill>
                  <a:srgbClr val="474F67"/>
                </a:solidFill>
                <a:latin typeface="Arial"/>
              </a:rPr>
              <a:t>giữa</a:t>
            </a:r>
            <a:r>
              <a:rPr sz="1500" b="0" i="0" dirty="0">
                <a:solidFill>
                  <a:srgbClr val="474F67"/>
                </a:solidFill>
                <a:latin typeface="Arial"/>
              </a:rPr>
              <a:t> (</a:t>
            </a:r>
            <a:r>
              <a:rPr sz="1500" b="0" i="0" dirty="0" err="1">
                <a:solidFill>
                  <a:srgbClr val="474F67"/>
                </a:solidFill>
                <a:latin typeface="Arial"/>
              </a:rPr>
              <a:t>khoảng</a:t>
            </a:r>
            <a:r>
              <a:rPr sz="1500" b="0" i="0" dirty="0">
                <a:solidFill>
                  <a:srgbClr val="474F67"/>
                </a:solidFill>
                <a:latin typeface="Arial"/>
              </a:rPr>
              <a:t> 7 </a:t>
            </a:r>
            <a:r>
              <a:rPr sz="1500" b="0" i="0" dirty="0" err="1">
                <a:solidFill>
                  <a:srgbClr val="474F67"/>
                </a:solidFill>
                <a:latin typeface="Arial"/>
              </a:rPr>
              <a:t>lần</a:t>
            </a:r>
            <a:r>
              <a:rPr sz="1500" b="0" i="0" dirty="0">
                <a:solidFill>
                  <a:srgbClr val="474F67"/>
                </a:solidFill>
                <a:latin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Kết quả: macro-F1 trên val và test</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7</a:t>
            </a:fld>
            <a:endParaRPr lang="en-US"/>
          </a:p>
        </p:txBody>
      </p:sp>
      <p:graphicFrame>
        <p:nvGraphicFramePr>
          <p:cNvPr id="7" name="Chart 6"/>
          <p:cNvGraphicFramePr>
            <a:graphicFrameLocks noGrp="1"/>
          </p:cNvGraphicFramePr>
          <p:nvPr/>
        </p:nvGraphicFramePr>
        <p:xfrm>
          <a:off x="576072" y="914400"/>
          <a:ext cx="731520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183879" y="914400"/>
            <a:ext cx="3456432" cy="4846320"/>
          </a:xfrm>
          <a:prstGeom prst="roundRect">
            <a:avLst>
              <a:gd name="adj" fmla="val 925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19871" y="1069848"/>
            <a:ext cx="91440" cy="45354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051560"/>
            <a:ext cx="3108960" cy="2534027"/>
          </a:xfrm>
          <a:prstGeom prst="rect">
            <a:avLst/>
          </a:prstGeom>
          <a:noFill/>
        </p:spPr>
        <p:txBody>
          <a:bodyPr wrap="square" lIns="0" tIns="0" rIns="0" bIns="0" anchor="t">
            <a:spAutoFit/>
          </a:bodyPr>
          <a:lstStyle/>
          <a:p>
            <a:pPr algn="l">
              <a:spcAft>
                <a:spcPts val="1000"/>
              </a:spcAft>
            </a:pPr>
            <a:r>
              <a:rPr sz="1800" b="1" i="0" dirty="0" err="1">
                <a:solidFill>
                  <a:srgbClr val="1D2939"/>
                </a:solidFill>
                <a:latin typeface="Arial"/>
              </a:rPr>
              <a:t>Đọc</a:t>
            </a:r>
            <a:r>
              <a:rPr sz="1800" b="1" i="0" dirty="0">
                <a:solidFill>
                  <a:srgbClr val="1D2939"/>
                </a:solidFill>
                <a:latin typeface="Arial"/>
              </a:rPr>
              <a:t> </a:t>
            </a:r>
            <a:r>
              <a:rPr sz="1800" b="1" i="0" dirty="0" err="1">
                <a:solidFill>
                  <a:srgbClr val="1D2939"/>
                </a:solidFill>
                <a:latin typeface="Arial"/>
              </a:rPr>
              <a:t>nhanh</a:t>
            </a:r>
            <a:endParaRPr sz="1800" b="1" i="0" dirty="0">
              <a:solidFill>
                <a:srgbClr val="1D2939"/>
              </a:solidFill>
              <a:latin typeface="Arial"/>
            </a:endParaRPr>
          </a:p>
          <a:p>
            <a:pPr algn="l">
              <a:spcAft>
                <a:spcPts val="1000"/>
              </a:spcAft>
            </a:pPr>
            <a:r>
              <a:rPr sz="1500" b="0" i="0" dirty="0">
                <a:solidFill>
                  <a:srgbClr val="474F67"/>
                </a:solidFill>
                <a:latin typeface="Arial"/>
              </a:rPr>
              <a:t>Test macro-F1 </a:t>
            </a:r>
            <a:r>
              <a:rPr sz="1500" b="0" i="0" dirty="0" err="1">
                <a:solidFill>
                  <a:srgbClr val="474F67"/>
                </a:solidFill>
                <a:latin typeface="Arial"/>
              </a:rPr>
              <a:t>cao</a:t>
            </a:r>
            <a:r>
              <a:rPr sz="1500" b="0" i="0" dirty="0">
                <a:solidFill>
                  <a:srgbClr val="474F67"/>
                </a:solidFill>
                <a:latin typeface="Arial"/>
              </a:rPr>
              <a:t> </a:t>
            </a:r>
            <a:r>
              <a:rPr sz="1500" b="0" i="0" dirty="0" err="1">
                <a:solidFill>
                  <a:srgbClr val="474F67"/>
                </a:solidFill>
                <a:latin typeface="Arial"/>
              </a:rPr>
              <a:t>nhất</a:t>
            </a:r>
            <a:endParaRPr sz="1500" b="0" i="0" dirty="0">
              <a:solidFill>
                <a:srgbClr val="474F67"/>
              </a:solidFill>
              <a:latin typeface="Arial"/>
            </a:endParaRPr>
          </a:p>
          <a:p>
            <a:pPr algn="l">
              <a:spcAft>
                <a:spcPts val="1000"/>
              </a:spcAft>
            </a:pPr>
            <a:r>
              <a:rPr sz="2000" b="1" i="0" dirty="0">
                <a:solidFill>
                  <a:srgbClr val="00A95C"/>
                </a:solidFill>
                <a:latin typeface="Arial"/>
              </a:rPr>
              <a:t>EfficientNet-Lite0: 0,786</a:t>
            </a:r>
          </a:p>
          <a:p>
            <a:pPr algn="l">
              <a:spcAft>
                <a:spcPts val="1000"/>
              </a:spcAft>
            </a:pPr>
            <a:r>
              <a:rPr sz="1400" b="0" i="0" dirty="0">
                <a:solidFill>
                  <a:srgbClr val="474F67"/>
                </a:solidFill>
                <a:latin typeface="Arial"/>
              </a:rPr>
              <a:t>Accuracy test </a:t>
            </a:r>
            <a:r>
              <a:rPr sz="1400" b="0" i="0" dirty="0" err="1">
                <a:solidFill>
                  <a:srgbClr val="474F67"/>
                </a:solidFill>
                <a:latin typeface="Arial"/>
              </a:rPr>
              <a:t>cao</a:t>
            </a:r>
            <a:r>
              <a:rPr sz="1400" b="0" i="0" dirty="0">
                <a:solidFill>
                  <a:srgbClr val="474F67"/>
                </a:solidFill>
                <a:latin typeface="Arial"/>
              </a:rPr>
              <a:t> </a:t>
            </a:r>
            <a:r>
              <a:rPr sz="1400" b="0" i="0" dirty="0" err="1">
                <a:solidFill>
                  <a:srgbClr val="474F67"/>
                </a:solidFill>
                <a:latin typeface="Arial"/>
              </a:rPr>
              <a:t>nhất</a:t>
            </a:r>
            <a:r>
              <a:rPr sz="1400" b="0" i="0" dirty="0">
                <a:solidFill>
                  <a:srgbClr val="474F67"/>
                </a:solidFill>
                <a:latin typeface="Arial"/>
              </a:rPr>
              <a:t> </a:t>
            </a:r>
            <a:r>
              <a:rPr sz="1400" b="0" i="0" dirty="0" err="1">
                <a:solidFill>
                  <a:srgbClr val="474F67"/>
                </a:solidFill>
                <a:latin typeface="Arial"/>
              </a:rPr>
              <a:t>cũng</a:t>
            </a:r>
            <a:r>
              <a:rPr sz="1400" b="0" i="0" dirty="0">
                <a:solidFill>
                  <a:srgbClr val="474F67"/>
                </a:solidFill>
                <a:latin typeface="Arial"/>
              </a:rPr>
              <a:t> </a:t>
            </a:r>
            <a:r>
              <a:rPr sz="1400" b="0" i="0" dirty="0" err="1">
                <a:solidFill>
                  <a:srgbClr val="474F67"/>
                </a:solidFill>
                <a:latin typeface="Arial"/>
              </a:rPr>
              <a:t>là</a:t>
            </a:r>
            <a:r>
              <a:rPr sz="1400" b="0" i="0" dirty="0">
                <a:solidFill>
                  <a:srgbClr val="474F67"/>
                </a:solidFill>
                <a:latin typeface="Arial"/>
              </a:rPr>
              <a:t> EfficientNet-Lite0: 0,854</a:t>
            </a:r>
          </a:p>
          <a:p>
            <a:pPr algn="l">
              <a:spcAft>
                <a:spcPts val="1000"/>
              </a:spcAft>
            </a:pPr>
            <a:r>
              <a:rPr sz="1400" b="0" i="0" dirty="0" err="1">
                <a:solidFill>
                  <a:srgbClr val="474F67"/>
                </a:solidFill>
                <a:latin typeface="Arial"/>
              </a:rPr>
              <a:t>Mọi</a:t>
            </a:r>
            <a:r>
              <a:rPr sz="1400" b="0" i="0" dirty="0">
                <a:solidFill>
                  <a:srgbClr val="474F67"/>
                </a:solidFill>
                <a:latin typeface="Arial"/>
              </a:rPr>
              <a:t> </a:t>
            </a:r>
            <a:r>
              <a:rPr sz="1400" b="0" i="0" dirty="0" err="1">
                <a:solidFill>
                  <a:srgbClr val="474F67"/>
                </a:solidFill>
                <a:latin typeface="Arial"/>
              </a:rPr>
              <a:t>mô</a:t>
            </a:r>
            <a:r>
              <a:rPr sz="1400" b="0" i="0" dirty="0">
                <a:solidFill>
                  <a:srgbClr val="474F67"/>
                </a:solidFill>
                <a:latin typeface="Arial"/>
              </a:rPr>
              <a:t> </a:t>
            </a:r>
            <a:r>
              <a:rPr sz="1400" b="0" i="0" dirty="0" err="1">
                <a:solidFill>
                  <a:srgbClr val="474F67"/>
                </a:solidFill>
                <a:latin typeface="Arial"/>
              </a:rPr>
              <a:t>hình</a:t>
            </a:r>
            <a:r>
              <a:rPr sz="1400" b="0" i="0" dirty="0">
                <a:solidFill>
                  <a:srgbClr val="474F67"/>
                </a:solidFill>
                <a:latin typeface="Arial"/>
              </a:rPr>
              <a:t> </a:t>
            </a:r>
            <a:r>
              <a:rPr sz="1400" b="0" i="0" dirty="0" err="1">
                <a:solidFill>
                  <a:srgbClr val="474F67"/>
                </a:solidFill>
                <a:latin typeface="Arial"/>
              </a:rPr>
              <a:t>vượt</a:t>
            </a:r>
            <a:r>
              <a:rPr sz="1400" b="0" i="0" dirty="0">
                <a:solidFill>
                  <a:srgbClr val="474F67"/>
                </a:solidFill>
                <a:latin typeface="Arial"/>
              </a:rPr>
              <a:t> xa </a:t>
            </a:r>
            <a:r>
              <a:rPr sz="1400" b="0" i="0" dirty="0" err="1">
                <a:solidFill>
                  <a:srgbClr val="474F67"/>
                </a:solidFill>
                <a:latin typeface="Arial"/>
              </a:rPr>
              <a:t>mốc</a:t>
            </a:r>
            <a:r>
              <a:rPr sz="1400" b="0" i="0" dirty="0">
                <a:solidFill>
                  <a:srgbClr val="474F67"/>
                </a:solidFill>
                <a:latin typeface="Arial"/>
              </a:rPr>
              <a:t> </a:t>
            </a:r>
            <a:r>
              <a:rPr sz="1400" b="0" i="0" dirty="0" err="1">
                <a:solidFill>
                  <a:srgbClr val="474F67"/>
                </a:solidFill>
                <a:latin typeface="Arial"/>
              </a:rPr>
              <a:t>đoán</a:t>
            </a:r>
            <a:r>
              <a:rPr sz="1400" b="0" i="0" dirty="0">
                <a:solidFill>
                  <a:srgbClr val="474F67"/>
                </a:solidFill>
                <a:latin typeface="Arial"/>
              </a:rPr>
              <a:t> </a:t>
            </a:r>
            <a:r>
              <a:rPr sz="1400" b="0" i="0" dirty="0" err="1">
                <a:solidFill>
                  <a:srgbClr val="474F67"/>
                </a:solidFill>
                <a:latin typeface="Arial"/>
              </a:rPr>
              <a:t>đa</a:t>
            </a:r>
            <a:r>
              <a:rPr sz="1400" b="0" i="0" dirty="0">
                <a:solidFill>
                  <a:srgbClr val="474F67"/>
                </a:solidFill>
                <a:latin typeface="Arial"/>
              </a:rPr>
              <a:t> </a:t>
            </a:r>
            <a:r>
              <a:rPr sz="1400" b="0" i="0" dirty="0" err="1">
                <a:solidFill>
                  <a:srgbClr val="474F67"/>
                </a:solidFill>
                <a:latin typeface="Arial"/>
              </a:rPr>
              <a:t>số</a:t>
            </a:r>
            <a:r>
              <a:rPr sz="1400" b="0" i="0" dirty="0">
                <a:solidFill>
                  <a:srgbClr val="474F67"/>
                </a:solidFill>
                <a:latin typeface="Arial"/>
              </a:rPr>
              <a:t> (macro-F1 0,093)</a:t>
            </a:r>
          </a:p>
          <a:p>
            <a:pPr algn="l">
              <a:spcAft>
                <a:spcPts val="1000"/>
              </a:spcAft>
            </a:pPr>
            <a:r>
              <a:rPr sz="1400" b="0" i="0" dirty="0">
                <a:solidFill>
                  <a:srgbClr val="474F67"/>
                </a:solidFill>
                <a:latin typeface="Arial"/>
              </a:rPr>
              <a:t>Val </a:t>
            </a:r>
            <a:r>
              <a:rPr sz="1400" b="0" i="0" dirty="0" err="1">
                <a:solidFill>
                  <a:srgbClr val="474F67"/>
                </a:solidFill>
                <a:latin typeface="Arial"/>
              </a:rPr>
              <a:t>luôn</a:t>
            </a:r>
            <a:r>
              <a:rPr sz="1400" b="0" i="0" dirty="0">
                <a:solidFill>
                  <a:srgbClr val="474F67"/>
                </a:solidFill>
                <a:latin typeface="Arial"/>
              </a:rPr>
              <a:t> </a:t>
            </a:r>
            <a:r>
              <a:rPr sz="1400" b="0" i="0" dirty="0" err="1">
                <a:solidFill>
                  <a:srgbClr val="474F67"/>
                </a:solidFill>
                <a:latin typeface="Arial"/>
              </a:rPr>
              <a:t>cao</a:t>
            </a:r>
            <a:r>
              <a:rPr sz="1400" b="0" i="0" dirty="0">
                <a:solidFill>
                  <a:srgbClr val="474F67"/>
                </a:solidFill>
                <a:latin typeface="Arial"/>
              </a:rPr>
              <a:t> </a:t>
            </a:r>
            <a:r>
              <a:rPr sz="1400" b="0" i="0" dirty="0" err="1">
                <a:solidFill>
                  <a:srgbClr val="474F67"/>
                </a:solidFill>
                <a:latin typeface="Arial"/>
              </a:rPr>
              <a:t>hơn</a:t>
            </a:r>
            <a:r>
              <a:rPr sz="1400" b="0" i="0" dirty="0">
                <a:solidFill>
                  <a:srgbClr val="474F67"/>
                </a:solidFill>
                <a:latin typeface="Arial"/>
              </a:rPr>
              <a:t> test: </a:t>
            </a:r>
            <a:r>
              <a:rPr sz="1400" b="0" i="0" dirty="0" err="1">
                <a:solidFill>
                  <a:srgbClr val="474F67"/>
                </a:solidFill>
                <a:latin typeface="Arial"/>
              </a:rPr>
              <a:t>xem</a:t>
            </a:r>
            <a:r>
              <a:rPr sz="1400" b="0" i="0" dirty="0">
                <a:solidFill>
                  <a:srgbClr val="474F67"/>
                </a:solidFill>
                <a:latin typeface="Arial"/>
              </a:rPr>
              <a:t> slide </a:t>
            </a:r>
            <a:r>
              <a:rPr sz="1400" b="0" i="0" dirty="0" err="1">
                <a:solidFill>
                  <a:srgbClr val="474F67"/>
                </a:solidFill>
                <a:latin typeface="Arial"/>
              </a:rPr>
              <a:t>sau</a:t>
            </a:r>
            <a:endParaRPr sz="1400" b="0" i="0" dirty="0">
              <a:solidFill>
                <a:srgbClr val="474F67"/>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Phát hiện chính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8</a:t>
            </a:fld>
            <a:endParaRPr lang="en-US"/>
          </a:p>
        </p:txBody>
      </p:sp>
      <p:sp>
        <p:nvSpPr>
          <p:cNvPr id="7" name="Rounded Rectangle 6"/>
          <p:cNvSpPr/>
          <p:nvPr/>
        </p:nvSpPr>
        <p:spPr>
          <a:xfrm>
            <a:off x="576072"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758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Nặng hơn không tốt hơn</a:t>
            </a:r>
          </a:p>
        </p:txBody>
      </p:sp>
      <p:sp>
        <p:nvSpPr>
          <p:cNvPr id="10" name="TextBox 9"/>
          <p:cNvSpPr txBox="1"/>
          <p:nvPr/>
        </p:nvSpPr>
        <p:spPr>
          <a:xfrm>
            <a:off x="832104" y="2057400"/>
            <a:ext cx="3063240" cy="685800"/>
          </a:xfrm>
          <a:prstGeom prst="rect">
            <a:avLst/>
          </a:prstGeom>
          <a:noFill/>
        </p:spPr>
        <p:txBody>
          <a:bodyPr wrap="square" lIns="0" tIns="0" rIns="0" bIns="0" anchor="t">
            <a:spAutoFit/>
          </a:bodyPr>
          <a:lstStyle/>
          <a:p>
            <a:pPr algn="l">
              <a:spcAft>
                <a:spcPts val="600"/>
              </a:spcAft>
            </a:pPr>
            <a:r>
              <a:rPr sz="3000" b="1" i="0">
                <a:solidFill>
                  <a:srgbClr val="00A95C"/>
                </a:solidFill>
                <a:latin typeface="Arial"/>
              </a:rPr>
              <a:t>0,786 vs 0,746</a:t>
            </a:r>
          </a:p>
        </p:txBody>
      </p:sp>
      <p:sp>
        <p:nvSpPr>
          <p:cNvPr id="11" name="TextBox 10"/>
          <p:cNvSpPr txBox="1"/>
          <p:nvPr/>
        </p:nvSpPr>
        <p:spPr>
          <a:xfrm>
            <a:off x="832104"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EfficientNet-Lite0 (384 M MACs) cao hơn ResNet50 (4,09 G MACs, nặng gấp 10,6 lần) trên test.</a:t>
            </a:r>
          </a:p>
        </p:txBody>
      </p:sp>
      <p:sp>
        <p:nvSpPr>
          <p:cNvPr id="12" name="Rounded Rectangle 11"/>
          <p:cNvSpPr/>
          <p:nvPr/>
        </p:nvSpPr>
        <p:spPr>
          <a:xfrm>
            <a:off x="4343400"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79392" y="1115568"/>
            <a:ext cx="91440" cy="3758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Val lạc quan hơn test</a:t>
            </a:r>
          </a:p>
        </p:txBody>
      </p:sp>
      <p:sp>
        <p:nvSpPr>
          <p:cNvPr id="15" name="TextBox 14"/>
          <p:cNvSpPr txBox="1"/>
          <p:nvPr/>
        </p:nvSpPr>
        <p:spPr>
          <a:xfrm>
            <a:off x="4599432" y="2057400"/>
            <a:ext cx="3063240" cy="685800"/>
          </a:xfrm>
          <a:prstGeom prst="rect">
            <a:avLst/>
          </a:prstGeom>
          <a:noFill/>
        </p:spPr>
        <p:txBody>
          <a:bodyPr wrap="square" lIns="0" tIns="0" rIns="0" bIns="0" anchor="t">
            <a:spAutoFit/>
          </a:bodyPr>
          <a:lstStyle/>
          <a:p>
            <a:pPr algn="l">
              <a:spcAft>
                <a:spcPts val="600"/>
              </a:spcAft>
            </a:pPr>
            <a:r>
              <a:rPr sz="3000" b="1" i="0">
                <a:solidFill>
                  <a:srgbClr val="F58643"/>
                </a:solidFill>
                <a:latin typeface="Arial"/>
              </a:rPr>
              <a:t>0,10 → 0,19</a:t>
            </a:r>
          </a:p>
        </p:txBody>
      </p:sp>
      <p:sp>
        <p:nvSpPr>
          <p:cNvPr id="16" name="TextBox 15"/>
          <p:cNvSpPr txBox="1"/>
          <p:nvPr/>
        </p:nvSpPr>
        <p:spPr>
          <a:xfrm>
            <a:off x="4599432"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Chênh val − test tăng theo kích thước mô hình. Val chỉ 4 tài xế và được dùng để chọn epoch, nên khó tổng quát sang tài xế mới.</a:t>
            </a:r>
          </a:p>
        </p:txBody>
      </p:sp>
      <p:sp>
        <p:nvSpPr>
          <p:cNvPr id="17" name="Rounded Rectangle 16"/>
          <p:cNvSpPr/>
          <p:nvPr/>
        </p:nvSpPr>
        <p:spPr>
          <a:xfrm>
            <a:off x="8110728" y="960120"/>
            <a:ext cx="3520440" cy="4069080"/>
          </a:xfrm>
          <a:prstGeom prst="roundRect">
            <a:avLst>
              <a:gd name="adj" fmla="val 909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1115568"/>
            <a:ext cx="91440" cy="37581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66760" y="1143000"/>
            <a:ext cx="3063240" cy="868680"/>
          </a:xfrm>
          <a:prstGeom prst="rect">
            <a:avLst/>
          </a:prstGeom>
          <a:noFill/>
        </p:spPr>
        <p:txBody>
          <a:bodyPr wrap="square" lIns="0" tIns="0" rIns="0" bIns="0" anchor="t">
            <a:spAutoFit/>
          </a:bodyPr>
          <a:lstStyle/>
          <a:p>
            <a:pPr algn="l">
              <a:spcAft>
                <a:spcPts val="600"/>
              </a:spcAft>
            </a:pPr>
            <a:r>
              <a:rPr sz="2000" b="1" i="0">
                <a:solidFill>
                  <a:srgbClr val="1D2939"/>
                </a:solidFill>
                <a:latin typeface="Arial"/>
              </a:rPr>
              <a:t>talk_passenger yếu ở mọi mô hình</a:t>
            </a:r>
          </a:p>
        </p:txBody>
      </p:sp>
      <p:sp>
        <p:nvSpPr>
          <p:cNvPr id="20" name="TextBox 19"/>
          <p:cNvSpPr txBox="1"/>
          <p:nvPr/>
        </p:nvSpPr>
        <p:spPr>
          <a:xfrm>
            <a:off x="8366760" y="2057400"/>
            <a:ext cx="3063240" cy="685800"/>
          </a:xfrm>
          <a:prstGeom prst="rect">
            <a:avLst/>
          </a:prstGeom>
          <a:noFill/>
        </p:spPr>
        <p:txBody>
          <a:bodyPr wrap="square" lIns="0" tIns="0" rIns="0" bIns="0" anchor="t">
            <a:spAutoFit/>
          </a:bodyPr>
          <a:lstStyle/>
          <a:p>
            <a:pPr algn="l">
              <a:spcAft>
                <a:spcPts val="600"/>
              </a:spcAft>
            </a:pPr>
            <a:r>
              <a:rPr sz="3000" b="1" i="0">
                <a:solidFill>
                  <a:srgbClr val="F56776"/>
                </a:solidFill>
                <a:latin typeface="Arial"/>
              </a:rPr>
              <a:t>F1 0,38 – 0,43</a:t>
            </a:r>
          </a:p>
        </p:txBody>
      </p:sp>
      <p:sp>
        <p:nvSpPr>
          <p:cNvPr id="21" name="TextBox 20"/>
          <p:cNvSpPr txBox="1"/>
          <p:nvPr/>
        </p:nvSpPr>
        <p:spPr>
          <a:xfrm>
            <a:off x="8366760" y="2880360"/>
            <a:ext cx="3063240" cy="201168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Các lớp khác đạt 0,76 – 0,95. Mọi kiến trúc đều yếu ở lớp này nên nguyên nhân nhiều khả năng nằm ở dữ liệu (dễ nhầm với normal), cần confusion matrix để xác nhận.</a:t>
            </a:r>
          </a:p>
        </p:txBody>
      </p:sp>
      <p:sp>
        <p:nvSpPr>
          <p:cNvPr id="22" name="Rounded Rectangle 21"/>
          <p:cNvSpPr/>
          <p:nvPr/>
        </p:nvSpPr>
        <p:spPr>
          <a:xfrm>
            <a:off x="576072" y="5257800"/>
            <a:ext cx="11064240" cy="68580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257800"/>
            <a:ext cx="10607040" cy="685800"/>
          </a:xfrm>
          <a:prstGeom prst="rect">
            <a:avLst/>
          </a:prstGeom>
          <a:noFill/>
        </p:spPr>
        <p:txBody>
          <a:bodyPr wrap="square" lIns="0" tIns="0" rIns="0" bIns="0" anchor="ctr">
            <a:spAutoFit/>
          </a:bodyPr>
          <a:lstStyle/>
          <a:p>
            <a:pPr algn="l">
              <a:spcAft>
                <a:spcPts val="600"/>
              </a:spcAft>
            </a:pPr>
            <a:r>
              <a:rPr sz="1600" b="0" i="0">
                <a:solidFill>
                  <a:srgbClr val="1D2939"/>
                </a:solidFill>
                <a:latin typeface="Arial"/>
              </a:rPr>
              <a:t>Test chỉ có 4 tài xế và một seed: chênh lệch dưới khoảng 0,03 giữa hai cấu hình chưa chắc là thật.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Dò siêu tham số trên MobileNetV3-Small</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9</a:t>
            </a:fld>
            <a:endParaRPr lang="en-US"/>
          </a:p>
        </p:txBody>
      </p:sp>
      <p:graphicFrame>
        <p:nvGraphicFramePr>
          <p:cNvPr id="7" name="Table 6"/>
          <p:cNvGraphicFramePr>
            <a:graphicFrameLocks noGrp="1"/>
          </p:cNvGraphicFramePr>
          <p:nvPr/>
        </p:nvGraphicFramePr>
        <p:xfrm>
          <a:off x="576072" y="960120"/>
          <a:ext cx="11064240" cy="2743200"/>
        </p:xfrm>
        <a:graphic>
          <a:graphicData uri="http://schemas.openxmlformats.org/drawingml/2006/table">
            <a:tbl>
              <a:tblPr firstRow="1" bandRow="1">
                <a:tableStyleId>{5940675A-B579-460E-94D1-54222C63F5DA}</a:tableStyleId>
              </a:tblPr>
              <a:tblGrid>
                <a:gridCol w="356616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48640">
                <a:tc>
                  <a:txBody>
                    <a:bodyPr/>
                    <a:lstStyle/>
                    <a:p>
                      <a:pPr algn="l"/>
                      <a:r>
                        <a:rPr sz="1600" b="1">
                          <a:solidFill>
                            <a:srgbClr val="FFFFFF"/>
                          </a:solidFill>
                          <a:latin typeface="Arial"/>
                        </a:rPr>
                        <a:t>Cấu hình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Val F1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Test macro-F1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talk_passenger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ctr"/>
                      <a:r>
                        <a:rPr sz="1600" b="1">
                          <a:solidFill>
                            <a:srgbClr val="FFFFFF"/>
                          </a:solidFill>
                          <a:latin typeface="Arial"/>
                        </a:rPr>
                        <a:t>normal</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Baseline (lr 1e-3, wd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0,872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0,752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0,391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tc>
                  <a:txBody>
                    <a:bodyPr/>
                    <a:lstStyle/>
                    <a:p>
                      <a:pPr algn="ctr"/>
                      <a:r>
                        <a:rPr sz="1600" b="0">
                          <a:solidFill>
                            <a:srgbClr val="1D2939"/>
                          </a:solidFill>
                          <a:latin typeface="Arial"/>
                        </a:rPr>
                        <a:t>0,683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E6F6EE"/>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lr 3e-4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0,794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0,735</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0,473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0,512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a:solidFill>
                            <a:srgbClr val="1D2939"/>
                          </a:solidFill>
                          <a:latin typeface="Arial"/>
                        </a:rPr>
                        <a:t>lr 3e-3</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0,895</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0,744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0,470</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ctr"/>
                      <a:r>
                        <a:rPr sz="1600" b="0">
                          <a:solidFill>
                            <a:srgbClr val="1D2939"/>
                          </a:solidFill>
                          <a:latin typeface="Arial"/>
                        </a:rPr>
                        <a:t>0,568</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weight decay 1e-2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0,841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0,741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0,458</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ctr"/>
                      <a:r>
                        <a:rPr sz="1600" b="0">
                          <a:solidFill>
                            <a:srgbClr val="1D2939"/>
                          </a:solidFill>
                          <a:latin typeface="Arial"/>
                        </a:rPr>
                        <a:t>0,667</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576072" y="3977639"/>
            <a:ext cx="5394960" cy="1783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12064" y="4133087"/>
            <a:ext cx="91440" cy="1472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4114800"/>
            <a:ext cx="4983480" cy="155448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Kết luận</a:t>
            </a:r>
          </a:p>
          <a:p>
            <a:pPr algn="l">
              <a:spcAft>
                <a:spcPts val="600"/>
              </a:spcAft>
            </a:pPr>
            <a:r>
              <a:rPr sz="1600" b="0" i="0">
                <a:solidFill>
                  <a:srgbClr val="474F67"/>
                </a:solidFill>
                <a:latin typeface="Arial"/>
              </a:rPr>
              <a:t>Không cấu hình nào vượt baseline (thấp hơn 0,008 đến 0,017), trong phạm vi nhiễu.</a:t>
            </a:r>
          </a:p>
          <a:p>
            <a:pPr algn="l">
              <a:spcAft>
                <a:spcPts val="600"/>
              </a:spcAft>
            </a:pPr>
            <a:r>
              <a:rPr sz="1600" b="1" i="0">
                <a:solidFill>
                  <a:srgbClr val="00A95C"/>
                </a:solidFill>
                <a:latin typeface="Arial"/>
              </a:rPr>
              <a:t>→ Giữ cấu hình mặc định.</a:t>
            </a:r>
          </a:p>
        </p:txBody>
      </p:sp>
      <p:sp>
        <p:nvSpPr>
          <p:cNvPr id="11" name="Rounded Rectangle 10"/>
          <p:cNvSpPr/>
          <p:nvPr/>
        </p:nvSpPr>
        <p:spPr>
          <a:xfrm>
            <a:off x="6245352" y="3977639"/>
            <a:ext cx="5394960" cy="1783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4133087"/>
            <a:ext cx="91440" cy="1472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4114800"/>
            <a:ext cx="4983480" cy="155448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Điều đáng chú ý</a:t>
            </a:r>
          </a:p>
          <a:p>
            <a:pPr algn="l">
              <a:spcAft>
                <a:spcPts val="600"/>
              </a:spcAft>
            </a:pPr>
            <a:r>
              <a:rPr sz="1600" b="0" i="0">
                <a:solidFill>
                  <a:srgbClr val="474F67"/>
                </a:solidFill>
                <a:latin typeface="Arial"/>
              </a:rPr>
              <a:t>talk_passenger tăng (+0,07) nhưng normal giảm cùng lúc: ranh giới giữa hai lớp dịch chuyển, mô hình không tốt hơn ở cả hai.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Từ mô hình huấn luyện đến mô hình edge</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10</a:t>
            </a:fld>
            <a:endParaRPr lang="en-US"/>
          </a:p>
        </p:txBody>
      </p:sp>
      <p:sp>
        <p:nvSpPr>
          <p:cNvPr id="7" name="Rounded Rectangle 6"/>
          <p:cNvSpPr/>
          <p:nvPr/>
        </p:nvSpPr>
        <p:spPr>
          <a:xfrm>
            <a:off x="576072"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207007"/>
            <a:ext cx="91440" cy="2615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Mô hình huấn luyện</a:t>
            </a:r>
          </a:p>
        </p:txBody>
      </p:sp>
      <p:sp>
        <p:nvSpPr>
          <p:cNvPr id="10" name="TextBox 9"/>
          <p:cNvSpPr txBox="1"/>
          <p:nvPr/>
        </p:nvSpPr>
        <p:spPr>
          <a:xfrm>
            <a:off x="777240"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thực 32 bit (FP32), chạy trên GPU</a:t>
            </a:r>
          </a:p>
        </p:txBody>
      </p:sp>
      <p:sp>
        <p:nvSpPr>
          <p:cNvPr id="11" name="TextBox 10"/>
          <p:cNvSpPr txBox="1"/>
          <p:nvPr/>
        </p:nvSpPr>
        <p:spPr>
          <a:xfrm>
            <a:off x="777240" y="2834640"/>
            <a:ext cx="2194560" cy="1005840"/>
          </a:xfrm>
          <a:prstGeom prst="rect">
            <a:avLst/>
          </a:prstGeom>
          <a:noFill/>
        </p:spPr>
        <p:txBody>
          <a:bodyPr wrap="square" lIns="0" tIns="0" rIns="0" bIns="0" anchor="t">
            <a:spAutoFit/>
          </a:bodyPr>
          <a:lstStyle/>
          <a:p>
            <a:pPr algn="l">
              <a:spcAft>
                <a:spcPts val="600"/>
              </a:spcAft>
            </a:pPr>
            <a:r>
              <a:rPr sz="1300" b="1" i="0">
                <a:solidFill>
                  <a:srgbClr val="8A93A6"/>
                </a:solidFill>
                <a:latin typeface="Arial"/>
              </a:rPr>
              <a:t>Rủi ro: </a:t>
            </a:r>
            <a:r>
              <a:rPr sz="1300" b="0" i="0">
                <a:solidFill>
                  <a:srgbClr val="474F67"/>
                </a:solidFill>
                <a:latin typeface="Arial"/>
              </a:rPr>
              <a:t>Chính xác nhất, nhưng nặng</a:t>
            </a:r>
          </a:p>
        </p:txBody>
      </p:sp>
      <p:sp>
        <p:nvSpPr>
          <p:cNvPr id="12" name="Right Arrow 11"/>
          <p:cNvSpPr/>
          <p:nvPr/>
        </p:nvSpPr>
        <p:spPr>
          <a:xfrm>
            <a:off x="3136391"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38144"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74136"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9312"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Chọn mô hình nhỏ</a:t>
            </a:r>
          </a:p>
        </p:txBody>
      </p:sp>
      <p:sp>
        <p:nvSpPr>
          <p:cNvPr id="16" name="TextBox 15"/>
          <p:cNvSpPr txBox="1"/>
          <p:nvPr/>
        </p:nvSpPr>
        <p:spPr>
          <a:xfrm>
            <a:off x="3639312"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Ít tham số, ít phép tính</a:t>
            </a:r>
          </a:p>
        </p:txBody>
      </p:sp>
      <p:sp>
        <p:nvSpPr>
          <p:cNvPr id="17" name="TextBox 16"/>
          <p:cNvSpPr txBox="1"/>
          <p:nvPr/>
        </p:nvSpPr>
        <p:spPr>
          <a:xfrm>
            <a:off x="3639312" y="2834640"/>
            <a:ext cx="2194560" cy="1005840"/>
          </a:xfrm>
          <a:prstGeom prst="rect">
            <a:avLst/>
          </a:prstGeom>
          <a:noFill/>
        </p:spPr>
        <p:txBody>
          <a:bodyPr wrap="square" lIns="0" tIns="0" rIns="0" bIns="0" anchor="t">
            <a:spAutoFit/>
          </a:bodyPr>
          <a:lstStyle/>
          <a:p>
            <a:pPr algn="l">
              <a:spcAft>
                <a:spcPts val="600"/>
              </a:spcAft>
            </a:pPr>
            <a:r>
              <a:rPr sz="1300" b="1" i="0">
                <a:solidFill>
                  <a:srgbClr val="F58643"/>
                </a:solidFill>
                <a:latin typeface="Arial"/>
              </a:rPr>
              <a:t>Rủi ro: </a:t>
            </a:r>
            <a:r>
              <a:rPr sz="1300" b="0" i="0">
                <a:solidFill>
                  <a:srgbClr val="474F67"/>
                </a:solidFill>
                <a:latin typeface="Arial"/>
              </a:rPr>
              <a:t>Giảm khả năng biểu diễn</a:t>
            </a:r>
          </a:p>
        </p:txBody>
      </p:sp>
      <p:sp>
        <p:nvSpPr>
          <p:cNvPr id="18" name="Right Arrow 17"/>
          <p:cNvSpPr/>
          <p:nvPr/>
        </p:nvSpPr>
        <p:spPr>
          <a:xfrm>
            <a:off x="5998464"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0216"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6207"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01383"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Lượng tử hoá INT8</a:t>
            </a:r>
          </a:p>
        </p:txBody>
      </p:sp>
      <p:sp>
        <p:nvSpPr>
          <p:cNvPr id="22" name="TextBox 21"/>
          <p:cNvSpPr txBox="1"/>
          <p:nvPr/>
        </p:nvSpPr>
        <p:spPr>
          <a:xfrm>
            <a:off x="6501383"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nguyên 8 bit: nhỏ hơn khoảng 4 lần</a:t>
            </a:r>
          </a:p>
        </p:txBody>
      </p:sp>
      <p:sp>
        <p:nvSpPr>
          <p:cNvPr id="23" name="TextBox 22"/>
          <p:cNvSpPr txBox="1"/>
          <p:nvPr/>
        </p:nvSpPr>
        <p:spPr>
          <a:xfrm>
            <a:off x="6501383" y="2834640"/>
            <a:ext cx="2194560" cy="1005840"/>
          </a:xfrm>
          <a:prstGeom prst="rect">
            <a:avLst/>
          </a:prstGeom>
          <a:noFill/>
        </p:spPr>
        <p:txBody>
          <a:bodyPr wrap="square" lIns="0" tIns="0" rIns="0" bIns="0" anchor="t">
            <a:spAutoFit/>
          </a:bodyPr>
          <a:lstStyle/>
          <a:p>
            <a:pPr algn="l">
              <a:spcAft>
                <a:spcPts val="600"/>
              </a:spcAft>
            </a:pPr>
            <a:r>
              <a:rPr sz="1300" b="1" i="0">
                <a:solidFill>
                  <a:srgbClr val="F58643"/>
                </a:solidFill>
                <a:latin typeface="Arial"/>
              </a:rPr>
              <a:t>Rủi ro: </a:t>
            </a:r>
            <a:r>
              <a:rPr sz="1300" b="0" i="0">
                <a:solidFill>
                  <a:srgbClr val="474F67"/>
                </a:solidFill>
                <a:latin typeface="Arial"/>
              </a:rPr>
              <a:t>Sai số làm tròn cộng dồn qua các lớp</a:t>
            </a:r>
          </a:p>
        </p:txBody>
      </p:sp>
      <p:sp>
        <p:nvSpPr>
          <p:cNvPr id="24" name="Right Arrow 23"/>
          <p:cNvSpPr/>
          <p:nvPr/>
        </p:nvSpPr>
        <p:spPr>
          <a:xfrm>
            <a:off x="8860536"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62288"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98280" y="1207007"/>
            <a:ext cx="91440" cy="26151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63456"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Chạy trên chip edge</a:t>
            </a:r>
          </a:p>
        </p:txBody>
      </p:sp>
      <p:sp>
        <p:nvSpPr>
          <p:cNvPr id="28" name="TextBox 27"/>
          <p:cNvSpPr txBox="1"/>
          <p:nvPr/>
        </p:nvSpPr>
        <p:spPr>
          <a:xfrm>
            <a:off x="9363456"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Phép toán và kích thước ảnh bị giới hạn</a:t>
            </a:r>
          </a:p>
        </p:txBody>
      </p:sp>
      <p:sp>
        <p:nvSpPr>
          <p:cNvPr id="29" name="TextBox 28"/>
          <p:cNvSpPr txBox="1"/>
          <p:nvPr/>
        </p:nvSpPr>
        <p:spPr>
          <a:xfrm>
            <a:off x="9363456" y="2834640"/>
            <a:ext cx="2194560" cy="1005840"/>
          </a:xfrm>
          <a:prstGeom prst="rect">
            <a:avLst/>
          </a:prstGeom>
          <a:noFill/>
        </p:spPr>
        <p:txBody>
          <a:bodyPr wrap="square" lIns="0" tIns="0" rIns="0" bIns="0" anchor="t">
            <a:spAutoFit/>
          </a:bodyPr>
          <a:lstStyle/>
          <a:p>
            <a:pPr algn="l">
              <a:spcAft>
                <a:spcPts val="600"/>
              </a:spcAft>
            </a:pPr>
            <a:r>
              <a:rPr sz="1300" b="1" i="0">
                <a:solidFill>
                  <a:srgbClr val="F56776"/>
                </a:solidFill>
                <a:latin typeface="Arial"/>
              </a:rPr>
              <a:t>Rủi ro: </a:t>
            </a:r>
            <a:r>
              <a:rPr sz="1300" b="0" i="0">
                <a:solidFill>
                  <a:srgbClr val="474F67"/>
                </a:solidFill>
                <a:latin typeface="Arial"/>
              </a:rPr>
              <a:t>Phải đo lại trên thiết bị thật</a:t>
            </a:r>
          </a:p>
        </p:txBody>
      </p:sp>
      <p:sp>
        <p:nvSpPr>
          <p:cNvPr id="30" name="Rounded Rectangle 29"/>
          <p:cNvSpPr/>
          <p:nvPr/>
        </p:nvSpPr>
        <p:spPr>
          <a:xfrm>
            <a:off x="576072" y="4343400"/>
            <a:ext cx="11064240" cy="137160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4434840"/>
            <a:ext cx="10607040" cy="1188720"/>
          </a:xfrm>
          <a:prstGeom prst="rect">
            <a:avLst/>
          </a:prstGeom>
          <a:noFill/>
        </p:spPr>
        <p:txBody>
          <a:bodyPr wrap="square" lIns="0" tIns="0" rIns="0" bIns="0" anchor="ctr">
            <a:spAutoFit/>
          </a:bodyPr>
          <a:lstStyle/>
          <a:p>
            <a:pPr algn="l">
              <a:spcAft>
                <a:spcPts val="600"/>
              </a:spcAft>
            </a:pPr>
            <a:r>
              <a:rPr sz="1600" b="1" i="0">
                <a:solidFill>
                  <a:srgbClr val="1D2939"/>
                </a:solidFill>
                <a:latin typeface="Arial"/>
              </a:rPr>
              <a:t>Lượng tử hoá giống như giảm độ sâu màu của một bức ảnh: </a:t>
            </a:r>
            <a:r>
              <a:rPr sz="1600" b="0" i="0">
                <a:solidFill>
                  <a:srgbClr val="474F67"/>
                </a:solidFill>
                <a:latin typeface="Arial"/>
              </a:rPr>
              <a:t>mỗi số trong mô hình chỉ còn 256 giá trị thay vì hàng tỷ. Mỗi lớp lệch một chút, qua hàng chục lớp thì lệch nhiều. </a:t>
            </a:r>
            <a:r>
              <a:rPr sz="1600" b="1" i="0">
                <a:solidFill>
                  <a:srgbClr val="1D2939"/>
                </a:solidFill>
                <a:latin typeface="Arial"/>
              </a:rPr>
              <a:t>Vì vậy sau mỗi bước phải đo lại độ chính xác.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Ví dụ của chúng tôi: INT8 làm điểm giảm</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11</a:t>
            </a:fld>
            <a:endParaRPr lang="en-US"/>
          </a:p>
        </p:txBody>
      </p:sp>
      <p:graphicFrame>
        <p:nvGraphicFramePr>
          <p:cNvPr id="7" name="Chart 6"/>
          <p:cNvGraphicFramePr>
            <a:graphicFrameLocks noGrp="1"/>
          </p:cNvGraphicFramePr>
          <p:nvPr/>
        </p:nvGraphicFramePr>
        <p:xfrm>
          <a:off x="576072" y="960120"/>
          <a:ext cx="66751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7589520" y="960120"/>
            <a:ext cx="4050791" cy="4572000"/>
          </a:xfrm>
          <a:prstGeom prst="roundRect">
            <a:avLst>
              <a:gd name="adj" fmla="val 79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25512" y="1115568"/>
            <a:ext cx="91440" cy="426110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18120" y="1097280"/>
            <a:ext cx="3657600" cy="438912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MobileNetV3-Small</a:t>
            </a:r>
          </a:p>
          <a:p>
            <a:pPr algn="l">
              <a:spcAft>
                <a:spcPts val="600"/>
              </a:spcAft>
            </a:pPr>
            <a:r>
              <a:rPr sz="1500" b="0" i="0">
                <a:solidFill>
                  <a:srgbClr val="474F67"/>
                </a:solidFill>
                <a:latin typeface="Arial"/>
              </a:rPr>
              <a:t>Kích thước</a:t>
            </a:r>
          </a:p>
          <a:p>
            <a:pPr algn="l">
              <a:spcAft>
                <a:spcPts val="600"/>
              </a:spcAft>
            </a:pPr>
            <a:r>
              <a:rPr sz="2200" b="1" i="0">
                <a:solidFill>
                  <a:srgbClr val="00A95C"/>
                </a:solidFill>
                <a:latin typeface="Arial"/>
              </a:rPr>
              <a:t>6,11 MB → 1,88 MB</a:t>
            </a:r>
          </a:p>
          <a:p>
            <a:pPr algn="l">
              <a:spcAft>
                <a:spcPts val="600"/>
              </a:spcAft>
            </a:pPr>
            <a:r>
              <a:rPr sz="1400" b="0" i="0">
                <a:solidFill>
                  <a:srgbClr val="474F67"/>
                </a:solidFill>
                <a:latin typeface="Arial"/>
              </a:rPr>
              <a:t>nhỏ hơn 3,2 lần</a:t>
            </a:r>
          </a:p>
          <a:p>
            <a:pPr algn="l">
              <a:spcAft>
                <a:spcPts val="600"/>
              </a:spcAft>
            </a:pPr>
            <a:r>
              <a:rPr sz="1500" b="0" i="0">
                <a:solidFill>
                  <a:srgbClr val="474F67"/>
                </a:solidFill>
                <a:latin typeface="Arial"/>
              </a:rPr>
              <a:t>Độ chính xác</a:t>
            </a:r>
          </a:p>
          <a:p>
            <a:pPr algn="l">
              <a:spcAft>
                <a:spcPts val="600"/>
              </a:spcAft>
            </a:pPr>
            <a:r>
              <a:rPr sz="2200" b="1" i="0">
                <a:solidFill>
                  <a:srgbClr val="F56776"/>
                </a:solidFill>
                <a:latin typeface="Arial"/>
              </a:rPr>
              <a:t>0,744 → 0,06 đến 0,27</a:t>
            </a:r>
          </a:p>
          <a:p>
            <a:pPr algn="l">
              <a:spcAft>
                <a:spcPts val="600"/>
              </a:spcAft>
            </a:pPr>
            <a:r>
              <a:rPr sz="1400" b="0" i="0">
                <a:solidFill>
                  <a:srgbClr val="474F67"/>
                </a:solidFill>
                <a:latin typeface="Arial"/>
              </a:rPr>
              <a:t>sập ở mọi cách lượng tử hoá đã thử</a:t>
            </a:r>
          </a:p>
          <a:p>
            <a:pPr algn="l">
              <a:spcAft>
                <a:spcPts val="600"/>
              </a:spcAft>
            </a:pPr>
            <a:r>
              <a:rPr sz="1400" b="0" i="0">
                <a:solidFill>
                  <a:srgbClr val="474F67"/>
                </a:solidFill>
                <a:latin typeface="Arial"/>
              </a:rPr>
              <a:t>Trên CPU máy tính, INT8 còn chậm hơn FP32 (435 so với 605 FPS).</a:t>
            </a:r>
          </a:p>
        </p:txBody>
      </p:sp>
      <p:sp>
        <p:nvSpPr>
          <p:cNvPr id="11" name="TextBox 10"/>
          <p:cNvSpPr txBox="1"/>
          <p:nvPr/>
        </p:nvSpPr>
        <p:spPr>
          <a:xfrm>
            <a:off x="576072" y="5623560"/>
            <a:ext cx="11064240" cy="457200"/>
          </a:xfrm>
          <a:prstGeom prst="rect">
            <a:avLst/>
          </a:prstGeom>
          <a:noFill/>
        </p:spPr>
        <p:txBody>
          <a:bodyPr wrap="square" lIns="0" tIns="0" rIns="0" bIns="0" anchor="t">
            <a:spAutoFit/>
          </a:bodyPr>
          <a:lstStyle/>
          <a:p>
            <a:pPr algn="l">
              <a:spcAft>
                <a:spcPts val="600"/>
              </a:spcAft>
            </a:pPr>
            <a:r>
              <a:rPr sz="1200" b="0" i="1">
                <a:solidFill>
                  <a:srgbClr val="8A93A6"/>
                </a:solidFill>
                <a:latin typeface="Arial"/>
              </a:rPr>
              <a:t>Test 2.581 ảnh, CPU máy tính 1 luồng. EfficientNet-Lite0 và ResNet18: đang đo.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Hạn chế</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12</a:t>
            </a:fld>
            <a:endParaRPr lang="en-US"/>
          </a:p>
        </p:txBody>
      </p:sp>
      <p:sp>
        <p:nvSpPr>
          <p:cNvPr id="7" name="Rounded Rectangle 6"/>
          <p:cNvSpPr/>
          <p:nvPr/>
        </p:nvSpPr>
        <p:spPr>
          <a:xfrm>
            <a:off x="576072" y="96012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655063"/>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2104" y="114300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Tập đánh giá nhỏ</a:t>
            </a:r>
          </a:p>
        </p:txBody>
      </p:sp>
      <p:sp>
        <p:nvSpPr>
          <p:cNvPr id="10" name="TextBox 9"/>
          <p:cNvSpPr txBox="1"/>
          <p:nvPr/>
        </p:nvSpPr>
        <p:spPr>
          <a:xfrm>
            <a:off x="832104" y="169164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Val và test mỗi tập chỉ 4 tài xế (khoảng 230 ảnh/lớp ở test). Chênh dưới khoảng 0,03 chưa phân biệt được với nhiễu.</a:t>
            </a:r>
          </a:p>
        </p:txBody>
      </p:sp>
      <p:sp>
        <p:nvSpPr>
          <p:cNvPr id="11" name="Rounded Rectangle 10"/>
          <p:cNvSpPr/>
          <p:nvPr/>
        </p:nvSpPr>
        <p:spPr>
          <a:xfrm>
            <a:off x="6245352" y="96012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115568"/>
            <a:ext cx="91440" cy="1655063"/>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01384" y="114300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Một lần chạy, một seed</a:t>
            </a:r>
          </a:p>
        </p:txBody>
      </p:sp>
      <p:sp>
        <p:nvSpPr>
          <p:cNvPr id="14" name="TextBox 13"/>
          <p:cNvSpPr txBox="1"/>
          <p:nvPr/>
        </p:nvSpPr>
        <p:spPr>
          <a:xfrm>
            <a:off x="6501384" y="169164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Chưa đo được độ dao động giữa các lần chạy; chưa dùng cross-validation theo tài xế.</a:t>
            </a:r>
          </a:p>
        </p:txBody>
      </p:sp>
      <p:sp>
        <p:nvSpPr>
          <p:cNvPr id="15" name="Rounded Rectangle 14"/>
          <p:cNvSpPr/>
          <p:nvPr/>
        </p:nvSpPr>
        <p:spPr>
          <a:xfrm>
            <a:off x="576072" y="315468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2064" y="3310128"/>
            <a:ext cx="91440" cy="1655063"/>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2104" y="333756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Tốc độ chưa đo trên chip thật</a:t>
            </a:r>
          </a:p>
        </p:txBody>
      </p:sp>
      <p:sp>
        <p:nvSpPr>
          <p:cNvPr id="18" name="TextBox 17"/>
          <p:cNvSpPr txBox="1"/>
          <p:nvPr/>
        </p:nvSpPr>
        <p:spPr>
          <a:xfrm>
            <a:off x="832104" y="388620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Độ trễ và FPS đo trên CPU máy tính (ONNX Runtime, 1 luồng): chỉ để xếp hạng tương đối.</a:t>
            </a:r>
          </a:p>
        </p:txBody>
      </p:sp>
      <p:sp>
        <p:nvSpPr>
          <p:cNvPr id="19" name="Rounded Rectangle 18"/>
          <p:cNvSpPr/>
          <p:nvPr/>
        </p:nvSpPr>
        <p:spPr>
          <a:xfrm>
            <a:off x="6245352" y="3154680"/>
            <a:ext cx="5394960" cy="196596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310128"/>
            <a:ext cx="91440" cy="1655063"/>
          </a:xfrm>
          <a:prstGeom prst="rect">
            <a:avLst/>
          </a:prstGeom>
          <a:solidFill>
            <a:srgbClr val="FFC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01384" y="3337560"/>
            <a:ext cx="4937760" cy="457200"/>
          </a:xfrm>
          <a:prstGeom prst="rect">
            <a:avLst/>
          </a:prstGeom>
          <a:noFill/>
        </p:spPr>
        <p:txBody>
          <a:bodyPr wrap="square" lIns="0" tIns="0" rIns="0" bIns="0" anchor="t">
            <a:spAutoFit/>
          </a:bodyPr>
          <a:lstStyle/>
          <a:p>
            <a:pPr algn="l">
              <a:spcAft>
                <a:spcPts val="600"/>
              </a:spcAft>
            </a:pPr>
            <a:r>
              <a:rPr sz="1900" b="1" i="0">
                <a:solidFill>
                  <a:srgbClr val="1D2939"/>
                </a:solidFill>
                <a:latin typeface="Arial"/>
              </a:rPr>
              <a:t>Phạm vi dữ liệu</a:t>
            </a:r>
          </a:p>
        </p:txBody>
      </p:sp>
      <p:sp>
        <p:nvSpPr>
          <p:cNvPr id="22" name="TextBox 21"/>
          <p:cNvSpPr txBox="1"/>
          <p:nvPr/>
        </p:nvSpPr>
        <p:spPr>
          <a:xfrm>
            <a:off x="6501384" y="3886200"/>
            <a:ext cx="4937760" cy="1143000"/>
          </a:xfrm>
          <a:prstGeom prst="rect">
            <a:avLst/>
          </a:prstGeom>
          <a:noFill/>
        </p:spPr>
        <p:txBody>
          <a:bodyPr wrap="square" lIns="0" tIns="0" rIns="0" bIns="0" anchor="t">
            <a:spAutoFit/>
          </a:bodyPr>
          <a:lstStyle/>
          <a:p>
            <a:pPr algn="l">
              <a:spcAft>
                <a:spcPts val="600"/>
              </a:spcAft>
            </a:pPr>
            <a:r>
              <a:rPr sz="1600" b="0" i="0">
                <a:solidFill>
                  <a:srgbClr val="474F67"/>
                </a:solidFill>
                <a:latin typeface="Arial"/>
              </a:rPr>
              <a:t>Chỉ State Farm (một góc camera, ban ngày). ResNet50 chỉ có điểm F1, chưa có số đo INT8.</a:t>
            </a:r>
          </a:p>
        </p:txBody>
      </p:sp>
      <p:sp>
        <p:nvSpPr>
          <p:cNvPr id="23" name="Rounded Rectangle 22"/>
          <p:cNvSpPr/>
          <p:nvPr/>
        </p:nvSpPr>
        <p:spPr>
          <a:xfrm>
            <a:off x="576072" y="5440680"/>
            <a:ext cx="11064240" cy="59436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440680"/>
            <a:ext cx="10607040" cy="594360"/>
          </a:xfrm>
          <a:prstGeom prst="rect">
            <a:avLst/>
          </a:prstGeom>
          <a:noFill/>
        </p:spPr>
        <p:txBody>
          <a:bodyPr wrap="square" lIns="0" tIns="0" rIns="0" bIns="0" anchor="ctr">
            <a:spAutoFit/>
          </a:bodyPr>
          <a:lstStyle/>
          <a:p>
            <a:pPr algn="l">
              <a:spcAft>
                <a:spcPts val="600"/>
              </a:spcAft>
            </a:pPr>
            <a:r>
              <a:rPr sz="1600" b="0" i="0">
                <a:solidFill>
                  <a:srgbClr val="1D2939"/>
                </a:solidFill>
                <a:latin typeface="Arial"/>
              </a:rPr>
              <a:t>Vì vậy: chỉ kết luận những chênh lệch lớn; số tốc độ chỉ để so sánh tương đối giữa các mô hình.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lang="en-US" sz="2400" b="1" dirty="0" err="1">
                <a:solidFill>
                  <a:srgbClr val="FFFFFF"/>
                </a:solidFill>
                <a:latin typeface="Arial"/>
              </a:rPr>
              <a:t>H</a:t>
            </a:r>
            <a:r>
              <a:rPr sz="2400" b="1" dirty="0" err="1">
                <a:solidFill>
                  <a:srgbClr val="FFFFFF"/>
                </a:solidFill>
                <a:latin typeface="Arial"/>
              </a:rPr>
              <a:t>ướng</a:t>
            </a:r>
            <a:r>
              <a:rPr sz="2400" b="1" dirty="0">
                <a:solidFill>
                  <a:srgbClr val="FFFFFF"/>
                </a:solidFill>
                <a:latin typeface="Arial"/>
              </a:rPr>
              <a:t> </a:t>
            </a:r>
            <a:r>
              <a:rPr sz="2400" b="1" dirty="0" err="1">
                <a:solidFill>
                  <a:srgbClr val="FFFFFF"/>
                </a:solidFill>
                <a:latin typeface="Arial"/>
              </a:rPr>
              <a:t>phát</a:t>
            </a:r>
            <a:r>
              <a:rPr sz="2400" b="1" dirty="0">
                <a:solidFill>
                  <a:srgbClr val="FFFFFF"/>
                </a:solidFill>
                <a:latin typeface="Arial"/>
              </a:rPr>
              <a:t> </a:t>
            </a:r>
            <a:r>
              <a:rPr sz="2400" b="1" dirty="0" err="1">
                <a:solidFill>
                  <a:srgbClr val="FFFFFF"/>
                </a:solidFill>
                <a:latin typeface="Arial"/>
              </a:rPr>
              <a:t>triển</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13</a:t>
            </a:fld>
            <a:endParaRPr lang="en-US"/>
          </a:p>
        </p:txBody>
      </p:sp>
      <p:sp>
        <p:nvSpPr>
          <p:cNvPr id="7" name="Rounded Rectangle 6"/>
          <p:cNvSpPr/>
          <p:nvPr/>
        </p:nvSpPr>
        <p:spPr>
          <a:xfrm>
            <a:off x="576072" y="960120"/>
            <a:ext cx="5394960" cy="3931920"/>
          </a:xfrm>
          <a:prstGeom prst="roundRect">
            <a:avLst>
              <a:gd name="adj" fmla="val 813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6210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097280"/>
            <a:ext cx="4983480" cy="3657600"/>
          </a:xfrm>
          <a:prstGeom prst="rect">
            <a:avLst/>
          </a:prstGeom>
          <a:noFill/>
        </p:spPr>
        <p:txBody>
          <a:bodyPr wrap="square" lIns="0" tIns="0" rIns="0" bIns="0" anchor="t">
            <a:spAutoFit/>
          </a:bodyPr>
          <a:lstStyle/>
          <a:p>
            <a:pPr algn="l">
              <a:spcAft>
                <a:spcPts val="1000"/>
              </a:spcAft>
            </a:pPr>
            <a:r>
              <a:rPr sz="1900" b="1" i="0">
                <a:solidFill>
                  <a:srgbClr val="1D2939"/>
                </a:solidFill>
                <a:latin typeface="Arial"/>
              </a:rPr>
              <a:t>Đang thực hiện (sẽ cập nhật)</a:t>
            </a:r>
          </a:p>
          <a:p>
            <a:pPr marL="256032" indent="-201168" algn="l">
              <a:spcAft>
                <a:spcPts val="1000"/>
              </a:spcAft>
              <a:buChar char="•"/>
            </a:pPr>
            <a:r>
              <a:rPr sz="1600" b="1" i="0">
                <a:solidFill>
                  <a:srgbClr val="1D2939"/>
                </a:solidFill>
                <a:latin typeface="Arial"/>
              </a:rPr>
              <a:t>Lượng tử hoá INT8: </a:t>
            </a:r>
            <a:r>
              <a:rPr sz="1600" b="0" i="0">
                <a:solidFill>
                  <a:srgbClr val="474F67"/>
                </a:solidFill>
                <a:latin typeface="Arial"/>
              </a:rPr>
              <a:t>kích thước, độ trễ, FPS, F1 trước và sau INT8; so sánh minmax, entropy, percentile</a:t>
            </a:r>
          </a:p>
          <a:p>
            <a:pPr marL="256032" indent="-201168" algn="l">
              <a:spcAft>
                <a:spcPts val="1000"/>
              </a:spcAft>
              <a:buChar char="•"/>
            </a:pPr>
            <a:r>
              <a:rPr sz="1600" b="1" i="0">
                <a:solidFill>
                  <a:srgbClr val="1D2939"/>
                </a:solidFill>
                <a:latin typeface="Arial"/>
              </a:rPr>
              <a:t>Phân tích lỗi: </a:t>
            </a:r>
            <a:r>
              <a:rPr sz="1600" b="0" i="0">
                <a:solidFill>
                  <a:srgbClr val="474F67"/>
                </a:solidFill>
                <a:latin typeface="Arial"/>
              </a:rPr>
              <a:t>confusion matrix, điểm từng tài xế, xem ảnh bị nhầm</a:t>
            </a:r>
          </a:p>
          <a:p>
            <a:pPr marL="256032" indent="-201168" algn="l">
              <a:spcAft>
                <a:spcPts val="1000"/>
              </a:spcAft>
              <a:buChar char="•"/>
            </a:pPr>
            <a:r>
              <a:rPr sz="1600" b="1" i="0">
                <a:solidFill>
                  <a:srgbClr val="1D2939"/>
                </a:solidFill>
                <a:latin typeface="Arial"/>
              </a:rPr>
              <a:t>Cải thiện: </a:t>
            </a:r>
            <a:r>
              <a:rPr sz="1600" b="0" i="0">
                <a:solidFill>
                  <a:srgbClr val="474F67"/>
                </a:solidFill>
                <a:latin typeface="Arial"/>
              </a:rPr>
              <a:t>class weight, augmentation mạnh hơn, ảnh 320×240 giữ tỉ lệ 4:3</a:t>
            </a:r>
          </a:p>
          <a:p>
            <a:pPr marL="256032" indent="-201168" algn="l">
              <a:spcAft>
                <a:spcPts val="1000"/>
              </a:spcAft>
              <a:buChar char="•"/>
            </a:pPr>
            <a:r>
              <a:rPr sz="1600" b="1" i="0">
                <a:solidFill>
                  <a:srgbClr val="1D2939"/>
                </a:solidFill>
                <a:latin typeface="Arial"/>
              </a:rPr>
              <a:t>Biểu đồ: </a:t>
            </a:r>
            <a:r>
              <a:rPr sz="1600" b="0" i="0">
                <a:solidFill>
                  <a:srgbClr val="474F67"/>
                </a:solidFill>
                <a:latin typeface="Arial"/>
              </a:rPr>
              <a:t>macro-F1 theo độ trễ để chọn mô hình cho edge</a:t>
            </a:r>
          </a:p>
        </p:txBody>
      </p:sp>
      <p:sp>
        <p:nvSpPr>
          <p:cNvPr id="10" name="Rounded Rectangle 9"/>
          <p:cNvSpPr/>
          <p:nvPr/>
        </p:nvSpPr>
        <p:spPr>
          <a:xfrm>
            <a:off x="6245352" y="960120"/>
            <a:ext cx="5394960" cy="3931920"/>
          </a:xfrm>
          <a:prstGeom prst="roundRect">
            <a:avLst>
              <a:gd name="adj" fmla="val 813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81344" y="1115568"/>
            <a:ext cx="91440" cy="362102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1097280"/>
            <a:ext cx="4983480" cy="3657600"/>
          </a:xfrm>
          <a:prstGeom prst="rect">
            <a:avLst/>
          </a:prstGeom>
          <a:noFill/>
        </p:spPr>
        <p:txBody>
          <a:bodyPr wrap="square" lIns="0" tIns="0" rIns="0" bIns="0" anchor="t">
            <a:spAutoFit/>
          </a:bodyPr>
          <a:lstStyle/>
          <a:p>
            <a:pPr algn="l">
              <a:spcAft>
                <a:spcPts val="1000"/>
              </a:spcAft>
            </a:pPr>
            <a:r>
              <a:rPr sz="1900" b="1" i="0">
                <a:solidFill>
                  <a:srgbClr val="1D2939"/>
                </a:solidFill>
                <a:latin typeface="Arial"/>
              </a:rPr>
              <a:t>Hướng phát triển (đồ án 3)</a:t>
            </a:r>
          </a:p>
          <a:p>
            <a:pPr marL="256032" indent="-201168" algn="l">
              <a:spcAft>
                <a:spcPts val="1000"/>
              </a:spcAft>
              <a:buChar char="•"/>
            </a:pPr>
            <a:r>
              <a:rPr sz="1600" b="1" i="0">
                <a:solidFill>
                  <a:srgbClr val="1D2939"/>
                </a:solidFill>
                <a:latin typeface="Arial"/>
              </a:rPr>
              <a:t>Đo trên chip edge thật: </a:t>
            </a:r>
            <a:r>
              <a:rPr sz="1600" b="0" i="0">
                <a:solidFill>
                  <a:srgbClr val="474F67"/>
                </a:solidFill>
                <a:latin typeface="Arial"/>
              </a:rPr>
              <a:t>FPS tuyệt đối, kiểm tra toán tử được hỗ trợ</a:t>
            </a:r>
          </a:p>
          <a:p>
            <a:pPr marL="256032" indent="-201168" algn="l">
              <a:spcAft>
                <a:spcPts val="1000"/>
              </a:spcAft>
              <a:buChar char="•"/>
            </a:pPr>
            <a:r>
              <a:rPr sz="1600" b="1" i="0">
                <a:solidFill>
                  <a:srgbClr val="1D2939"/>
                </a:solidFill>
                <a:latin typeface="Arial"/>
              </a:rPr>
              <a:t>Distillation: </a:t>
            </a:r>
            <a:r>
              <a:rPr sz="1600" b="0" i="0">
                <a:solidFill>
                  <a:srgbClr val="474F67"/>
                </a:solidFill>
                <a:latin typeface="Arial"/>
              </a:rPr>
              <a:t>dùng mô hình lớn dạy mô hình nhỏ, không tăng chi phí suy luận</a:t>
            </a:r>
          </a:p>
          <a:p>
            <a:pPr marL="256032" indent="-201168" algn="l">
              <a:spcAft>
                <a:spcPts val="1000"/>
              </a:spcAft>
              <a:buChar char="•"/>
            </a:pPr>
            <a:r>
              <a:rPr sz="1600" b="1" i="0">
                <a:solidFill>
                  <a:srgbClr val="1D2939"/>
                </a:solidFill>
                <a:latin typeface="Arial"/>
              </a:rPr>
              <a:t>Đánh giá chắc hơn: </a:t>
            </a:r>
            <a:r>
              <a:rPr sz="1600" b="0" i="0">
                <a:solidFill>
                  <a:srgbClr val="474F67"/>
                </a:solidFill>
                <a:latin typeface="Arial"/>
              </a:rPr>
              <a:t>nhiều seed, cross-validation theo tài xế</a:t>
            </a:r>
          </a:p>
          <a:p>
            <a:pPr marL="256032" indent="-201168" algn="l">
              <a:spcAft>
                <a:spcPts val="1000"/>
              </a:spcAft>
              <a:buChar char="•"/>
            </a:pPr>
            <a:r>
              <a:rPr sz="1600" b="1" i="0">
                <a:solidFill>
                  <a:srgbClr val="1D2939"/>
                </a:solidFill>
                <a:latin typeface="Arial"/>
              </a:rPr>
              <a:t>Dữ liệu mới: </a:t>
            </a:r>
            <a:r>
              <a:rPr sz="1600" b="0" i="0">
                <a:solidFill>
                  <a:srgbClr val="474F67"/>
                </a:solidFill>
                <a:latin typeface="Arial"/>
              </a:rPr>
              <a:t>Roboflow và video tự quay để đo khả năng tổng quát</a:t>
            </a:r>
          </a:p>
        </p:txBody>
      </p:sp>
      <p:sp>
        <p:nvSpPr>
          <p:cNvPr id="13" name="Rounded Rectangle 12"/>
          <p:cNvSpPr/>
          <p:nvPr/>
        </p:nvSpPr>
        <p:spPr>
          <a:xfrm>
            <a:off x="576072" y="5166360"/>
            <a:ext cx="11064240" cy="685800"/>
          </a:xfrm>
          <a:prstGeom prst="roundRect">
            <a:avLst>
              <a:gd name="adj" fmla="val 12000"/>
            </a:avLst>
          </a:prstGeom>
          <a:solidFill>
            <a:srgbClr val="F1F3F6"/>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5166360"/>
            <a:ext cx="10607040" cy="685800"/>
          </a:xfrm>
          <a:prstGeom prst="rect">
            <a:avLst/>
          </a:prstGeom>
          <a:noFill/>
        </p:spPr>
        <p:txBody>
          <a:bodyPr wrap="square" lIns="0" tIns="0" rIns="0" bIns="0" anchor="ctr">
            <a:spAutoFit/>
          </a:bodyPr>
          <a:lstStyle/>
          <a:p>
            <a:pPr algn="l">
              <a:spcAft>
                <a:spcPts val="600"/>
              </a:spcAft>
            </a:pPr>
            <a:r>
              <a:rPr sz="1600" b="1" i="0">
                <a:solidFill>
                  <a:srgbClr val="1D2939"/>
                </a:solidFill>
                <a:latin typeface="Arial"/>
              </a:rPr>
              <a:t>Kết luận tạm thời: </a:t>
            </a:r>
            <a:r>
              <a:rPr sz="1600" b="0" i="0">
                <a:solidFill>
                  <a:srgbClr val="1D2939"/>
                </a:solidFill>
                <a:latin typeface="Arial"/>
              </a:rPr>
              <a:t>mô hình nhẹ (EfficientNet-Lite0, MobileNetV3-Small) không thua mô hình nặng; INT8 sẽ cho biết mô hình nào khả thi nhất cho 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5396</TotalTime>
  <Words>2154</Words>
  <Application>Microsoft Office PowerPoint</Application>
  <PresentationFormat>Widescreen</PresentationFormat>
  <Paragraphs>203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PowerPoint Presentation</vt:lpstr>
      <vt:lpstr>Bài toán </vt:lpstr>
      <vt:lpstr>Dữ liệu: State Farm Distracted Driver</vt:lpstr>
      <vt:lpstr>Xử lý dữ liệu</vt:lpstr>
      <vt:lpstr>Giao thức thí nghiệm</vt:lpstr>
      <vt:lpstr>Các mô hình so sánh</vt:lpstr>
      <vt:lpstr>Kết quả: macro-F1 trên val và test</vt:lpstr>
      <vt:lpstr>Phát hiện chính</vt:lpstr>
      <vt:lpstr>Dò siêu tham số trên MobileNetV3-Small</vt:lpstr>
      <vt:lpstr>Từ mô hình huấn luyện đến mô hình edge</vt:lpstr>
      <vt:lpstr>Ví dụ của chúng tôi: INT8 làm điểm giảm</vt:lpstr>
      <vt:lpstr>Hạn chế</vt:lpstr>
      <vt:lpstr>Hướng phát triển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ADMIN-PC</cp:lastModifiedBy>
  <cp:revision>264</cp:revision>
  <cp:lastPrinted>2023-12-27T01:57:00Z</cp:lastPrinted>
  <dcterms:created xsi:type="dcterms:W3CDTF">2023-08-08T03:48:00Z</dcterms:created>
  <dcterms:modified xsi:type="dcterms:W3CDTF">2026-10-13T03:08:21Z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