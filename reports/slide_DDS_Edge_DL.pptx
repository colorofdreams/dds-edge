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94660"/>
  </p:normalViewPr>
  <p:slideViewPr>
    <p:cSldViewPr snapToGrid="0" showGuides="1">
      <p:cViewPr varScale="1">
        <p:scale>
          <a:sx n="111" d="100"/>
          <a:sy n="111" d="100"/>
        </p:scale>
        <p:origin x="642" y="96"/>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Val macro-F1 (epoch tốt nhất)</c:v>
                </c:pt>
              </c:strCache>
            </c:strRef>
          </c:tx>
          <c:spPr>
            <a:solidFill>
              <a:srgbClr val="C9CED6"/>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0.872</c:v>
                </c:pt>
                <c:pt idx="1">
                  <c:v>0.88900000000000001</c:v>
                </c:pt>
                <c:pt idx="2">
                  <c:v>0.90200000000000002</c:v>
                </c:pt>
                <c:pt idx="3">
                  <c:v>0.94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B8-4E59-9ACB-871ADCAC7EDB}"/>
            </c:ext>
          </c:extLst>
        </c:ser>
        <c:ser>
          <c:idx val="1"/>
          <c:order val="1"/>
          <c:tx>
            <c:strRef>
              <c:f>Sheet1!$C$1</c:f>
              <c:strCache>
                <c:ptCount val="1"/>
                <c:pt idx="0">
                  <c:v>Test macro-F1</c:v>
                </c:pt>
              </c:strCache>
            </c:strRef>
          </c:tx>
          <c:spPr>
            <a:solidFill>
              <a:srgbClr val="00A95C"/>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0.752</c:v>
                </c:pt>
                <c:pt idx="1">
                  <c:v>0.78600000000000003</c:v>
                </c:pt>
                <c:pt idx="2">
                  <c:v>0.752</c:v>
                </c:pt>
                <c:pt idx="3">
                  <c:v>0.746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B8-4E59-9ACB-871ADCAC7ED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3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1"/>
          <c:min val="0.6"/>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1"/>
      </c:valAx>
    </c:plotArea>
    <c:legend>
      <c:legendPos val="b"/>
      <c:overlay val="0"/>
      <c:txPr>
        <a:bodyPr/>
        <a:lstStyle/>
        <a:p>
          <a:pPr>
            <a:defRPr sz="13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10/13/2026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10/13/2026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nghiên cứu ứng dụng: không chỉ so điểm mà còn đo tốc độ và tính khả thi triển khai. Mô hình lớn vẫn được đưa vào làm mốc so sánh.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Cột xám là val macro-F1 ở epoch tốt nhất, cột xanh là test macro-F1. Mọi mô hình đều vượt xa mốc đoán đa số. Thứ hạng trên val và trên test không giống nhau.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 điều rút ra: mô hình nhẹ không thua mô hình nặng; điểm val lạc quan vì val chỉ có 4 tài xế; lớp nói chuyện với hành khách là điểm yếu chung. Test chỉ có 4 tài xế và một seed nên chênh dưới 0,03 chưa chắc là thật.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lần chỉ đổi một tham số so với baseline. lr 3e-3 có val cao nhất nhưng test không tăng, thêm một bằng chứng val 4 tài xế không đáng tin để chọn cấu hình.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hạn chế này quyết định cách đọc kết quả: chỉ kết luận những chênh lệch lớn, và số tốc độ chỉ có ý nghĩa tương đối cho đến khi đo trên thiết bị edge.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INT8, phân tích lỗi và cải thiện đang chạy; kết quả sẽ được thêm vào slide khi có. Phần đo trên thiết bị thật thuộc đồ án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8"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8"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9"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a:t>
            </a:fld>
            <a:endParaRPr lang="en-US"/>
          </a:p>
        </p:txBody>
      </p:sp>
      <p:sp>
        <p:nvSpPr>
          <p:cNvPr id="7" name="DeckTitle"/>
          <p:cNvSpPr txBox="1"/>
          <p:nvPr/>
        </p:nvSpPr>
        <p:spPr>
          <a:xfrm>
            <a:off x="344538" y="2755910"/>
            <a:ext cx="7589520" cy="523220"/>
          </a:xfrm>
          <a:prstGeom prst="rect">
            <a:avLst/>
          </a:prstGeom>
          <a:noFill/>
        </p:spPr>
        <p:txBody>
          <a:bodyPr wrap="square" lIns="0" tIns="0" rIns="0" bIns="0" anchor="t">
            <a:spAutoFit/>
          </a:bodyPr>
          <a:lstStyle/>
          <a:p>
            <a:pPr algn="l">
              <a:spcAft>
                <a:spcPts val="1000"/>
              </a:spcAft>
            </a:pPr>
            <a:r>
              <a:rPr sz="3400" b="1" i="0" dirty="0" err="1">
                <a:solidFill>
                  <a:srgbClr val="000000"/>
                </a:solidFill>
                <a:latin typeface="Arial"/>
              </a:rPr>
              <a:t>Nhận</a:t>
            </a:r>
            <a:r>
              <a:rPr sz="3400" b="1" i="0" dirty="0">
                <a:solidFill>
                  <a:srgbClr val="000000"/>
                </a:solidFill>
                <a:latin typeface="Arial"/>
              </a:rPr>
              <a:t> </a:t>
            </a:r>
            <a:r>
              <a:rPr sz="3400" b="1" i="0" dirty="0" err="1">
                <a:solidFill>
                  <a:srgbClr val="000000"/>
                </a:solidFill>
                <a:latin typeface="Arial"/>
              </a:rPr>
              <a:t>diện</a:t>
            </a:r>
            <a:r>
              <a:rPr sz="3400" b="1" i="0" dirty="0">
                <a:solidFill>
                  <a:srgbClr val="000000"/>
                </a:solidFill>
                <a:latin typeface="Arial"/>
              </a:rPr>
              <a:t> </a:t>
            </a:r>
            <a:r>
              <a:rPr sz="3400" b="1" i="0" dirty="0" err="1">
                <a:solidFill>
                  <a:srgbClr val="000000"/>
                </a:solidFill>
                <a:latin typeface="Arial"/>
              </a:rPr>
              <a:t>tài</a:t>
            </a:r>
            <a:r>
              <a:rPr sz="3400" b="1" i="0" dirty="0">
                <a:solidFill>
                  <a:srgbClr val="000000"/>
                </a:solidFill>
                <a:latin typeface="Arial"/>
              </a:rPr>
              <a:t> </a:t>
            </a:r>
            <a:r>
              <a:rPr sz="3400" b="1" i="0" dirty="0" err="1">
                <a:solidFill>
                  <a:srgbClr val="000000"/>
                </a:solidFill>
                <a:latin typeface="Arial"/>
              </a:rPr>
              <a:t>xế</a:t>
            </a:r>
            <a:r>
              <a:rPr sz="3400" b="1" i="0" dirty="0">
                <a:solidFill>
                  <a:srgbClr val="000000"/>
                </a:solidFill>
                <a:latin typeface="Arial"/>
              </a:rPr>
              <a:t> </a:t>
            </a:r>
            <a:r>
              <a:rPr sz="3400" b="1" i="0" dirty="0" err="1">
                <a:solidFill>
                  <a:srgbClr val="000000"/>
                </a:solidFill>
                <a:latin typeface="Arial"/>
              </a:rPr>
              <a:t>mất</a:t>
            </a:r>
            <a:r>
              <a:rPr sz="3400" b="1" i="0" dirty="0">
                <a:solidFill>
                  <a:srgbClr val="000000"/>
                </a:solidFill>
                <a:latin typeface="Arial"/>
              </a:rPr>
              <a:t> </a:t>
            </a:r>
            <a:r>
              <a:rPr sz="3400" b="1" i="0" dirty="0" err="1">
                <a:solidFill>
                  <a:srgbClr val="000000"/>
                </a:solidFill>
                <a:latin typeface="Arial"/>
              </a:rPr>
              <a:t>tập</a:t>
            </a:r>
            <a:r>
              <a:rPr sz="3400" b="1" i="0" dirty="0">
                <a:solidFill>
                  <a:srgbClr val="000000"/>
                </a:solidFill>
                <a:latin typeface="Arial"/>
              </a:rPr>
              <a:t> </a:t>
            </a:r>
            <a:r>
              <a:rPr sz="3400" b="1" i="0" dirty="0" err="1">
                <a:solidFill>
                  <a:srgbClr val="000000"/>
                </a:solidFill>
                <a:latin typeface="Arial"/>
              </a:rPr>
              <a:t>trung</a:t>
            </a:r>
            <a:endParaRPr sz="2600" b="0" i="0" dirty="0">
              <a:solidFill>
                <a:srgbClr val="474F67"/>
              </a:solidFill>
              <a:latin typeface="Arial"/>
            </a:endParaRPr>
          </a:p>
        </p:txBody>
      </p:sp>
      <p:sp>
        <p:nvSpPr>
          <p:cNvPr id="9" name="TextBox 8"/>
          <p:cNvSpPr txBox="1"/>
          <p:nvPr/>
        </p:nvSpPr>
        <p:spPr>
          <a:xfrm>
            <a:off x="756537" y="4050101"/>
            <a:ext cx="6035040" cy="502920"/>
          </a:xfrm>
          <a:prstGeom prst="rect">
            <a:avLst/>
          </a:prstGeom>
          <a:noFill/>
        </p:spPr>
        <p:txBody>
          <a:bodyPr wrap="square" lIns="0" tIns="0" rIns="0" bIns="0" anchor="t">
            <a:spAutoFit/>
          </a:bodyPr>
          <a:lstStyle/>
          <a:p>
            <a:pPr algn="l">
              <a:spcAft>
                <a:spcPts val="600"/>
              </a:spcAft>
            </a:pPr>
            <a:r>
              <a:rPr sz="2800" b="0" i="0" dirty="0">
                <a:solidFill>
                  <a:srgbClr val="000000"/>
                </a:solidFill>
                <a:latin typeface="Arial"/>
              </a:rPr>
              <a:t>Presenter: Huy Tran Gia</a:t>
            </a:r>
          </a:p>
        </p:txBody>
      </p:sp>
      <p:pic>
        <p:nvPicPr>
          <p:cNvPr id="3" name="Picture 2">
            <a:extLst>
              <a:ext uri="{FF2B5EF4-FFF2-40B4-BE49-F238E27FC236}">
                <a16:creationId xmlns:a16="http://schemas.microsoft.com/office/drawing/2014/main" id="{7AF56CD6-8D33-CEFC-5305-A30B00764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1577" y="1577915"/>
            <a:ext cx="5057775" cy="3581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err="1">
                <a:solidFill>
                  <a:srgbClr val="FFFFFF"/>
                </a:solidFill>
                <a:latin typeface="Arial"/>
              </a:rPr>
              <a:t>Bài</a:t>
            </a:r>
            <a:r>
              <a:rPr sz="2400" b="1" dirty="0">
                <a:solidFill>
                  <a:srgbClr val="FFFFFF"/>
                </a:solidFill>
                <a:latin typeface="Arial"/>
              </a:rPr>
              <a:t> </a:t>
            </a:r>
            <a:r>
              <a:rPr sz="2400" b="1" dirty="0" err="1">
                <a:solidFill>
                  <a:srgbClr val="FFFFFF"/>
                </a:solidFill>
                <a:latin typeface="Arial"/>
              </a:rPr>
              <a:t>toán</a:t>
            </a:r>
            <a:r>
              <a:rPr sz="2400" b="1" dirty="0">
                <a:solidFill>
                  <a:srgbClr val="FFFFFF"/>
                </a:solidFill>
                <a:latin typeface="Arial"/>
              </a:rPr>
              <a:t> </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2</a:t>
            </a:fld>
            <a:endParaRPr lang="en-US"/>
          </a:p>
        </p:txBody>
      </p:sp>
      <p:sp>
        <p:nvSpPr>
          <p:cNvPr id="7" name="TextBox 6"/>
          <p:cNvSpPr txBox="1"/>
          <p:nvPr/>
        </p:nvSpPr>
        <p:spPr>
          <a:xfrm>
            <a:off x="576072" y="914400"/>
            <a:ext cx="11064240" cy="553998"/>
          </a:xfrm>
          <a:prstGeom prst="rect">
            <a:avLst/>
          </a:prstGeom>
          <a:noFill/>
        </p:spPr>
        <p:txBody>
          <a:bodyPr wrap="square" lIns="0" tIns="0" rIns="0" bIns="0" anchor="t">
            <a:spAutoFit/>
          </a:bodyPr>
          <a:lstStyle/>
          <a:p>
            <a:pPr algn="l">
              <a:spcAft>
                <a:spcPts val="600"/>
              </a:spcAft>
            </a:pPr>
            <a:r>
              <a:rPr sz="1800" b="1" i="0" dirty="0" err="1">
                <a:solidFill>
                  <a:srgbClr val="1D2939"/>
                </a:solidFill>
                <a:latin typeface="Arial"/>
              </a:rPr>
              <a:t>Bài</a:t>
            </a:r>
            <a:r>
              <a:rPr sz="1800" b="1" i="0" dirty="0">
                <a:solidFill>
                  <a:srgbClr val="1D2939"/>
                </a:solidFill>
                <a:latin typeface="Arial"/>
              </a:rPr>
              <a:t> </a:t>
            </a:r>
            <a:r>
              <a:rPr sz="1800" b="1" i="0" dirty="0" err="1">
                <a:solidFill>
                  <a:srgbClr val="1D2939"/>
                </a:solidFill>
                <a:latin typeface="Arial"/>
              </a:rPr>
              <a:t>toán</a:t>
            </a:r>
            <a:r>
              <a:rPr sz="1800" b="1" i="0" dirty="0">
                <a:solidFill>
                  <a:srgbClr val="1D2939"/>
                </a:solidFill>
                <a:latin typeface="Arial"/>
              </a:rPr>
              <a:t>: </a:t>
            </a:r>
            <a:r>
              <a:rPr sz="1800" b="0" i="0" dirty="0" err="1">
                <a:solidFill>
                  <a:srgbClr val="474F67"/>
                </a:solidFill>
                <a:latin typeface="Arial"/>
              </a:rPr>
              <a:t>từ</a:t>
            </a:r>
            <a:r>
              <a:rPr sz="1800" b="0" i="0" dirty="0">
                <a:solidFill>
                  <a:srgbClr val="474F67"/>
                </a:solidFill>
                <a:latin typeface="Arial"/>
              </a:rPr>
              <a:t> </a:t>
            </a:r>
            <a:r>
              <a:rPr sz="1800" b="0" i="0" dirty="0" err="1">
                <a:solidFill>
                  <a:srgbClr val="474F67"/>
                </a:solidFill>
                <a:latin typeface="Arial"/>
              </a:rPr>
              <a:t>một</a:t>
            </a:r>
            <a:r>
              <a:rPr sz="1800" b="0" i="0" dirty="0">
                <a:solidFill>
                  <a:srgbClr val="474F67"/>
                </a:solidFill>
                <a:latin typeface="Arial"/>
              </a:rPr>
              <a:t> </a:t>
            </a:r>
            <a:r>
              <a:rPr sz="1800" b="0" i="0" dirty="0" err="1">
                <a:solidFill>
                  <a:srgbClr val="474F67"/>
                </a:solidFill>
                <a:latin typeface="Arial"/>
              </a:rPr>
              <a:t>ảnh</a:t>
            </a:r>
            <a:r>
              <a:rPr sz="1800" b="0" i="0" dirty="0">
                <a:solidFill>
                  <a:srgbClr val="474F67"/>
                </a:solidFill>
                <a:latin typeface="Arial"/>
              </a:rPr>
              <a:t> camera </a:t>
            </a:r>
            <a:r>
              <a:rPr sz="1800" b="0" i="0" dirty="0" err="1">
                <a:solidFill>
                  <a:srgbClr val="474F67"/>
                </a:solidFill>
                <a:latin typeface="Arial"/>
              </a:rPr>
              <a:t>trong</a:t>
            </a:r>
            <a:r>
              <a:rPr sz="1800" b="0" i="0" dirty="0">
                <a:solidFill>
                  <a:srgbClr val="474F67"/>
                </a:solidFill>
                <a:latin typeface="Arial"/>
              </a:rPr>
              <a:t> </a:t>
            </a:r>
            <a:r>
              <a:rPr sz="1800" b="0" i="0" dirty="0" err="1">
                <a:solidFill>
                  <a:srgbClr val="474F67"/>
                </a:solidFill>
                <a:latin typeface="Arial"/>
              </a:rPr>
              <a:t>xe</a:t>
            </a:r>
            <a:r>
              <a:rPr sz="1800" b="0" i="0" dirty="0">
                <a:solidFill>
                  <a:srgbClr val="474F67"/>
                </a:solidFill>
                <a:latin typeface="Arial"/>
              </a:rPr>
              <a:t>, </a:t>
            </a:r>
            <a:r>
              <a:rPr sz="1800" b="0" i="0" dirty="0" err="1">
                <a:solidFill>
                  <a:srgbClr val="474F67"/>
                </a:solidFill>
                <a:latin typeface="Arial"/>
              </a:rPr>
              <a:t>phân</a:t>
            </a:r>
            <a:r>
              <a:rPr sz="1800" b="0" i="0" dirty="0">
                <a:solidFill>
                  <a:srgbClr val="474F67"/>
                </a:solidFill>
                <a:latin typeface="Arial"/>
              </a:rPr>
              <a:t> </a:t>
            </a:r>
            <a:r>
              <a:rPr sz="1800" b="0" i="0" dirty="0" err="1">
                <a:solidFill>
                  <a:srgbClr val="474F67"/>
                </a:solidFill>
                <a:latin typeface="Arial"/>
              </a:rPr>
              <a:t>loại</a:t>
            </a:r>
            <a:r>
              <a:rPr sz="1800" b="0" i="0" dirty="0">
                <a:solidFill>
                  <a:srgbClr val="474F67"/>
                </a:solidFill>
                <a:latin typeface="Arial"/>
              </a:rPr>
              <a:t> </a:t>
            </a:r>
            <a:r>
              <a:rPr sz="1800" b="0" i="0" dirty="0" err="1">
                <a:solidFill>
                  <a:srgbClr val="474F67"/>
                </a:solidFill>
                <a:latin typeface="Arial"/>
              </a:rPr>
              <a:t>tài</a:t>
            </a:r>
            <a:r>
              <a:rPr sz="1800" b="0" i="0" dirty="0">
                <a:solidFill>
                  <a:srgbClr val="474F67"/>
                </a:solidFill>
                <a:latin typeface="Arial"/>
              </a:rPr>
              <a:t> </a:t>
            </a:r>
            <a:r>
              <a:rPr sz="1800" b="0" i="0" dirty="0" err="1">
                <a:solidFill>
                  <a:srgbClr val="474F67"/>
                </a:solidFill>
                <a:latin typeface="Arial"/>
              </a:rPr>
              <a:t>xế</a:t>
            </a:r>
            <a:r>
              <a:rPr sz="1800" b="0" i="0" dirty="0">
                <a:solidFill>
                  <a:srgbClr val="474F67"/>
                </a:solidFill>
                <a:latin typeface="Arial"/>
              </a:rPr>
              <a:t> </a:t>
            </a:r>
            <a:r>
              <a:rPr sz="1800" b="0" i="0" dirty="0" err="1">
                <a:solidFill>
                  <a:srgbClr val="474F67"/>
                </a:solidFill>
                <a:latin typeface="Arial"/>
              </a:rPr>
              <a:t>đang</a:t>
            </a:r>
            <a:r>
              <a:rPr sz="1800" b="0" i="0" dirty="0">
                <a:solidFill>
                  <a:srgbClr val="474F67"/>
                </a:solidFill>
                <a:latin typeface="Arial"/>
              </a:rPr>
              <a:t> </a:t>
            </a:r>
            <a:r>
              <a:rPr sz="1800" b="0" i="0" dirty="0" err="1">
                <a:solidFill>
                  <a:srgbClr val="474F67"/>
                </a:solidFill>
                <a:latin typeface="Arial"/>
              </a:rPr>
              <a:t>làm</a:t>
            </a:r>
            <a:r>
              <a:rPr sz="1800" b="0" i="0" dirty="0">
                <a:solidFill>
                  <a:srgbClr val="474F67"/>
                </a:solidFill>
                <a:latin typeface="Arial"/>
              </a:rPr>
              <a:t> </a:t>
            </a:r>
            <a:r>
              <a:rPr sz="1800" b="0" i="0" dirty="0" err="1">
                <a:solidFill>
                  <a:srgbClr val="474F67"/>
                </a:solidFill>
                <a:latin typeface="Arial"/>
              </a:rPr>
              <a:t>gì</a:t>
            </a:r>
            <a:r>
              <a:rPr lang="en-US" dirty="0" err="1">
                <a:solidFill>
                  <a:srgbClr val="474F67"/>
                </a:solidFill>
                <a:latin typeface="Arial"/>
              </a:rPr>
              <a:t>.</a:t>
            </a:r>
            <a:r>
              <a:rPr sz="1800" b="0" i="0" dirty="0" err="1">
                <a:solidFill>
                  <a:srgbClr val="474F67"/>
                </a:solidFill>
                <a:latin typeface="Arial"/>
              </a:rPr>
              <a:t>Mô</a:t>
            </a:r>
            <a:r>
              <a:rPr sz="1800" b="0" i="0" dirty="0">
                <a:solidFill>
                  <a:srgbClr val="474F67"/>
                </a:solidFill>
                <a:latin typeface="Arial"/>
              </a:rPr>
              <a:t> </a:t>
            </a:r>
            <a:r>
              <a:rPr sz="1800" b="0" i="0" dirty="0" err="1">
                <a:solidFill>
                  <a:srgbClr val="474F67"/>
                </a:solidFill>
                <a:latin typeface="Arial"/>
              </a:rPr>
              <a:t>hình</a:t>
            </a:r>
            <a:r>
              <a:rPr sz="1800" b="0" i="0" dirty="0">
                <a:solidFill>
                  <a:srgbClr val="474F67"/>
                </a:solidFill>
                <a:latin typeface="Arial"/>
              </a:rPr>
              <a:t> </a:t>
            </a:r>
            <a:r>
              <a:rPr sz="1800" b="0" i="0" dirty="0" err="1">
                <a:solidFill>
                  <a:srgbClr val="474F67"/>
                </a:solidFill>
                <a:latin typeface="Arial"/>
              </a:rPr>
              <a:t>phải</a:t>
            </a:r>
            <a:r>
              <a:rPr sz="1800" b="0" i="0" dirty="0">
                <a:solidFill>
                  <a:srgbClr val="474F67"/>
                </a:solidFill>
                <a:latin typeface="Arial"/>
              </a:rPr>
              <a:t> </a:t>
            </a:r>
            <a:r>
              <a:rPr sz="1800" b="0" i="0" dirty="0" err="1">
                <a:solidFill>
                  <a:srgbClr val="474F67"/>
                </a:solidFill>
                <a:latin typeface="Arial"/>
              </a:rPr>
              <a:t>chạy</a:t>
            </a:r>
            <a:r>
              <a:rPr sz="1800" b="0" i="0" dirty="0">
                <a:solidFill>
                  <a:srgbClr val="474F67"/>
                </a:solidFill>
                <a:latin typeface="Arial"/>
              </a:rPr>
              <a:t> </a:t>
            </a:r>
            <a:r>
              <a:rPr sz="1800" b="0" i="0" dirty="0" err="1">
                <a:solidFill>
                  <a:srgbClr val="474F67"/>
                </a:solidFill>
                <a:latin typeface="Arial"/>
              </a:rPr>
              <a:t>được</a:t>
            </a:r>
            <a:r>
              <a:rPr sz="1800" b="0" i="0" dirty="0">
                <a:solidFill>
                  <a:srgbClr val="474F67"/>
                </a:solidFill>
                <a:latin typeface="Arial"/>
              </a:rPr>
              <a:t> </a:t>
            </a:r>
            <a:r>
              <a:rPr sz="1800" b="0" i="0" dirty="0" err="1">
                <a:solidFill>
                  <a:srgbClr val="474F67"/>
                </a:solidFill>
                <a:latin typeface="Arial"/>
              </a:rPr>
              <a:t>trên</a:t>
            </a:r>
            <a:r>
              <a:rPr sz="1800" b="0" i="0" dirty="0">
                <a:solidFill>
                  <a:srgbClr val="474F67"/>
                </a:solidFill>
                <a:latin typeface="Arial"/>
              </a:rPr>
              <a:t> </a:t>
            </a:r>
            <a:r>
              <a:rPr sz="1800" b="0" i="0" dirty="0" err="1">
                <a:solidFill>
                  <a:srgbClr val="474F67"/>
                </a:solidFill>
                <a:latin typeface="Arial"/>
              </a:rPr>
              <a:t>thiết</a:t>
            </a:r>
            <a:r>
              <a:rPr sz="1800" b="0" i="0" dirty="0">
                <a:solidFill>
                  <a:srgbClr val="474F67"/>
                </a:solidFill>
                <a:latin typeface="Arial"/>
              </a:rPr>
              <a:t> </a:t>
            </a:r>
            <a:r>
              <a:rPr sz="1800" b="0" i="0" dirty="0" err="1">
                <a:solidFill>
                  <a:srgbClr val="474F67"/>
                </a:solidFill>
                <a:latin typeface="Arial"/>
              </a:rPr>
              <a:t>bị</a:t>
            </a:r>
            <a:r>
              <a:rPr sz="1800" b="0" i="0" dirty="0">
                <a:solidFill>
                  <a:srgbClr val="474F67"/>
                </a:solidFill>
                <a:latin typeface="Arial"/>
              </a:rPr>
              <a:t> edge: </a:t>
            </a:r>
            <a:r>
              <a:rPr sz="1800" b="0" i="0" dirty="0" err="1">
                <a:solidFill>
                  <a:srgbClr val="474F67"/>
                </a:solidFill>
                <a:latin typeface="Arial"/>
              </a:rPr>
              <a:t>nhỏ</a:t>
            </a:r>
            <a:r>
              <a:rPr sz="1800" b="0" i="0" dirty="0">
                <a:solidFill>
                  <a:srgbClr val="474F67"/>
                </a:solidFill>
                <a:latin typeface="Arial"/>
              </a:rPr>
              <a:t>, </a:t>
            </a:r>
            <a:r>
              <a:rPr sz="1800" b="0" i="0" dirty="0" err="1">
                <a:solidFill>
                  <a:srgbClr val="474F67"/>
                </a:solidFill>
                <a:latin typeface="Arial"/>
              </a:rPr>
              <a:t>nhanh</a:t>
            </a:r>
            <a:r>
              <a:rPr sz="1800" b="0" i="0" dirty="0">
                <a:solidFill>
                  <a:srgbClr val="474F67"/>
                </a:solidFill>
                <a:latin typeface="Arial"/>
              </a:rPr>
              <a:t>, </a:t>
            </a:r>
            <a:r>
              <a:rPr sz="1800" b="0" i="0" dirty="0" err="1">
                <a:solidFill>
                  <a:srgbClr val="474F67"/>
                </a:solidFill>
                <a:latin typeface="Arial"/>
              </a:rPr>
              <a:t>tiết</a:t>
            </a:r>
            <a:r>
              <a:rPr sz="1800" b="0" i="0" dirty="0">
                <a:solidFill>
                  <a:srgbClr val="474F67"/>
                </a:solidFill>
                <a:latin typeface="Arial"/>
              </a:rPr>
              <a:t> </a:t>
            </a:r>
            <a:r>
              <a:rPr sz="1800" b="0" i="0" dirty="0" err="1">
                <a:solidFill>
                  <a:srgbClr val="474F67"/>
                </a:solidFill>
                <a:latin typeface="Arial"/>
              </a:rPr>
              <a:t>kiệm</a:t>
            </a:r>
            <a:r>
              <a:rPr sz="1800" b="0" i="0" dirty="0">
                <a:solidFill>
                  <a:srgbClr val="474F67"/>
                </a:solidFill>
                <a:latin typeface="Arial"/>
              </a:rPr>
              <a:t> </a:t>
            </a:r>
            <a:r>
              <a:rPr sz="1800" b="0" i="0" dirty="0" err="1">
                <a:solidFill>
                  <a:srgbClr val="474F67"/>
                </a:solidFill>
                <a:latin typeface="Arial"/>
              </a:rPr>
              <a:t>bộ</a:t>
            </a:r>
            <a:r>
              <a:rPr sz="1800" b="0" i="0" dirty="0">
                <a:solidFill>
                  <a:srgbClr val="474F67"/>
                </a:solidFill>
                <a:latin typeface="Arial"/>
              </a:rPr>
              <a:t> </a:t>
            </a:r>
            <a:r>
              <a:rPr sz="1800" b="0" i="0" dirty="0" err="1">
                <a:solidFill>
                  <a:srgbClr val="474F67"/>
                </a:solidFill>
                <a:latin typeface="Arial"/>
              </a:rPr>
              <a:t>nhớ</a:t>
            </a:r>
            <a:r>
              <a:rPr sz="1800" b="0" i="0" dirty="0">
                <a:solidFill>
                  <a:srgbClr val="474F67"/>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Dữ liệu: State Farm Distracted Driver</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3</a:t>
            </a:fld>
            <a:endParaRPr lang="en-US"/>
          </a:p>
        </p:txBody>
      </p:sp>
      <p:sp>
        <p:nvSpPr>
          <p:cNvPr id="7" name="Rounded Rectangle 6"/>
          <p:cNvSpPr/>
          <p:nvPr/>
        </p:nvSpPr>
        <p:spPr>
          <a:xfrm>
            <a:off x="576072"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22.424</a:t>
            </a:r>
          </a:p>
        </p:txBody>
      </p:sp>
      <p:sp>
        <p:nvSpPr>
          <p:cNvPr id="9" name="TextBox 8"/>
          <p:cNvSpPr txBox="1"/>
          <p:nvPr/>
        </p:nvSpPr>
        <p:spPr>
          <a:xfrm>
            <a:off x="576072"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có nhãn</a:t>
            </a:r>
          </a:p>
        </p:txBody>
      </p:sp>
      <p:sp>
        <p:nvSpPr>
          <p:cNvPr id="10" name="Rounded Rectangle 9"/>
          <p:cNvSpPr/>
          <p:nvPr/>
        </p:nvSpPr>
        <p:spPr>
          <a:xfrm>
            <a:off x="3374136"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74136"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26</a:t>
            </a:r>
          </a:p>
        </p:txBody>
      </p:sp>
      <p:sp>
        <p:nvSpPr>
          <p:cNvPr id="12" name="TextBox 11"/>
          <p:cNvSpPr txBox="1"/>
          <p:nvPr/>
        </p:nvSpPr>
        <p:spPr>
          <a:xfrm>
            <a:off x="3374136"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tài xế</a:t>
            </a:r>
          </a:p>
        </p:txBody>
      </p:sp>
      <p:sp>
        <p:nvSpPr>
          <p:cNvPr id="13" name="Rounded Rectangle 12"/>
          <p:cNvSpPr/>
          <p:nvPr/>
        </p:nvSpPr>
        <p:spPr>
          <a:xfrm>
            <a:off x="6172200"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10 → 6</a:t>
            </a:r>
          </a:p>
        </p:txBody>
      </p:sp>
      <p:sp>
        <p:nvSpPr>
          <p:cNvPr id="15" name="TextBox 14"/>
          <p:cNvSpPr txBox="1"/>
          <p:nvPr/>
        </p:nvSpPr>
        <p:spPr>
          <a:xfrm>
            <a:off x="6172200"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lớp hành vi</a:t>
            </a:r>
          </a:p>
        </p:txBody>
      </p:sp>
      <p:sp>
        <p:nvSpPr>
          <p:cNvPr id="16" name="Rounded Rectangle 15"/>
          <p:cNvSpPr/>
          <p:nvPr/>
        </p:nvSpPr>
        <p:spPr>
          <a:xfrm>
            <a:off x="8970264"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70264"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640×480</a:t>
            </a:r>
          </a:p>
        </p:txBody>
      </p:sp>
      <p:sp>
        <p:nvSpPr>
          <p:cNvPr id="18" name="TextBox 17"/>
          <p:cNvSpPr txBox="1"/>
          <p:nvPr/>
        </p:nvSpPr>
        <p:spPr>
          <a:xfrm>
            <a:off x="8970264"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RGB, JPEG</a:t>
            </a:r>
          </a:p>
        </p:txBody>
      </p:sp>
      <p:pic>
        <p:nvPicPr>
          <p:cNvPr id="19" name="Picture 18" descr="classes.jpg"/>
          <p:cNvPicPr>
            <a:picLocks noChangeAspect="1"/>
          </p:cNvPicPr>
          <p:nvPr/>
        </p:nvPicPr>
        <p:blipFill>
          <a:blip r:embed="rId3"/>
          <a:stretch>
            <a:fillRect/>
          </a:stretch>
        </p:blipFill>
        <p:spPr>
          <a:xfrm>
            <a:off x="576072" y="2331720"/>
            <a:ext cx="7498079" cy="2249424"/>
          </a:xfrm>
          <a:prstGeom prst="rect">
            <a:avLst/>
          </a:prstGeom>
        </p:spPr>
      </p:pic>
      <p:sp>
        <p:nvSpPr>
          <p:cNvPr id="21" name="Rounded Rectangle 20"/>
          <p:cNvSpPr/>
          <p:nvPr/>
        </p:nvSpPr>
        <p:spPr>
          <a:xfrm>
            <a:off x="8321040" y="2331720"/>
            <a:ext cx="3319272" cy="3611880"/>
          </a:xfrm>
          <a:prstGeom prst="roundRect">
            <a:avLst>
              <a:gd name="adj" fmla="val 9641"/>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57031" y="2487168"/>
            <a:ext cx="91440" cy="33009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468880"/>
            <a:ext cx="2971800" cy="3429000"/>
          </a:xfrm>
          <a:prstGeom prst="rect">
            <a:avLst/>
          </a:prstGeom>
          <a:noFill/>
        </p:spPr>
        <p:txBody>
          <a:bodyPr wrap="square" lIns="0" tIns="0" rIns="0" bIns="0" anchor="t">
            <a:spAutoFit/>
          </a:bodyPr>
          <a:lstStyle/>
          <a:p>
            <a:pPr algn="l">
              <a:spcAft>
                <a:spcPts val="500"/>
              </a:spcAft>
            </a:pPr>
            <a:r>
              <a:rPr sz="1800" b="1" i="0" dirty="0" err="1">
                <a:solidFill>
                  <a:srgbClr val="1D2939"/>
                </a:solidFill>
                <a:latin typeface="Arial"/>
              </a:rPr>
              <a:t>Gộp</a:t>
            </a:r>
            <a:r>
              <a:rPr sz="1800" b="1" i="0" dirty="0">
                <a:solidFill>
                  <a:srgbClr val="1D2939"/>
                </a:solidFill>
                <a:latin typeface="Arial"/>
              </a:rPr>
              <a:t> 10 </a:t>
            </a:r>
            <a:r>
              <a:rPr sz="1800" b="1" i="0" dirty="0" err="1">
                <a:solidFill>
                  <a:srgbClr val="1D2939"/>
                </a:solidFill>
                <a:latin typeface="Arial"/>
              </a:rPr>
              <a:t>lớp</a:t>
            </a:r>
            <a:r>
              <a:rPr sz="1800" b="1" i="0" dirty="0">
                <a:solidFill>
                  <a:srgbClr val="1D2939"/>
                </a:solidFill>
                <a:latin typeface="Arial"/>
              </a:rPr>
              <a:t> </a:t>
            </a:r>
            <a:r>
              <a:rPr sz="1800" b="1" i="0" dirty="0" err="1">
                <a:solidFill>
                  <a:srgbClr val="1D2939"/>
                </a:solidFill>
                <a:latin typeface="Arial"/>
              </a:rPr>
              <a:t>thành</a:t>
            </a:r>
            <a:r>
              <a:rPr sz="1800" b="1" i="0" dirty="0">
                <a:solidFill>
                  <a:srgbClr val="1D2939"/>
                </a:solidFill>
                <a:latin typeface="Arial"/>
              </a:rPr>
              <a:t> 6 </a:t>
            </a:r>
            <a:r>
              <a:rPr sz="1800" b="1" i="0" dirty="0" err="1">
                <a:solidFill>
                  <a:srgbClr val="1D2939"/>
                </a:solidFill>
                <a:latin typeface="Arial"/>
              </a:rPr>
              <a:t>nhóm</a:t>
            </a:r>
            <a:endParaRPr sz="1800" b="1" i="0" dirty="0">
              <a:solidFill>
                <a:srgbClr val="1D2939"/>
              </a:solidFill>
              <a:latin typeface="Arial"/>
            </a:endParaRPr>
          </a:p>
          <a:p>
            <a:pPr marL="256032" indent="-201168" algn="l">
              <a:spcAft>
                <a:spcPts val="500"/>
              </a:spcAft>
              <a:buChar char="•"/>
            </a:pPr>
            <a:r>
              <a:rPr sz="1500" b="1" i="0" dirty="0">
                <a:solidFill>
                  <a:srgbClr val="1D2939"/>
                </a:solidFill>
                <a:latin typeface="Arial"/>
              </a:rPr>
              <a:t>normal </a:t>
            </a:r>
            <a:r>
              <a:rPr sz="1500" b="0" i="0" dirty="0">
                <a:solidFill>
                  <a:srgbClr val="474F67"/>
                </a:solidFill>
                <a:latin typeface="Arial"/>
              </a:rPr>
              <a:t>= c0</a:t>
            </a:r>
          </a:p>
          <a:p>
            <a:pPr marL="256032" indent="-201168" algn="l">
              <a:spcAft>
                <a:spcPts val="500"/>
              </a:spcAft>
              <a:buChar char="•"/>
            </a:pPr>
            <a:r>
              <a:rPr sz="1500" b="1" i="0" dirty="0">
                <a:solidFill>
                  <a:srgbClr val="1D2939"/>
                </a:solidFill>
                <a:latin typeface="Arial"/>
              </a:rPr>
              <a:t>phone </a:t>
            </a:r>
            <a:r>
              <a:rPr sz="1500" b="0" i="0" dirty="0">
                <a:solidFill>
                  <a:srgbClr val="474F67"/>
                </a:solidFill>
                <a:latin typeface="Arial"/>
              </a:rPr>
              <a:t>= c1–c4</a:t>
            </a:r>
          </a:p>
          <a:p>
            <a:pPr marL="256032" indent="-201168" algn="l">
              <a:spcAft>
                <a:spcPts val="500"/>
              </a:spcAft>
              <a:buChar char="•"/>
            </a:pPr>
            <a:r>
              <a:rPr sz="1500" b="1" i="0" dirty="0" err="1">
                <a:solidFill>
                  <a:srgbClr val="1D2939"/>
                </a:solidFill>
                <a:latin typeface="Arial"/>
              </a:rPr>
              <a:t>device_ops</a:t>
            </a:r>
            <a:r>
              <a:rPr sz="1500" b="1" i="0" dirty="0">
                <a:solidFill>
                  <a:srgbClr val="1D2939"/>
                </a:solidFill>
                <a:latin typeface="Arial"/>
              </a:rPr>
              <a:t> </a:t>
            </a:r>
            <a:r>
              <a:rPr sz="1500" b="0" i="0" dirty="0">
                <a:solidFill>
                  <a:srgbClr val="474F67"/>
                </a:solidFill>
                <a:latin typeface="Arial"/>
              </a:rPr>
              <a:t>= c5</a:t>
            </a:r>
          </a:p>
          <a:p>
            <a:pPr marL="256032" indent="-201168" algn="l">
              <a:spcAft>
                <a:spcPts val="500"/>
              </a:spcAft>
              <a:buChar char="•"/>
            </a:pPr>
            <a:r>
              <a:rPr sz="1500" b="1" i="0" dirty="0" err="1">
                <a:solidFill>
                  <a:srgbClr val="1D2939"/>
                </a:solidFill>
                <a:latin typeface="Arial"/>
              </a:rPr>
              <a:t>eat_drink</a:t>
            </a:r>
            <a:r>
              <a:rPr sz="1500" b="1" i="0" dirty="0">
                <a:solidFill>
                  <a:srgbClr val="1D2939"/>
                </a:solidFill>
                <a:latin typeface="Arial"/>
              </a:rPr>
              <a:t> </a:t>
            </a:r>
            <a:r>
              <a:rPr sz="1500" b="0" i="0" dirty="0">
                <a:solidFill>
                  <a:srgbClr val="474F67"/>
                </a:solidFill>
                <a:latin typeface="Arial"/>
              </a:rPr>
              <a:t>= c6</a:t>
            </a:r>
          </a:p>
          <a:p>
            <a:pPr marL="256032" indent="-201168" algn="l">
              <a:spcAft>
                <a:spcPts val="500"/>
              </a:spcAft>
              <a:buChar char="•"/>
            </a:pPr>
            <a:r>
              <a:rPr sz="1500" b="1" i="0" dirty="0" err="1">
                <a:solidFill>
                  <a:srgbClr val="1D2939"/>
                </a:solidFill>
                <a:latin typeface="Arial"/>
              </a:rPr>
              <a:t>reach_grooming</a:t>
            </a:r>
            <a:r>
              <a:rPr sz="1500" b="1" i="0" dirty="0">
                <a:solidFill>
                  <a:srgbClr val="1D2939"/>
                </a:solidFill>
                <a:latin typeface="Arial"/>
              </a:rPr>
              <a:t> </a:t>
            </a:r>
            <a:r>
              <a:rPr sz="1500" b="0" i="0" dirty="0">
                <a:solidFill>
                  <a:srgbClr val="474F67"/>
                </a:solidFill>
                <a:latin typeface="Arial"/>
              </a:rPr>
              <a:t>= c7, c8</a:t>
            </a:r>
          </a:p>
          <a:p>
            <a:pPr marL="256032" indent="-201168" algn="l">
              <a:spcAft>
                <a:spcPts val="500"/>
              </a:spcAft>
              <a:buChar char="•"/>
            </a:pPr>
            <a:r>
              <a:rPr sz="1500" b="1" i="0" dirty="0" err="1">
                <a:solidFill>
                  <a:srgbClr val="1D2939"/>
                </a:solidFill>
                <a:latin typeface="Arial"/>
              </a:rPr>
              <a:t>talk_passenger</a:t>
            </a:r>
            <a:r>
              <a:rPr sz="1500" b="1" i="0" dirty="0">
                <a:solidFill>
                  <a:srgbClr val="1D2939"/>
                </a:solidFill>
                <a:latin typeface="Arial"/>
              </a:rPr>
              <a:t> </a:t>
            </a:r>
            <a:r>
              <a:rPr sz="1500" b="0" i="0" dirty="0">
                <a:solidFill>
                  <a:srgbClr val="474F67"/>
                </a:solidFill>
                <a:latin typeface="Arial"/>
              </a:rPr>
              <a:t>= c9</a:t>
            </a:r>
          </a:p>
          <a:p>
            <a:pPr algn="l">
              <a:spcAft>
                <a:spcPts val="500"/>
              </a:spcAft>
            </a:pPr>
            <a:r>
              <a:rPr sz="1400" b="0" i="1" dirty="0" err="1">
                <a:solidFill>
                  <a:srgbClr val="F58643"/>
                </a:solidFill>
                <a:latin typeface="Arial"/>
              </a:rPr>
              <a:t>Hệ</a:t>
            </a:r>
            <a:r>
              <a:rPr sz="1400" b="0" i="1" dirty="0">
                <a:solidFill>
                  <a:srgbClr val="F58643"/>
                </a:solidFill>
                <a:latin typeface="Arial"/>
              </a:rPr>
              <a:t> </a:t>
            </a:r>
            <a:r>
              <a:rPr sz="1400" b="0" i="1" dirty="0" err="1">
                <a:solidFill>
                  <a:srgbClr val="F58643"/>
                </a:solidFill>
                <a:latin typeface="Arial"/>
              </a:rPr>
              <a:t>quả</a:t>
            </a:r>
            <a:r>
              <a:rPr sz="1400" b="0" i="1" dirty="0">
                <a:solidFill>
                  <a:srgbClr val="F58643"/>
                </a:solidFill>
                <a:latin typeface="Arial"/>
              </a:rPr>
              <a:t>: phone </a:t>
            </a:r>
            <a:r>
              <a:rPr sz="1400" b="0" i="1" dirty="0" err="1">
                <a:solidFill>
                  <a:srgbClr val="F58643"/>
                </a:solidFill>
                <a:latin typeface="Arial"/>
              </a:rPr>
              <a:t>chiếm</a:t>
            </a:r>
            <a:r>
              <a:rPr sz="1400" b="0" i="1" dirty="0">
                <a:solidFill>
                  <a:srgbClr val="F58643"/>
                </a:solidFill>
                <a:latin typeface="Arial"/>
              </a:rPr>
              <a:t> 41,6% </a:t>
            </a:r>
            <a:r>
              <a:rPr sz="1400" b="0" i="1" dirty="0" err="1">
                <a:solidFill>
                  <a:srgbClr val="F58643"/>
                </a:solidFill>
                <a:latin typeface="Arial"/>
              </a:rPr>
              <a:t>ảnh</a:t>
            </a:r>
            <a:r>
              <a:rPr sz="1400" b="0" i="1" dirty="0">
                <a:solidFill>
                  <a:srgbClr val="F58643"/>
                </a:solidFill>
                <a:latin typeface="Arial"/>
              </a:rPr>
              <a:t> train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Xử lý dữ liệu</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4</a:t>
            </a:fld>
            <a:endParaRPr lang="en-US"/>
          </a:p>
        </p:txBody>
      </p:sp>
      <p:sp>
        <p:nvSpPr>
          <p:cNvPr id="7" name="Rounded Rectangle 6"/>
          <p:cNvSpPr/>
          <p:nvPr/>
        </p:nvSpPr>
        <p:spPr>
          <a:xfrm>
            <a:off x="576072"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1. Manifest</a:t>
            </a:r>
          </a:p>
        </p:txBody>
      </p:sp>
      <p:sp>
        <p:nvSpPr>
          <p:cNvPr id="10" name="TextBox 9"/>
          <p:cNvSpPr txBox="1"/>
          <p:nvPr/>
        </p:nvSpPr>
        <p:spPr>
          <a:xfrm>
            <a:off x="777240" y="1572768"/>
            <a:ext cx="2194560" cy="1463040"/>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Một</a:t>
            </a:r>
            <a:r>
              <a:rPr sz="1400" b="0" i="0" dirty="0">
                <a:solidFill>
                  <a:srgbClr val="474F67"/>
                </a:solidFill>
                <a:latin typeface="Arial"/>
              </a:rPr>
              <a:t> file CSV: </a:t>
            </a:r>
            <a:r>
              <a:rPr sz="1400" b="0" i="0" dirty="0" err="1">
                <a:solidFill>
                  <a:srgbClr val="474F67"/>
                </a:solidFill>
                <a:latin typeface="Arial"/>
              </a:rPr>
              <a:t>đường</a:t>
            </a:r>
            <a:r>
              <a:rPr sz="1400" b="0" i="0" dirty="0">
                <a:solidFill>
                  <a:srgbClr val="474F67"/>
                </a:solidFill>
                <a:latin typeface="Arial"/>
              </a:rPr>
              <a:t> </a:t>
            </a:r>
            <a:r>
              <a:rPr sz="1400" b="0" i="0" dirty="0" err="1">
                <a:solidFill>
                  <a:srgbClr val="474F67"/>
                </a:solidFill>
                <a:latin typeface="Arial"/>
              </a:rPr>
              <a:t>dẫn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tập</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nguồn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gốc</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a:t>
            </a:r>
            <a:r>
              <a:rPr sz="1400" b="0" i="0" dirty="0" err="1">
                <a:solidFill>
                  <a:srgbClr val="474F67"/>
                </a:solidFill>
                <a:latin typeface="Arial"/>
              </a:rPr>
              <a:t>gốc</a:t>
            </a:r>
            <a:r>
              <a:rPr sz="1400" b="0" i="0" dirty="0">
                <a:solidFill>
                  <a:srgbClr val="474F67"/>
                </a:solidFill>
                <a:latin typeface="Arial"/>
              </a:rPr>
              <a:t> </a:t>
            </a:r>
            <a:r>
              <a:rPr sz="1400" b="0" i="0" dirty="0" err="1">
                <a:solidFill>
                  <a:srgbClr val="474F67"/>
                </a:solidFill>
                <a:latin typeface="Arial"/>
              </a:rPr>
              <a:t>không</a:t>
            </a:r>
            <a:r>
              <a:rPr sz="1400" b="0" i="0" dirty="0">
                <a:solidFill>
                  <a:srgbClr val="474F67"/>
                </a:solidFill>
                <a:latin typeface="Arial"/>
              </a:rPr>
              <a:t> </a:t>
            </a:r>
            <a:r>
              <a:rPr sz="1400" b="0" i="0" dirty="0" err="1">
                <a:solidFill>
                  <a:srgbClr val="474F67"/>
                </a:solidFill>
                <a:latin typeface="Arial"/>
              </a:rPr>
              <a:t>bị</a:t>
            </a:r>
            <a:r>
              <a:rPr sz="1400" b="0" i="0" dirty="0">
                <a:solidFill>
                  <a:srgbClr val="474F67"/>
                </a:solidFill>
                <a:latin typeface="Arial"/>
              </a:rPr>
              <a:t> </a:t>
            </a:r>
            <a:r>
              <a:rPr sz="1400" b="0" i="0" dirty="0" err="1">
                <a:solidFill>
                  <a:srgbClr val="474F67"/>
                </a:solidFill>
                <a:latin typeface="Arial"/>
              </a:rPr>
              <a:t>sửa</a:t>
            </a:r>
            <a:r>
              <a:rPr sz="1400" b="0" i="0" dirty="0">
                <a:solidFill>
                  <a:srgbClr val="474F67"/>
                </a:solidFill>
                <a:latin typeface="Arial"/>
              </a:rPr>
              <a:t>.</a:t>
            </a:r>
          </a:p>
        </p:txBody>
      </p:sp>
      <p:sp>
        <p:nvSpPr>
          <p:cNvPr id="11" name="Right Arrow 10"/>
          <p:cNvSpPr/>
          <p:nvPr/>
        </p:nvSpPr>
        <p:spPr>
          <a:xfrm>
            <a:off x="3145536"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38144"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74136"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2. Chia theo tài xế</a:t>
            </a:r>
          </a:p>
        </p:txBody>
      </p:sp>
      <p:sp>
        <p:nvSpPr>
          <p:cNvPr id="15" name="TextBox 14"/>
          <p:cNvSpPr txBox="1"/>
          <p:nvPr/>
        </p:nvSpPr>
        <p:spPr>
          <a:xfrm>
            <a:off x="3639312" y="1572768"/>
            <a:ext cx="2194560" cy="14630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18 / 4 / 4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cho</a:t>
            </a:r>
            <a:r>
              <a:rPr sz="1400" b="0" i="0" dirty="0">
                <a:solidFill>
                  <a:srgbClr val="474F67"/>
                </a:solidFill>
                <a:latin typeface="Arial"/>
              </a:rPr>
              <a:t> train / </a:t>
            </a:r>
            <a:r>
              <a:rPr sz="1400" b="0" i="0" dirty="0" err="1">
                <a:solidFill>
                  <a:srgbClr val="474F67"/>
                </a:solidFill>
                <a:latin typeface="Arial"/>
              </a:rPr>
              <a:t>val</a:t>
            </a:r>
            <a:r>
              <a:rPr sz="1400" b="0" i="0" dirty="0">
                <a:solidFill>
                  <a:srgbClr val="474F67"/>
                </a:solidFill>
                <a:latin typeface="Arial"/>
              </a:rPr>
              <a:t> / test (seed 42). </a:t>
            </a:r>
            <a:r>
              <a:rPr sz="1400" b="0" i="0" dirty="0" err="1">
                <a:solidFill>
                  <a:srgbClr val="474F67"/>
                </a:solidFill>
                <a:latin typeface="Arial"/>
              </a:rPr>
              <a:t>Không</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nào</a:t>
            </a:r>
            <a:r>
              <a:rPr sz="1400" b="0" i="0" dirty="0">
                <a:solidFill>
                  <a:srgbClr val="474F67"/>
                </a:solidFill>
                <a:latin typeface="Arial"/>
              </a:rPr>
              <a:t> </a:t>
            </a:r>
            <a:r>
              <a:rPr sz="1400" b="0" i="0" dirty="0" err="1">
                <a:solidFill>
                  <a:srgbClr val="474F67"/>
                </a:solidFill>
                <a:latin typeface="Arial"/>
              </a:rPr>
              <a:t>nằm</a:t>
            </a:r>
            <a:r>
              <a:rPr sz="1400" b="0" i="0" dirty="0">
                <a:solidFill>
                  <a:srgbClr val="474F67"/>
                </a:solidFill>
                <a:latin typeface="Arial"/>
              </a:rPr>
              <a:t> ở </a:t>
            </a:r>
            <a:r>
              <a:rPr sz="1400" b="0" i="0" dirty="0" err="1">
                <a:solidFill>
                  <a:srgbClr val="474F67"/>
                </a:solidFill>
                <a:latin typeface="Arial"/>
              </a:rPr>
              <a:t>hai</a:t>
            </a:r>
            <a:r>
              <a:rPr sz="1400" b="0" i="0" dirty="0">
                <a:solidFill>
                  <a:srgbClr val="474F67"/>
                </a:solidFill>
                <a:latin typeface="Arial"/>
              </a:rPr>
              <a:t> </a:t>
            </a:r>
            <a:r>
              <a:rPr sz="1400" b="0" i="0" dirty="0" err="1">
                <a:solidFill>
                  <a:srgbClr val="474F67"/>
                </a:solidFill>
                <a:latin typeface="Arial"/>
              </a:rPr>
              <a:t>tập</a:t>
            </a:r>
            <a:r>
              <a:rPr sz="1400" b="0" i="0" dirty="0">
                <a:solidFill>
                  <a:srgbClr val="474F67"/>
                </a:solidFill>
                <a:latin typeface="Arial"/>
              </a:rPr>
              <a:t>.</a:t>
            </a:r>
          </a:p>
        </p:txBody>
      </p:sp>
      <p:sp>
        <p:nvSpPr>
          <p:cNvPr id="16" name="Right Arrow 15"/>
          <p:cNvSpPr/>
          <p:nvPr/>
        </p:nvSpPr>
        <p:spPr>
          <a:xfrm>
            <a:off x="6007608"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0216"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7" y="1115568"/>
            <a:ext cx="91440" cy="183794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1383"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3. Bỏ ảnh gần trùng</a:t>
            </a:r>
          </a:p>
        </p:txBody>
      </p:sp>
      <p:sp>
        <p:nvSpPr>
          <p:cNvPr id="20" name="TextBox 19"/>
          <p:cNvSpPr txBox="1"/>
          <p:nvPr/>
        </p:nvSpPr>
        <p:spPr>
          <a:xfrm>
            <a:off x="6501383" y="1572768"/>
            <a:ext cx="2194560" cy="1463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22.424 → 20.007 ảnh (−10,8%). Ngưỡng độ lệch pixel &lt; 2, trong cùng tài xế và lớp.</a:t>
            </a:r>
          </a:p>
        </p:txBody>
      </p:sp>
      <p:sp>
        <p:nvSpPr>
          <p:cNvPr id="21" name="Right Arrow 20"/>
          <p:cNvSpPr/>
          <p:nvPr/>
        </p:nvSpPr>
        <p:spPr>
          <a:xfrm>
            <a:off x="8869680"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62288"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115568"/>
            <a:ext cx="91440" cy="183794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63456"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4. Resize 320×240</a:t>
            </a:r>
          </a:p>
        </p:txBody>
      </p:sp>
      <p:sp>
        <p:nvSpPr>
          <p:cNvPr id="25" name="TextBox 24"/>
          <p:cNvSpPr txBox="1"/>
          <p:nvPr/>
        </p:nvSpPr>
        <p:spPr>
          <a:xfrm>
            <a:off x="9363456" y="1572768"/>
            <a:ext cx="2194560" cy="1463040"/>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Giữ</a:t>
            </a:r>
            <a:r>
              <a:rPr sz="1400" b="0" i="0" dirty="0">
                <a:solidFill>
                  <a:srgbClr val="474F67"/>
                </a:solidFill>
                <a:latin typeface="Arial"/>
              </a:rPr>
              <a:t> </a:t>
            </a:r>
            <a:r>
              <a:rPr sz="1400" b="0" i="0" dirty="0" err="1">
                <a:solidFill>
                  <a:srgbClr val="474F67"/>
                </a:solidFill>
                <a:latin typeface="Arial"/>
              </a:rPr>
              <a:t>tỉ</a:t>
            </a:r>
            <a:r>
              <a:rPr sz="1400" b="0" i="0" dirty="0">
                <a:solidFill>
                  <a:srgbClr val="474F67"/>
                </a:solidFill>
                <a:latin typeface="Arial"/>
              </a:rPr>
              <a:t> </a:t>
            </a:r>
            <a:r>
              <a:rPr sz="1400" b="0" i="0" dirty="0" err="1">
                <a:solidFill>
                  <a:srgbClr val="474F67"/>
                </a:solidFill>
                <a:latin typeface="Arial"/>
              </a:rPr>
              <a:t>lệ</a:t>
            </a:r>
            <a:r>
              <a:rPr sz="1400" b="0" i="0" dirty="0">
                <a:solidFill>
                  <a:srgbClr val="474F67"/>
                </a:solidFill>
                <a:latin typeface="Arial"/>
              </a:rPr>
              <a:t> 4:3, JPEG 90, 496 MB. </a:t>
            </a:r>
            <a:r>
              <a:rPr sz="1400" b="0" i="0" dirty="0" err="1">
                <a:solidFill>
                  <a:srgbClr val="474F67"/>
                </a:solidFill>
                <a:latin typeface="Arial"/>
              </a:rPr>
              <a:t>Lúc</a:t>
            </a:r>
            <a:r>
              <a:rPr sz="1400" b="0" i="0" dirty="0">
                <a:solidFill>
                  <a:srgbClr val="474F67"/>
                </a:solidFill>
                <a:latin typeface="Arial"/>
              </a:rPr>
              <a:t> train </a:t>
            </a:r>
            <a:r>
              <a:rPr sz="1400" b="0" i="0" dirty="0" err="1">
                <a:solidFill>
                  <a:srgbClr val="474F67"/>
                </a:solidFill>
                <a:latin typeface="Arial"/>
              </a:rPr>
              <a:t>đưa</a:t>
            </a:r>
            <a:r>
              <a:rPr sz="1400" b="0" i="0" dirty="0">
                <a:solidFill>
                  <a:srgbClr val="474F67"/>
                </a:solidFill>
                <a:latin typeface="Arial"/>
              </a:rPr>
              <a:t> </a:t>
            </a:r>
            <a:r>
              <a:rPr sz="1400" b="0" i="0" dirty="0" err="1">
                <a:solidFill>
                  <a:srgbClr val="474F67"/>
                </a:solidFill>
                <a:latin typeface="Arial"/>
              </a:rPr>
              <a:t>về</a:t>
            </a:r>
            <a:r>
              <a:rPr sz="1400" b="0" i="0" dirty="0">
                <a:solidFill>
                  <a:srgbClr val="474F67"/>
                </a:solidFill>
                <a:latin typeface="Arial"/>
              </a:rPr>
              <a:t> 224×224, </a:t>
            </a:r>
            <a:r>
              <a:rPr sz="1400" b="0" i="0" dirty="0" err="1">
                <a:solidFill>
                  <a:srgbClr val="474F67"/>
                </a:solidFill>
                <a:latin typeface="Arial"/>
              </a:rPr>
              <a:t>chuẩn</a:t>
            </a:r>
            <a:r>
              <a:rPr sz="1400" b="0" i="0" dirty="0">
                <a:solidFill>
                  <a:srgbClr val="474F67"/>
                </a:solidFill>
                <a:latin typeface="Arial"/>
              </a:rPr>
              <a:t> </a:t>
            </a:r>
            <a:r>
              <a:rPr sz="1400" b="0" i="0" dirty="0" err="1">
                <a:solidFill>
                  <a:srgbClr val="474F67"/>
                </a:solidFill>
                <a:latin typeface="Arial"/>
              </a:rPr>
              <a:t>hoá</a:t>
            </a:r>
            <a:r>
              <a:rPr sz="1400" b="0" i="0" dirty="0">
                <a:solidFill>
                  <a:srgbClr val="474F67"/>
                </a:solidFill>
                <a:latin typeface="Arial"/>
              </a:rPr>
              <a:t> ImageNet.</a:t>
            </a:r>
          </a:p>
        </p:txBody>
      </p:sp>
      <p:pic>
        <p:nvPicPr>
          <p:cNvPr id="26" name="Picture 25" descr="pairs_top.jpg"/>
          <p:cNvPicPr>
            <a:picLocks noChangeAspect="1"/>
          </p:cNvPicPr>
          <p:nvPr/>
        </p:nvPicPr>
        <p:blipFill>
          <a:blip r:embed="rId3"/>
          <a:stretch>
            <a:fillRect/>
          </a:stretch>
        </p:blipFill>
        <p:spPr>
          <a:xfrm>
            <a:off x="576072" y="3383280"/>
            <a:ext cx="3291840" cy="2468880"/>
          </a:xfrm>
          <a:prstGeom prst="rect">
            <a:avLst/>
          </a:prstGeom>
        </p:spPr>
      </p:pic>
      <p:sp>
        <p:nvSpPr>
          <p:cNvPr id="27" name="TextBox 26"/>
          <p:cNvSpPr txBox="1"/>
          <p:nvPr/>
        </p:nvSpPr>
        <p:spPr>
          <a:xfrm>
            <a:off x="576072" y="5879592"/>
            <a:ext cx="3291840" cy="274320"/>
          </a:xfrm>
          <a:prstGeom prst="rect">
            <a:avLst/>
          </a:prstGeom>
          <a:noFill/>
        </p:spPr>
        <p:txBody>
          <a:bodyPr wrap="square" lIns="0" tIns="0" rIns="0" bIns="0" anchor="t">
            <a:spAutoFit/>
          </a:bodyPr>
          <a:lstStyle/>
          <a:p>
            <a:pPr algn="l">
              <a:spcAft>
                <a:spcPts val="600"/>
              </a:spcAft>
            </a:pPr>
            <a:r>
              <a:rPr sz="1100" b="0" i="0">
                <a:solidFill>
                  <a:srgbClr val="8A93A6"/>
                </a:solidFill>
                <a:latin typeface="Arial"/>
              </a:rPr>
              <a:t>Cặp ảnh gần trùng (độ lệch 0,5 và 1,5): chỉ giữ 1 ảnh</a:t>
            </a:r>
          </a:p>
        </p:txBody>
      </p:sp>
      <p:sp>
        <p:nvSpPr>
          <p:cNvPr id="28" name="Rounded Rectangle 27"/>
          <p:cNvSpPr/>
          <p:nvPr/>
        </p:nvSpPr>
        <p:spPr>
          <a:xfrm>
            <a:off x="4206240" y="3383280"/>
            <a:ext cx="7434072" cy="251460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4840" y="3520440"/>
            <a:ext cx="7040880" cy="1700466"/>
          </a:xfrm>
          <a:prstGeom prst="rect">
            <a:avLst/>
          </a:prstGeom>
          <a:noFill/>
        </p:spPr>
        <p:txBody>
          <a:bodyPr wrap="square" lIns="0" tIns="0" rIns="0" bIns="0" anchor="t">
            <a:spAutoFit/>
          </a:bodyPr>
          <a:lstStyle/>
          <a:p>
            <a:pPr algn="l">
              <a:spcAft>
                <a:spcPts val="700"/>
              </a:spcAft>
            </a:pPr>
            <a:r>
              <a:rPr sz="1800" b="1" i="0" dirty="0" err="1">
                <a:solidFill>
                  <a:srgbClr val="1D2939"/>
                </a:solidFill>
                <a:latin typeface="Arial"/>
              </a:rPr>
              <a:t>Vì</a:t>
            </a:r>
            <a:r>
              <a:rPr sz="1800" b="1" i="0" dirty="0">
                <a:solidFill>
                  <a:srgbClr val="1D2939"/>
                </a:solidFill>
                <a:latin typeface="Arial"/>
              </a:rPr>
              <a:t> </a:t>
            </a:r>
            <a:r>
              <a:rPr sz="1800" b="1" i="0" dirty="0" err="1">
                <a:solidFill>
                  <a:srgbClr val="1D2939"/>
                </a:solidFill>
                <a:latin typeface="Arial"/>
              </a:rPr>
              <a:t>sao</a:t>
            </a:r>
            <a:r>
              <a:rPr sz="1800" b="1" i="0" dirty="0">
                <a:solidFill>
                  <a:srgbClr val="1D2939"/>
                </a:solidFill>
                <a:latin typeface="Arial"/>
              </a:rPr>
              <a:t> </a:t>
            </a:r>
            <a:r>
              <a:rPr sz="1800" b="1" i="0" dirty="0" err="1">
                <a:solidFill>
                  <a:srgbClr val="1D2939"/>
                </a:solidFill>
                <a:latin typeface="Arial"/>
              </a:rPr>
              <a:t>làm</a:t>
            </a:r>
            <a:r>
              <a:rPr sz="1800" b="1" i="0" dirty="0">
                <a:solidFill>
                  <a:srgbClr val="1D2939"/>
                </a:solidFill>
                <a:latin typeface="Arial"/>
              </a:rPr>
              <a:t> </a:t>
            </a:r>
            <a:r>
              <a:rPr sz="1800" b="1" i="0" dirty="0" err="1">
                <a:solidFill>
                  <a:srgbClr val="1D2939"/>
                </a:solidFill>
                <a:latin typeface="Arial"/>
              </a:rPr>
              <a:t>như</a:t>
            </a:r>
            <a:r>
              <a:rPr sz="1800" b="1" i="0" dirty="0">
                <a:solidFill>
                  <a:srgbClr val="1D2939"/>
                </a:solidFill>
                <a:latin typeface="Arial"/>
              </a:rPr>
              <a:t> </a:t>
            </a:r>
            <a:r>
              <a:rPr sz="1800" b="1" i="0" dirty="0" err="1">
                <a:solidFill>
                  <a:srgbClr val="1D2939"/>
                </a:solidFill>
                <a:latin typeface="Arial"/>
              </a:rPr>
              <a:t>vậy</a:t>
            </a:r>
            <a:endParaRPr sz="1800" b="1" i="0" dirty="0">
              <a:solidFill>
                <a:srgbClr val="1D2939"/>
              </a:solidFill>
              <a:latin typeface="Arial"/>
            </a:endParaRPr>
          </a:p>
          <a:p>
            <a:pPr marL="256032" indent="-201168" algn="l">
              <a:spcAft>
                <a:spcPts val="700"/>
              </a:spcAft>
              <a:buChar char="•"/>
            </a:pPr>
            <a:r>
              <a:rPr sz="1500" b="1" i="0" dirty="0">
                <a:solidFill>
                  <a:srgbClr val="1D2939"/>
                </a:solidFill>
                <a:latin typeface="Arial"/>
              </a:rPr>
              <a:t>Chia </a:t>
            </a:r>
            <a:r>
              <a:rPr sz="1500" b="1" i="0" dirty="0" err="1">
                <a:solidFill>
                  <a:srgbClr val="1D2939"/>
                </a:solidFill>
                <a:latin typeface="Arial"/>
              </a:rPr>
              <a:t>theo</a:t>
            </a:r>
            <a:r>
              <a:rPr sz="1500" b="1" i="0" dirty="0">
                <a:solidFill>
                  <a:srgbClr val="1D2939"/>
                </a:solidFill>
                <a:latin typeface="Arial"/>
              </a:rPr>
              <a:t> </a:t>
            </a:r>
            <a:r>
              <a:rPr sz="1500" b="1" i="0" dirty="0" err="1">
                <a:solidFill>
                  <a:srgbClr val="1D2939"/>
                </a:solidFill>
                <a:latin typeface="Arial"/>
              </a:rPr>
              <a:t>tài</a:t>
            </a:r>
            <a:r>
              <a:rPr sz="1500" b="1" i="0" dirty="0">
                <a:solidFill>
                  <a:srgbClr val="1D2939"/>
                </a:solidFill>
                <a:latin typeface="Arial"/>
              </a:rPr>
              <a:t> </a:t>
            </a:r>
            <a:r>
              <a:rPr sz="1500" b="1" i="0" dirty="0" err="1">
                <a:solidFill>
                  <a:srgbClr val="1D2939"/>
                </a:solidFill>
                <a:latin typeface="Arial"/>
              </a:rPr>
              <a:t>xế</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cùng</a:t>
            </a:r>
            <a:r>
              <a:rPr sz="1500" b="0" i="0" dirty="0">
                <a:solidFill>
                  <a:srgbClr val="474F67"/>
                </a:solidFill>
                <a:latin typeface="Arial"/>
              </a:rPr>
              <a:t> </a:t>
            </a:r>
            <a:r>
              <a:rPr sz="1500" b="0" i="0" dirty="0" err="1">
                <a:solidFill>
                  <a:srgbClr val="474F67"/>
                </a:solidFill>
                <a:latin typeface="Arial"/>
              </a:rPr>
              <a:t>một</a:t>
            </a:r>
            <a:r>
              <a:rPr sz="1500" b="0" i="0" dirty="0">
                <a:solidFill>
                  <a:srgbClr val="474F67"/>
                </a:solidFill>
                <a:latin typeface="Arial"/>
              </a:rPr>
              <a:t> </a:t>
            </a:r>
            <a:r>
              <a:rPr sz="1500" b="0" i="0" dirty="0" err="1">
                <a:solidFill>
                  <a:srgbClr val="474F67"/>
                </a:solidFill>
                <a:latin typeface="Arial"/>
              </a:rPr>
              <a:t>người</a:t>
            </a:r>
            <a:r>
              <a:rPr sz="1500" b="0" i="0" dirty="0">
                <a:solidFill>
                  <a:srgbClr val="474F67"/>
                </a:solidFill>
                <a:latin typeface="Arial"/>
              </a:rPr>
              <a:t> </a:t>
            </a:r>
            <a:r>
              <a:rPr sz="1500" b="0" i="0" dirty="0" err="1">
                <a:solidFill>
                  <a:srgbClr val="474F67"/>
                </a:solidFill>
                <a:latin typeface="Arial"/>
              </a:rPr>
              <a:t>gần</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giống</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 chia </a:t>
            </a:r>
            <a:r>
              <a:rPr sz="1500" b="0" i="0" dirty="0" err="1">
                <a:solidFill>
                  <a:srgbClr val="474F67"/>
                </a:solidFill>
                <a:latin typeface="Arial"/>
              </a:rPr>
              <a:t>theo</a:t>
            </a:r>
            <a:r>
              <a:rPr sz="1500" b="0" i="0" dirty="0">
                <a:solidFill>
                  <a:srgbClr val="474F67"/>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sẽ</a:t>
            </a:r>
            <a:r>
              <a:rPr sz="1500" b="0" i="0" dirty="0">
                <a:solidFill>
                  <a:srgbClr val="474F67"/>
                </a:solidFill>
                <a:latin typeface="Arial"/>
              </a:rPr>
              <a:t> </a:t>
            </a:r>
            <a:r>
              <a:rPr sz="1500" b="0" i="0" dirty="0" err="1">
                <a:solidFill>
                  <a:srgbClr val="474F67"/>
                </a:solidFill>
                <a:latin typeface="Arial"/>
              </a:rPr>
              <a:t>làm</a:t>
            </a:r>
            <a:r>
              <a:rPr sz="1500" b="0" i="0" dirty="0">
                <a:solidFill>
                  <a:srgbClr val="474F67"/>
                </a:solidFill>
                <a:latin typeface="Arial"/>
              </a:rPr>
              <a:t> </a:t>
            </a:r>
            <a:r>
              <a:rPr sz="1500" b="0" i="0" dirty="0" err="1">
                <a:solidFill>
                  <a:srgbClr val="474F67"/>
                </a:solidFill>
                <a:latin typeface="Arial"/>
              </a:rPr>
              <a:t>điểm</a:t>
            </a:r>
            <a:r>
              <a:rPr sz="1500" b="0" i="0" dirty="0">
                <a:solidFill>
                  <a:srgbClr val="474F67"/>
                </a:solidFill>
                <a:latin typeface="Arial"/>
              </a:rPr>
              <a:t> </a:t>
            </a:r>
            <a:r>
              <a:rPr sz="1500" b="0" i="0" dirty="0" err="1">
                <a:solidFill>
                  <a:srgbClr val="474F67"/>
                </a:solidFill>
                <a:latin typeface="Arial"/>
              </a:rPr>
              <a:t>cao</a:t>
            </a:r>
            <a:r>
              <a:rPr sz="1500" b="0" i="0" dirty="0">
                <a:solidFill>
                  <a:srgbClr val="474F67"/>
                </a:solidFill>
                <a:latin typeface="Arial"/>
              </a:rPr>
              <a:t> </a:t>
            </a:r>
            <a:r>
              <a:rPr sz="1500" b="0" i="0" dirty="0" err="1">
                <a:solidFill>
                  <a:srgbClr val="474F67"/>
                </a:solidFill>
                <a:latin typeface="Arial"/>
              </a:rPr>
              <a:t>ảo</a:t>
            </a:r>
            <a:r>
              <a:rPr lang="en-US" sz="1500" dirty="0">
                <a:solidFill>
                  <a:srgbClr val="474F67"/>
                </a:solidFill>
                <a:latin typeface="Arial"/>
              </a:rPr>
              <a:t>.</a:t>
            </a:r>
            <a:endParaRPr sz="1500" b="0" i="0" dirty="0">
              <a:solidFill>
                <a:srgbClr val="474F67"/>
              </a:solidFill>
              <a:latin typeface="Arial"/>
            </a:endParaRPr>
          </a:p>
          <a:p>
            <a:pPr marL="256032" indent="-201168" algn="l">
              <a:spcAft>
                <a:spcPts val="700"/>
              </a:spcAft>
              <a:buChar char="•"/>
            </a:pPr>
            <a:r>
              <a:rPr sz="1500" b="1" i="0" dirty="0" err="1">
                <a:solidFill>
                  <a:srgbClr val="1D2939"/>
                </a:solidFill>
                <a:latin typeface="Arial"/>
              </a:rPr>
              <a:t>Bỏ</a:t>
            </a:r>
            <a:r>
              <a:rPr sz="1500" b="1" i="0" dirty="0">
                <a:solidFill>
                  <a:srgbClr val="1D2939"/>
                </a:solidFill>
                <a:latin typeface="Arial"/>
              </a:rPr>
              <a:t> </a:t>
            </a:r>
            <a:r>
              <a:rPr sz="1500" b="1" i="0" dirty="0" err="1">
                <a:solidFill>
                  <a:srgbClr val="1D2939"/>
                </a:solidFill>
                <a:latin typeface="Arial"/>
              </a:rPr>
              <a:t>ảnh</a:t>
            </a:r>
            <a:r>
              <a:rPr sz="1500" b="1" i="0" dirty="0">
                <a:solidFill>
                  <a:srgbClr val="1D2939"/>
                </a:solidFill>
                <a:latin typeface="Arial"/>
              </a:rPr>
              <a:t> </a:t>
            </a:r>
            <a:r>
              <a:rPr sz="1500" b="1" i="0" dirty="0" err="1">
                <a:solidFill>
                  <a:srgbClr val="1D2939"/>
                </a:solidFill>
                <a:latin typeface="Arial"/>
              </a:rPr>
              <a:t>trùng</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trùng</a:t>
            </a:r>
            <a:r>
              <a:rPr sz="1500" b="0" i="0" dirty="0">
                <a:solidFill>
                  <a:srgbClr val="474F67"/>
                </a:solidFill>
                <a:latin typeface="Arial"/>
              </a:rPr>
              <a:t> </a:t>
            </a:r>
            <a:r>
              <a:rPr sz="1500" b="0" i="0" dirty="0" err="1">
                <a:solidFill>
                  <a:srgbClr val="474F67"/>
                </a:solidFill>
                <a:latin typeface="Arial"/>
              </a:rPr>
              <a:t>làm</a:t>
            </a:r>
            <a:r>
              <a:rPr sz="1500" b="0" i="0" dirty="0">
                <a:solidFill>
                  <a:srgbClr val="474F67"/>
                </a:solidFill>
                <a:latin typeface="Arial"/>
              </a:rPr>
              <a:t> </a:t>
            </a:r>
            <a:r>
              <a:rPr sz="1500" b="0" i="0" dirty="0" err="1">
                <a:solidFill>
                  <a:srgbClr val="474F67"/>
                </a:solidFill>
                <a:latin typeface="Arial"/>
              </a:rPr>
              <a:t>điểm</a:t>
            </a:r>
            <a:r>
              <a:rPr sz="1500" b="0" i="0" dirty="0">
                <a:solidFill>
                  <a:srgbClr val="474F67"/>
                </a:solidFill>
                <a:latin typeface="Arial"/>
              </a:rPr>
              <a:t> </a:t>
            </a:r>
            <a:r>
              <a:rPr sz="1500" b="0" i="0" dirty="0" err="1">
                <a:solidFill>
                  <a:srgbClr val="474F67"/>
                </a:solidFill>
                <a:latin typeface="Arial"/>
              </a:rPr>
              <a:t>đánh</a:t>
            </a:r>
            <a:r>
              <a:rPr sz="1500" b="0" i="0" dirty="0">
                <a:solidFill>
                  <a:srgbClr val="474F67"/>
                </a:solidFill>
                <a:latin typeface="Arial"/>
              </a:rPr>
              <a:t> </a:t>
            </a:r>
            <a:r>
              <a:rPr sz="1500" b="0" i="0" dirty="0" err="1">
                <a:solidFill>
                  <a:srgbClr val="474F67"/>
                </a:solidFill>
                <a:latin typeface="Arial"/>
              </a:rPr>
              <a:t>giá</a:t>
            </a:r>
            <a:r>
              <a:rPr sz="1500" b="0" i="0" dirty="0">
                <a:solidFill>
                  <a:srgbClr val="474F67"/>
                </a:solidFill>
                <a:latin typeface="Arial"/>
              </a:rPr>
              <a:t> </a:t>
            </a:r>
            <a:r>
              <a:rPr sz="1500" b="0" i="0" dirty="0" err="1">
                <a:solidFill>
                  <a:srgbClr val="474F67"/>
                </a:solidFill>
                <a:latin typeface="Arial"/>
              </a:rPr>
              <a:t>lạc</a:t>
            </a:r>
            <a:r>
              <a:rPr sz="1500" b="0" i="0" dirty="0">
                <a:solidFill>
                  <a:srgbClr val="474F67"/>
                </a:solidFill>
                <a:latin typeface="Arial"/>
              </a:rPr>
              <a:t> </a:t>
            </a:r>
            <a:r>
              <a:rPr sz="1500" b="0" i="0" dirty="0" err="1">
                <a:solidFill>
                  <a:srgbClr val="474F67"/>
                </a:solidFill>
                <a:latin typeface="Arial"/>
              </a:rPr>
              <a:t>quan</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train </a:t>
            </a:r>
            <a:r>
              <a:rPr sz="1500" b="0" i="0" dirty="0" err="1">
                <a:solidFill>
                  <a:srgbClr val="474F67"/>
                </a:solidFill>
                <a:latin typeface="Arial"/>
              </a:rPr>
              <a:t>chậm</a:t>
            </a:r>
            <a:r>
              <a:rPr sz="1500" b="0" i="0" dirty="0">
                <a:solidFill>
                  <a:srgbClr val="474F67"/>
                </a:solidFill>
                <a:latin typeface="Arial"/>
              </a:rPr>
              <a:t> </a:t>
            </a:r>
            <a:r>
              <a:rPr sz="1500" b="0" i="0" dirty="0" err="1">
                <a:solidFill>
                  <a:srgbClr val="474F67"/>
                </a:solidFill>
                <a:latin typeface="Arial"/>
              </a:rPr>
              <a:t>hơn</a:t>
            </a:r>
            <a:r>
              <a:rPr sz="1500" b="0" i="0" dirty="0">
                <a:solidFill>
                  <a:srgbClr val="474F67"/>
                </a:solidFill>
                <a:latin typeface="Arial"/>
              </a:rPr>
              <a:t> </a:t>
            </a:r>
            <a:r>
              <a:rPr sz="1500" b="0" i="0" dirty="0" err="1">
                <a:solidFill>
                  <a:srgbClr val="474F67"/>
                </a:solidFill>
                <a:latin typeface="Arial"/>
              </a:rPr>
              <a:t>mà</a:t>
            </a:r>
            <a:r>
              <a:rPr sz="1500" b="0" i="0" dirty="0">
                <a:solidFill>
                  <a:srgbClr val="474F67"/>
                </a:solidFill>
                <a:latin typeface="Arial"/>
              </a:rPr>
              <a:t> </a:t>
            </a:r>
            <a:r>
              <a:rPr sz="1500" b="0" i="0" dirty="0" err="1">
                <a:solidFill>
                  <a:srgbClr val="474F67"/>
                </a:solidFill>
                <a:latin typeface="Arial"/>
              </a:rPr>
              <a:t>không</a:t>
            </a:r>
            <a:r>
              <a:rPr sz="1500" b="0" i="0" dirty="0">
                <a:solidFill>
                  <a:srgbClr val="474F67"/>
                </a:solidFill>
                <a:latin typeface="Arial"/>
              </a:rPr>
              <a:t> </a:t>
            </a:r>
            <a:r>
              <a:rPr sz="1500" b="0" i="0" dirty="0" err="1">
                <a:solidFill>
                  <a:srgbClr val="474F67"/>
                </a:solidFill>
                <a:latin typeface="Arial"/>
              </a:rPr>
              <a:t>thêm</a:t>
            </a:r>
            <a:r>
              <a:rPr sz="1500" b="0" i="0" dirty="0">
                <a:solidFill>
                  <a:srgbClr val="474F67"/>
                </a:solidFill>
                <a:latin typeface="Arial"/>
              </a:rPr>
              <a:t> </a:t>
            </a:r>
            <a:r>
              <a:rPr sz="1500" b="0" i="0" dirty="0" err="1">
                <a:solidFill>
                  <a:srgbClr val="474F67"/>
                </a:solidFill>
                <a:latin typeface="Arial"/>
              </a:rPr>
              <a:t>thông</a:t>
            </a:r>
            <a:r>
              <a:rPr sz="1500" b="0" i="0" dirty="0">
                <a:solidFill>
                  <a:srgbClr val="474F67"/>
                </a:solidFill>
                <a:latin typeface="Arial"/>
              </a:rPr>
              <a:t> tin.</a:t>
            </a:r>
          </a:p>
          <a:p>
            <a:pPr marL="256032" indent="-201168" algn="l">
              <a:spcAft>
                <a:spcPts val="700"/>
              </a:spcAft>
              <a:buChar char="•"/>
            </a:pPr>
            <a:r>
              <a:rPr sz="1500" b="1" i="0" dirty="0">
                <a:solidFill>
                  <a:srgbClr val="1D2939"/>
                </a:solidFill>
                <a:latin typeface="Arial"/>
              </a:rPr>
              <a:t>Augmentation: </a:t>
            </a:r>
            <a:r>
              <a:rPr sz="1500" b="0" i="0" dirty="0" err="1">
                <a:solidFill>
                  <a:srgbClr val="474F67"/>
                </a:solidFill>
                <a:latin typeface="Arial"/>
              </a:rPr>
              <a:t>cắt</a:t>
            </a:r>
            <a:r>
              <a:rPr sz="1500" b="0" i="0" dirty="0">
                <a:solidFill>
                  <a:srgbClr val="474F67"/>
                </a:solidFill>
                <a:latin typeface="Arial"/>
              </a:rPr>
              <a:t> </a:t>
            </a:r>
            <a:r>
              <a:rPr sz="1500" b="0" i="0" dirty="0" err="1">
                <a:solidFill>
                  <a:srgbClr val="474F67"/>
                </a:solidFill>
                <a:latin typeface="Arial"/>
              </a:rPr>
              <a:t>ngẫu</a:t>
            </a:r>
            <a:r>
              <a:rPr sz="1500" b="0" i="0" dirty="0">
                <a:solidFill>
                  <a:srgbClr val="474F67"/>
                </a:solidFill>
                <a:latin typeface="Arial"/>
              </a:rPr>
              <a:t> </a:t>
            </a:r>
            <a:r>
              <a:rPr sz="1500" b="0" i="0" dirty="0" err="1">
                <a:solidFill>
                  <a:srgbClr val="474F67"/>
                </a:solidFill>
                <a:latin typeface="Arial"/>
              </a:rPr>
              <a:t>nhiên</a:t>
            </a:r>
            <a:r>
              <a:rPr sz="1500" b="0" i="0" dirty="0">
                <a:solidFill>
                  <a:srgbClr val="474F67"/>
                </a:solidFill>
                <a:latin typeface="Arial"/>
              </a:rPr>
              <a:t>, </a:t>
            </a:r>
            <a:r>
              <a:rPr sz="1500" b="0" i="0" dirty="0" err="1">
                <a:solidFill>
                  <a:srgbClr val="474F67"/>
                </a:solidFill>
                <a:latin typeface="Arial"/>
              </a:rPr>
              <a:t>xoay</a:t>
            </a:r>
            <a:r>
              <a:rPr sz="1500" b="0" i="0" dirty="0">
                <a:solidFill>
                  <a:srgbClr val="474F67"/>
                </a:solidFill>
                <a:latin typeface="Arial"/>
              </a:rPr>
              <a:t> ±8°, </a:t>
            </a:r>
            <a:r>
              <a:rPr sz="1500" b="0" i="0" dirty="0" err="1">
                <a:solidFill>
                  <a:srgbClr val="474F67"/>
                </a:solidFill>
                <a:latin typeface="Arial"/>
              </a:rPr>
              <a:t>đổi</a:t>
            </a:r>
            <a:r>
              <a:rPr sz="1500" b="0" i="0" dirty="0">
                <a:solidFill>
                  <a:srgbClr val="474F67"/>
                </a:solidFill>
                <a:latin typeface="Arial"/>
              </a:rPr>
              <a:t> </a:t>
            </a:r>
            <a:r>
              <a:rPr sz="1500" b="0" i="0" dirty="0" err="1">
                <a:solidFill>
                  <a:srgbClr val="474F67"/>
                </a:solidFill>
                <a:latin typeface="Arial"/>
              </a:rPr>
              <a:t>sáng</a:t>
            </a:r>
            <a:r>
              <a:rPr sz="1500" b="0" i="0" dirty="0">
                <a:solidFill>
                  <a:srgbClr val="474F67"/>
                </a:solidFill>
                <a:latin typeface="Arial"/>
              </a:rPr>
              <a:t>/</a:t>
            </a:r>
            <a:r>
              <a:rPr sz="1500" b="0" i="0" dirty="0" err="1">
                <a:solidFill>
                  <a:srgbClr val="474F67"/>
                </a:solidFill>
                <a:latin typeface="Arial"/>
              </a:rPr>
              <a:t>màu</a:t>
            </a:r>
            <a:r>
              <a:rPr lang="vi-VN" sz="1500" b="0" i="0" dirty="0">
                <a:solidFill>
                  <a:srgbClr val="474F67"/>
                </a:solidFill>
                <a:latin typeface="Arial"/>
              </a:rPr>
              <a:t>. </a:t>
            </a:r>
            <a:endParaRPr sz="1500" b="0" i="0" dirty="0">
              <a:solidFill>
                <a:srgbClr val="474F67"/>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Giao thức thí nghiệm</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5</a:t>
            </a:fld>
            <a:endParaRPr lang="en-US"/>
          </a:p>
        </p:txBody>
      </p:sp>
      <p:graphicFrame>
        <p:nvGraphicFramePr>
          <p:cNvPr id="7" name="Table 6"/>
          <p:cNvGraphicFramePr>
            <a:graphicFrameLocks noGrp="1"/>
          </p:cNvGraphicFramePr>
          <p:nvPr/>
        </p:nvGraphicFramePr>
        <p:xfrm>
          <a:off x="576072" y="960120"/>
          <a:ext cx="6766560" cy="4389120"/>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548640">
                <a:tc>
                  <a:txBody>
                    <a:bodyPr/>
                    <a:lstStyle/>
                    <a:p>
                      <a:pPr algn="l"/>
                      <a:r>
                        <a:rPr sz="1600" b="1">
                          <a:solidFill>
                            <a:srgbClr val="FFFFFF"/>
                          </a:solidFill>
                          <a:latin typeface="Arial"/>
                        </a:rPr>
                        <a:t>Thành phần</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600" b="1">
                          <a:solidFill>
                            <a:srgbClr val="FFFFFF"/>
                          </a:solidFill>
                          <a:latin typeface="Arial"/>
                        </a:rPr>
                        <a:t>Cấu hình cố định</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548640">
                <a:tc>
                  <a:txBody>
                    <a:bodyPr/>
                    <a:lstStyle/>
                    <a:p>
                      <a:pPr algn="l"/>
                      <a:r>
                        <a:rPr sz="1600" b="1">
                          <a:solidFill>
                            <a:srgbClr val="1D2939"/>
                          </a:solidFill>
                          <a:latin typeface="Arial"/>
                        </a:rPr>
                        <a:t>Khởi tạo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a:solidFill>
                            <a:srgbClr val="1D2939"/>
                          </a:solidFill>
                          <a:latin typeface="Arial"/>
                        </a:rPr>
                        <a:t>Pretrained ImageNet, fine-tune toàn bộ</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1D2939"/>
                          </a:solidFill>
                          <a:latin typeface="Arial"/>
                        </a:rPr>
                        <a:t>Optimizer</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err="1">
                          <a:solidFill>
                            <a:srgbClr val="1D2939"/>
                          </a:solidFill>
                          <a:latin typeface="Arial"/>
                        </a:rPr>
                        <a:t>AdamW</a:t>
                      </a:r>
                      <a:r>
                        <a:rPr sz="1600" b="0" dirty="0">
                          <a:solidFill>
                            <a:srgbClr val="1D2939"/>
                          </a:solidFill>
                          <a:latin typeface="Arial"/>
                        </a:rPr>
                        <a:t>, </a:t>
                      </a:r>
                      <a:r>
                        <a:rPr sz="1600" b="0" dirty="0" err="1">
                          <a:solidFill>
                            <a:srgbClr val="1D2939"/>
                          </a:solidFill>
                          <a:latin typeface="Arial"/>
                        </a:rPr>
                        <a:t>lr</a:t>
                      </a:r>
                      <a:r>
                        <a:rPr sz="1600" b="0" dirty="0">
                          <a:solidFill>
                            <a:srgbClr val="1D2939"/>
                          </a:solidFill>
                          <a:latin typeface="Arial"/>
                        </a:rPr>
                        <a:t> 1e-3, weight decay 1e-4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548640">
                <a:tc>
                  <a:txBody>
                    <a:bodyPr/>
                    <a:lstStyle/>
                    <a:p>
                      <a:pPr algn="l"/>
                      <a:r>
                        <a:rPr sz="1600" b="1" dirty="0" err="1">
                          <a:solidFill>
                            <a:srgbClr val="1D2939"/>
                          </a:solidFill>
                          <a:latin typeface="Arial"/>
                        </a:rPr>
                        <a:t>Lịch</a:t>
                      </a:r>
                      <a:r>
                        <a:rPr sz="1600" b="1" dirty="0">
                          <a:solidFill>
                            <a:srgbClr val="1D2939"/>
                          </a:solidFill>
                          <a:latin typeface="Arial"/>
                        </a:rPr>
                        <a:t> </a:t>
                      </a:r>
                      <a:r>
                        <a:rPr sz="1600" b="1" dirty="0" err="1">
                          <a:solidFill>
                            <a:srgbClr val="1D2939"/>
                          </a:solidFill>
                          <a:latin typeface="Arial"/>
                        </a:rPr>
                        <a:t>học</a:t>
                      </a:r>
                      <a:endParaRPr sz="1600" b="1"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Cosine annealing, 10 epoch, batch 64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D2939"/>
                          </a:solidFill>
                          <a:latin typeface="Arial"/>
                        </a:rPr>
                        <a:t>Hàm mất mát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a:solidFill>
                            <a:srgbClr val="1D2939"/>
                          </a:solidFill>
                          <a:latin typeface="Arial"/>
                        </a:rPr>
                        <a:t>Cross-entropy, label smoothing 0,1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4"/>
                  </a:ext>
                </a:extLst>
              </a:tr>
              <a:tr h="548640">
                <a:tc>
                  <a:txBody>
                    <a:bodyPr/>
                    <a:lstStyle/>
                    <a:p>
                      <a:pPr algn="l"/>
                      <a:r>
                        <a:rPr sz="1600" b="1">
                          <a:solidFill>
                            <a:srgbClr val="1D2939"/>
                          </a:solidFill>
                          <a:latin typeface="Arial"/>
                        </a:rPr>
                        <a:t>Ảnh vào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224×224, augmentation (</a:t>
                      </a:r>
                      <a:r>
                        <a:rPr sz="1600" b="0" dirty="0" err="1">
                          <a:solidFill>
                            <a:srgbClr val="1D2939"/>
                          </a:solidFill>
                          <a:latin typeface="Arial"/>
                        </a:rPr>
                        <a:t>không</a:t>
                      </a:r>
                      <a:r>
                        <a:rPr sz="1600" b="0" dirty="0">
                          <a:solidFill>
                            <a:srgbClr val="1D2939"/>
                          </a:solidFill>
                          <a:latin typeface="Arial"/>
                        </a:rPr>
                        <a:t> </a:t>
                      </a:r>
                      <a:r>
                        <a:rPr sz="1600" b="0" dirty="0" err="1">
                          <a:solidFill>
                            <a:srgbClr val="1D2939"/>
                          </a:solidFill>
                          <a:latin typeface="Arial"/>
                        </a:rPr>
                        <a:t>lật</a:t>
                      </a:r>
                      <a:r>
                        <a:rPr sz="1600" b="0" dirty="0">
                          <a:solidFill>
                            <a:srgbClr val="1D2939"/>
                          </a:solidFill>
                          <a:latin typeface="Arial"/>
                        </a:rPr>
                        <a:t> </a:t>
                      </a:r>
                      <a:r>
                        <a:rPr sz="1600" b="0" dirty="0" err="1">
                          <a:solidFill>
                            <a:srgbClr val="1D2939"/>
                          </a:solidFill>
                          <a:latin typeface="Arial"/>
                        </a:rPr>
                        <a:t>ngang</a:t>
                      </a:r>
                      <a:r>
                        <a:rPr sz="1600" b="0" dirty="0">
                          <a:solidFill>
                            <a:srgbClr val="1D2939"/>
                          </a:solidFill>
                          <a:latin typeface="Arial"/>
                        </a:rPr>
                        <a: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5"/>
                  </a:ext>
                </a:extLst>
              </a:tr>
              <a:tr h="548640">
                <a:tc>
                  <a:txBody>
                    <a:bodyPr/>
                    <a:lstStyle/>
                    <a:p>
                      <a:pPr algn="l"/>
                      <a:r>
                        <a:rPr sz="1600" b="1">
                          <a:solidFill>
                            <a:srgbClr val="1D2939"/>
                          </a:solidFill>
                          <a:latin typeface="Arial"/>
                        </a:rPr>
                        <a:t>Chọn checkpoint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a:solidFill>
                            <a:srgbClr val="1D2939"/>
                          </a:solidFill>
                          <a:latin typeface="Arial"/>
                        </a:rPr>
                        <a:t>Epoch có val macro-F1 cao nhất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6"/>
                  </a:ext>
                </a:extLst>
              </a:tr>
              <a:tr h="548640">
                <a:tc>
                  <a:txBody>
                    <a:bodyPr/>
                    <a:lstStyle/>
                    <a:p>
                      <a:pPr algn="l"/>
                      <a:r>
                        <a:rPr sz="1600" b="1">
                          <a:solidFill>
                            <a:srgbClr val="1D2939"/>
                          </a:solidFill>
                          <a:latin typeface="Arial"/>
                        </a:rPr>
                        <a:t>Đánh giá</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Test </a:t>
                      </a:r>
                      <a:r>
                        <a:rPr sz="1600" b="0" dirty="0" err="1">
                          <a:solidFill>
                            <a:srgbClr val="1D2939"/>
                          </a:solidFill>
                          <a:latin typeface="Arial"/>
                        </a:rPr>
                        <a:t>báo</a:t>
                      </a:r>
                      <a:r>
                        <a:rPr sz="1600" b="0" dirty="0">
                          <a:solidFill>
                            <a:srgbClr val="1D2939"/>
                          </a:solidFill>
                          <a:latin typeface="Arial"/>
                        </a:rPr>
                        <a:t> </a:t>
                      </a:r>
                      <a:r>
                        <a:rPr sz="1600" b="0" dirty="0" err="1">
                          <a:solidFill>
                            <a:srgbClr val="1D2939"/>
                          </a:solidFill>
                          <a:latin typeface="Arial"/>
                        </a:rPr>
                        <a:t>cáo</a:t>
                      </a:r>
                      <a:r>
                        <a:rPr sz="1600" b="0" dirty="0">
                          <a:solidFill>
                            <a:srgbClr val="1D2939"/>
                          </a:solidFill>
                          <a:latin typeface="Arial"/>
                        </a:rPr>
                        <a:t> </a:t>
                      </a:r>
                      <a:r>
                        <a:rPr sz="1600" b="0" dirty="0" err="1">
                          <a:solidFill>
                            <a:srgbClr val="1D2939"/>
                          </a:solidFill>
                          <a:latin typeface="Arial"/>
                        </a:rPr>
                        <a:t>một</a:t>
                      </a:r>
                      <a:r>
                        <a:rPr sz="1600" b="0" dirty="0">
                          <a:solidFill>
                            <a:srgbClr val="1D2939"/>
                          </a:solidFill>
                          <a:latin typeface="Arial"/>
                        </a:rPr>
                        <a:t> </a:t>
                      </a:r>
                      <a:r>
                        <a:rPr sz="1600" b="0" dirty="0" err="1">
                          <a:solidFill>
                            <a:srgbClr val="1D2939"/>
                          </a:solidFill>
                          <a:latin typeface="Arial"/>
                        </a:rPr>
                        <a:t>lần</a:t>
                      </a:r>
                      <a:r>
                        <a:rPr sz="1600" b="0" dirty="0">
                          <a:solidFill>
                            <a:srgbClr val="1D2939"/>
                          </a:solidFill>
                          <a:latin typeface="Arial"/>
                        </a:rPr>
                        <a:t>, seed 42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7680960" y="960120"/>
            <a:ext cx="3959352" cy="4389120"/>
          </a:xfrm>
          <a:prstGeom prst="roundRect">
            <a:avLst>
              <a:gd name="adj" fmla="val 8083"/>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16952" y="1115568"/>
            <a:ext cx="91440" cy="40782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60" y="1097280"/>
            <a:ext cx="3611880" cy="4114800"/>
          </a:xfrm>
          <a:prstGeom prst="rect">
            <a:avLst/>
          </a:prstGeom>
          <a:noFill/>
        </p:spPr>
        <p:txBody>
          <a:bodyPr wrap="square" lIns="0" tIns="0" rIns="0" bIns="0" anchor="t">
            <a:spAutoFit/>
          </a:bodyPr>
          <a:lstStyle/>
          <a:p>
            <a:pPr algn="l">
              <a:spcAft>
                <a:spcPts val="1000"/>
              </a:spcAft>
            </a:pPr>
            <a:r>
              <a:rPr sz="1800" b="1" i="0" dirty="0" err="1">
                <a:solidFill>
                  <a:srgbClr val="1D2939"/>
                </a:solidFill>
                <a:latin typeface="Arial"/>
              </a:rPr>
              <a:t>Thước</a:t>
            </a:r>
            <a:r>
              <a:rPr sz="1800" b="1" i="0" dirty="0">
                <a:solidFill>
                  <a:srgbClr val="1D2939"/>
                </a:solidFill>
                <a:latin typeface="Arial"/>
              </a:rPr>
              <a:t> </a:t>
            </a:r>
            <a:r>
              <a:rPr sz="1800" b="1" i="0" dirty="0" err="1">
                <a:solidFill>
                  <a:srgbClr val="1D2939"/>
                </a:solidFill>
                <a:latin typeface="Arial"/>
              </a:rPr>
              <a:t>đo</a:t>
            </a:r>
            <a:r>
              <a:rPr sz="1800" b="1" i="0" dirty="0">
                <a:solidFill>
                  <a:srgbClr val="1D2939"/>
                </a:solidFill>
                <a:latin typeface="Arial"/>
              </a:rPr>
              <a:t> </a:t>
            </a:r>
            <a:r>
              <a:rPr sz="1800" b="1" i="0" dirty="0" err="1">
                <a:solidFill>
                  <a:srgbClr val="1D2939"/>
                </a:solidFill>
                <a:latin typeface="Arial"/>
              </a:rPr>
              <a:t>chính</a:t>
            </a:r>
            <a:r>
              <a:rPr sz="1800" b="1" i="0" dirty="0">
                <a:solidFill>
                  <a:srgbClr val="1D2939"/>
                </a:solidFill>
                <a:latin typeface="Arial"/>
              </a:rPr>
              <a:t>: macro-F1</a:t>
            </a:r>
          </a:p>
          <a:p>
            <a:pPr algn="l">
              <a:spcAft>
                <a:spcPts val="1000"/>
              </a:spcAft>
            </a:pPr>
            <a:r>
              <a:rPr sz="1500" b="0" i="0" dirty="0">
                <a:solidFill>
                  <a:srgbClr val="474F67"/>
                </a:solidFill>
                <a:latin typeface="Arial"/>
              </a:rPr>
              <a:t>Trung </a:t>
            </a:r>
            <a:r>
              <a:rPr sz="1500" b="0" i="0" dirty="0" err="1">
                <a:solidFill>
                  <a:srgbClr val="474F67"/>
                </a:solidFill>
                <a:latin typeface="Arial"/>
              </a:rPr>
              <a:t>bình</a:t>
            </a:r>
            <a:r>
              <a:rPr sz="1500" b="0" i="0" dirty="0">
                <a:solidFill>
                  <a:srgbClr val="474F67"/>
                </a:solidFill>
                <a:latin typeface="Arial"/>
              </a:rPr>
              <a:t> F1 </a:t>
            </a:r>
            <a:r>
              <a:rPr sz="1500" b="0" i="0" dirty="0" err="1">
                <a:solidFill>
                  <a:srgbClr val="474F67"/>
                </a:solidFill>
                <a:latin typeface="Arial"/>
              </a:rPr>
              <a:t>của</a:t>
            </a:r>
            <a:r>
              <a:rPr sz="1500" b="0" i="0" dirty="0">
                <a:solidFill>
                  <a:srgbClr val="474F67"/>
                </a:solidFill>
                <a:latin typeface="Arial"/>
              </a:rPr>
              <a:t> 6 </a:t>
            </a:r>
            <a:r>
              <a:rPr sz="1500" b="0" i="0" dirty="0" err="1">
                <a:solidFill>
                  <a:srgbClr val="474F67"/>
                </a:solidFill>
                <a:latin typeface="Arial"/>
              </a:rPr>
              <a:t>lớp</a:t>
            </a:r>
            <a:r>
              <a:rPr sz="1500" b="0" i="0" dirty="0">
                <a:solidFill>
                  <a:srgbClr val="474F67"/>
                </a:solidFill>
                <a:latin typeface="Arial"/>
              </a:rPr>
              <a:t>, </a:t>
            </a:r>
            <a:r>
              <a:rPr sz="1500" b="0" i="0" dirty="0" err="1">
                <a:solidFill>
                  <a:srgbClr val="474F67"/>
                </a:solidFill>
                <a:latin typeface="Arial"/>
              </a:rPr>
              <a:t>mỗi</a:t>
            </a:r>
            <a:r>
              <a:rPr sz="1500" b="0" i="0" dirty="0">
                <a:solidFill>
                  <a:srgbClr val="474F67"/>
                </a:solidFill>
                <a:latin typeface="Arial"/>
              </a:rPr>
              <a:t> </a:t>
            </a:r>
            <a:r>
              <a:rPr sz="1500" b="0" i="0" dirty="0" err="1">
                <a:solidFill>
                  <a:srgbClr val="474F67"/>
                </a:solidFill>
                <a:latin typeface="Arial"/>
              </a:rPr>
              <a:t>lớp</a:t>
            </a:r>
            <a:r>
              <a:rPr sz="1500" b="0" i="0" dirty="0">
                <a:solidFill>
                  <a:srgbClr val="474F67"/>
                </a:solidFill>
                <a:latin typeface="Arial"/>
              </a:rPr>
              <a:t> </a:t>
            </a:r>
            <a:r>
              <a:rPr sz="1500" b="0" i="0" dirty="0" err="1">
                <a:solidFill>
                  <a:srgbClr val="474F67"/>
                </a:solidFill>
                <a:latin typeface="Arial"/>
              </a:rPr>
              <a:t>nặng</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 Accuracy </a:t>
            </a:r>
            <a:r>
              <a:rPr sz="1500" b="0" i="0" dirty="0" err="1">
                <a:solidFill>
                  <a:srgbClr val="474F67"/>
                </a:solidFill>
                <a:latin typeface="Arial"/>
              </a:rPr>
              <a:t>dễ</a:t>
            </a:r>
            <a:r>
              <a:rPr sz="1500" b="0" i="0" dirty="0">
                <a:solidFill>
                  <a:srgbClr val="474F67"/>
                </a:solidFill>
                <a:latin typeface="Arial"/>
              </a:rPr>
              <a:t> </a:t>
            </a:r>
            <a:r>
              <a:rPr sz="1500" b="0" i="0" dirty="0" err="1">
                <a:solidFill>
                  <a:srgbClr val="474F67"/>
                </a:solidFill>
                <a:latin typeface="Arial"/>
              </a:rPr>
              <a:t>đánh</a:t>
            </a:r>
            <a:r>
              <a:rPr sz="1500" b="0" i="0" dirty="0">
                <a:solidFill>
                  <a:srgbClr val="474F67"/>
                </a:solidFill>
                <a:latin typeface="Arial"/>
              </a:rPr>
              <a:t> </a:t>
            </a:r>
            <a:r>
              <a:rPr sz="1500" b="0" i="0" dirty="0" err="1">
                <a:solidFill>
                  <a:srgbClr val="474F67"/>
                </a:solidFill>
                <a:latin typeface="Arial"/>
              </a:rPr>
              <a:t>lừa</a:t>
            </a:r>
            <a:r>
              <a:rPr sz="1500" b="0" i="0" dirty="0">
                <a:solidFill>
                  <a:srgbClr val="474F67"/>
                </a:solidFill>
                <a:latin typeface="Arial"/>
              </a:rPr>
              <a:t> </a:t>
            </a:r>
            <a:r>
              <a:rPr sz="1500" b="0" i="0" dirty="0" err="1">
                <a:solidFill>
                  <a:srgbClr val="474F67"/>
                </a:solidFill>
                <a:latin typeface="Arial"/>
              </a:rPr>
              <a:t>vì</a:t>
            </a:r>
            <a:r>
              <a:rPr sz="1500" b="0" i="0" dirty="0">
                <a:solidFill>
                  <a:srgbClr val="474F67"/>
                </a:solidFill>
                <a:latin typeface="Arial"/>
              </a:rPr>
              <a:t> </a:t>
            </a:r>
            <a:r>
              <a:rPr sz="1500" b="0" i="0" dirty="0" err="1">
                <a:solidFill>
                  <a:srgbClr val="474F67"/>
                </a:solidFill>
                <a:latin typeface="Arial"/>
              </a:rPr>
              <a:t>lớp</a:t>
            </a:r>
            <a:r>
              <a:rPr sz="1500" b="0" i="0" dirty="0">
                <a:solidFill>
                  <a:srgbClr val="474F67"/>
                </a:solidFill>
                <a:latin typeface="Arial"/>
              </a:rPr>
              <a:t> phone </a:t>
            </a:r>
            <a:r>
              <a:rPr sz="1500" b="0" i="0" dirty="0" err="1">
                <a:solidFill>
                  <a:srgbClr val="474F67"/>
                </a:solidFill>
                <a:latin typeface="Arial"/>
              </a:rPr>
              <a:t>chiếm</a:t>
            </a:r>
            <a:r>
              <a:rPr sz="1500" b="0" i="0" dirty="0">
                <a:solidFill>
                  <a:srgbClr val="474F67"/>
                </a:solidFill>
                <a:latin typeface="Arial"/>
              </a:rPr>
              <a:t> </a:t>
            </a:r>
            <a:r>
              <a:rPr sz="1500" b="0" i="0" dirty="0" err="1">
                <a:solidFill>
                  <a:srgbClr val="474F67"/>
                </a:solidFill>
                <a:latin typeface="Arial"/>
              </a:rPr>
              <a:t>khoảng</a:t>
            </a:r>
            <a:r>
              <a:rPr sz="1500" b="0" i="0" dirty="0">
                <a:solidFill>
                  <a:srgbClr val="474F67"/>
                </a:solidFill>
                <a:latin typeface="Arial"/>
              </a:rPr>
              <a:t> 40%.</a:t>
            </a:r>
          </a:p>
          <a:p>
            <a:pPr algn="l">
              <a:spcAft>
                <a:spcPts val="1000"/>
              </a:spcAft>
            </a:pPr>
            <a:r>
              <a:rPr sz="1500" b="1" i="0" dirty="0" err="1">
                <a:solidFill>
                  <a:srgbClr val="1D2939"/>
                </a:solidFill>
                <a:latin typeface="Arial"/>
              </a:rPr>
              <a:t>Mốc</a:t>
            </a:r>
            <a:r>
              <a:rPr sz="1500" b="1" i="0" dirty="0">
                <a:solidFill>
                  <a:srgbClr val="1D2939"/>
                </a:solidFill>
                <a:latin typeface="Arial"/>
              </a:rPr>
              <a:t> "</a:t>
            </a:r>
            <a:r>
              <a:rPr sz="1500" b="1" i="0" dirty="0" err="1">
                <a:solidFill>
                  <a:srgbClr val="1D2939"/>
                </a:solidFill>
                <a:latin typeface="Arial"/>
              </a:rPr>
              <a:t>luôn</a:t>
            </a:r>
            <a:r>
              <a:rPr sz="1500" b="1" i="0" dirty="0">
                <a:solidFill>
                  <a:srgbClr val="1D2939"/>
                </a:solidFill>
                <a:latin typeface="Arial"/>
              </a:rPr>
              <a:t> </a:t>
            </a:r>
            <a:r>
              <a:rPr sz="1500" b="1" i="0" dirty="0" err="1">
                <a:solidFill>
                  <a:srgbClr val="1D2939"/>
                </a:solidFill>
                <a:latin typeface="Arial"/>
              </a:rPr>
              <a:t>đoán</a:t>
            </a:r>
            <a:r>
              <a:rPr sz="1500" b="1" i="0" dirty="0">
                <a:solidFill>
                  <a:srgbClr val="1D2939"/>
                </a:solidFill>
                <a:latin typeface="Arial"/>
              </a:rPr>
              <a:t> phone" </a:t>
            </a:r>
            <a:r>
              <a:rPr sz="1500" b="1" i="0" dirty="0" err="1">
                <a:solidFill>
                  <a:srgbClr val="1D2939"/>
                </a:solidFill>
                <a:latin typeface="Arial"/>
              </a:rPr>
              <a:t>trên</a:t>
            </a:r>
            <a:r>
              <a:rPr sz="1500" b="1" i="0" dirty="0">
                <a:solidFill>
                  <a:srgbClr val="1D2939"/>
                </a:solidFill>
                <a:latin typeface="Arial"/>
              </a:rPr>
              <a:t> test:</a:t>
            </a:r>
          </a:p>
          <a:p>
            <a:pPr algn="l">
              <a:spcAft>
                <a:spcPts val="1000"/>
              </a:spcAft>
            </a:pPr>
            <a:r>
              <a:rPr sz="2400" b="1" i="0" dirty="0">
                <a:solidFill>
                  <a:srgbClr val="00A95C"/>
                </a:solidFill>
                <a:latin typeface="Arial"/>
              </a:rPr>
              <a:t>macro-F1 0,093</a:t>
            </a:r>
          </a:p>
          <a:p>
            <a:pPr algn="l">
              <a:spcAft>
                <a:spcPts val="1000"/>
              </a:spcAft>
            </a:pPr>
            <a:r>
              <a:rPr sz="1400" b="0" i="0" dirty="0">
                <a:solidFill>
                  <a:srgbClr val="474F67"/>
                </a:solidFill>
                <a:latin typeface="Arial"/>
              </a:rPr>
              <a:t>(accuracy </a:t>
            </a:r>
            <a:r>
              <a:rPr sz="1400" b="0" i="0" dirty="0" err="1">
                <a:solidFill>
                  <a:srgbClr val="474F67"/>
                </a:solidFill>
                <a:latin typeface="Arial"/>
              </a:rPr>
              <a:t>vẫn</a:t>
            </a:r>
            <a:r>
              <a:rPr sz="1400" b="0" i="0" dirty="0">
                <a:solidFill>
                  <a:srgbClr val="474F67"/>
                </a:solidFill>
                <a:latin typeface="Arial"/>
              </a:rPr>
              <a:t> </a:t>
            </a:r>
            <a:r>
              <a:rPr sz="1400" b="0" i="0" dirty="0" err="1">
                <a:solidFill>
                  <a:srgbClr val="474F67"/>
                </a:solidFill>
                <a:latin typeface="Arial"/>
              </a:rPr>
              <a:t>đạt</a:t>
            </a:r>
            <a:r>
              <a:rPr sz="1400" b="0" i="0" dirty="0">
                <a:solidFill>
                  <a:srgbClr val="474F67"/>
                </a:solidFill>
                <a:latin typeface="Arial"/>
              </a:rPr>
              <a:t> 0,387)</a:t>
            </a:r>
          </a:p>
          <a:p>
            <a:pPr algn="l">
              <a:spcAft>
                <a:spcPts val="1000"/>
              </a:spcAft>
            </a:pPr>
            <a:r>
              <a:rPr sz="1500" b="1" i="0" dirty="0" err="1">
                <a:solidFill>
                  <a:srgbClr val="1D2939"/>
                </a:solidFill>
                <a:latin typeface="Arial"/>
              </a:rPr>
              <a:t>Phần</a:t>
            </a:r>
            <a:r>
              <a:rPr sz="1500" b="1" i="0" dirty="0">
                <a:solidFill>
                  <a:srgbClr val="1D2939"/>
                </a:solidFill>
                <a:latin typeface="Arial"/>
              </a:rPr>
              <a:t> edge </a:t>
            </a:r>
            <a:r>
              <a:rPr sz="1500" b="1" i="0" dirty="0" err="1">
                <a:solidFill>
                  <a:srgbClr val="1D2939"/>
                </a:solidFill>
                <a:latin typeface="Arial"/>
              </a:rPr>
              <a:t>đo</a:t>
            </a:r>
            <a:r>
              <a:rPr sz="1500" b="1" i="0" dirty="0">
                <a:solidFill>
                  <a:srgbClr val="1D2939"/>
                </a:solidFill>
                <a:latin typeface="Arial"/>
              </a:rPr>
              <a:t> </a:t>
            </a:r>
            <a:r>
              <a:rPr sz="1500" b="1" i="0" dirty="0" err="1">
                <a:solidFill>
                  <a:srgbClr val="1D2939"/>
                </a:solidFill>
                <a:latin typeface="Arial"/>
              </a:rPr>
              <a:t>thêm</a:t>
            </a:r>
            <a:r>
              <a:rPr sz="1500" b="1" i="0" dirty="0">
                <a:solidFill>
                  <a:srgbClr val="1D2939"/>
                </a:solidFill>
                <a:latin typeface="Arial"/>
              </a:rPr>
              <a:t>: </a:t>
            </a:r>
            <a:r>
              <a:rPr sz="1500" b="0" i="0" dirty="0" err="1">
                <a:solidFill>
                  <a:srgbClr val="474F67"/>
                </a:solidFill>
                <a:latin typeface="Arial"/>
              </a:rPr>
              <a:t>số</a:t>
            </a:r>
            <a:r>
              <a:rPr sz="1500" b="0" i="0" dirty="0">
                <a:solidFill>
                  <a:srgbClr val="474F67"/>
                </a:solidFill>
                <a:latin typeface="Arial"/>
              </a:rPr>
              <a:t> </a:t>
            </a:r>
            <a:r>
              <a:rPr sz="1500" b="0" i="0" dirty="0" err="1">
                <a:solidFill>
                  <a:srgbClr val="474F67"/>
                </a:solidFill>
                <a:latin typeface="Arial"/>
              </a:rPr>
              <a:t>tham</a:t>
            </a:r>
            <a:r>
              <a:rPr sz="1500" b="0" i="0" dirty="0">
                <a:solidFill>
                  <a:srgbClr val="474F67"/>
                </a:solidFill>
                <a:latin typeface="Arial"/>
              </a:rPr>
              <a:t> </a:t>
            </a:r>
            <a:r>
              <a:rPr sz="1500" b="0" i="0" dirty="0" err="1">
                <a:solidFill>
                  <a:srgbClr val="474F67"/>
                </a:solidFill>
                <a:latin typeface="Arial"/>
              </a:rPr>
              <a:t>số</a:t>
            </a:r>
            <a:r>
              <a:rPr sz="1500" b="0" i="0" dirty="0">
                <a:solidFill>
                  <a:srgbClr val="474F67"/>
                </a:solidFill>
                <a:latin typeface="Arial"/>
              </a:rPr>
              <a:t>, MACs, </a:t>
            </a:r>
            <a:r>
              <a:rPr sz="1500" b="0" i="0" dirty="0" err="1">
                <a:solidFill>
                  <a:srgbClr val="474F67"/>
                </a:solidFill>
                <a:latin typeface="Arial"/>
              </a:rPr>
              <a:t>kích</a:t>
            </a:r>
            <a:r>
              <a:rPr sz="1500" b="0" i="0" dirty="0">
                <a:solidFill>
                  <a:srgbClr val="474F67"/>
                </a:solidFill>
                <a:latin typeface="Arial"/>
              </a:rPr>
              <a:t> </a:t>
            </a:r>
            <a:r>
              <a:rPr sz="1500" b="0" i="0" dirty="0" err="1">
                <a:solidFill>
                  <a:srgbClr val="474F67"/>
                </a:solidFill>
                <a:latin typeface="Arial"/>
              </a:rPr>
              <a:t>thước</a:t>
            </a:r>
            <a:r>
              <a:rPr sz="1500" b="0" i="0" dirty="0">
                <a:solidFill>
                  <a:srgbClr val="474F67"/>
                </a:solidFill>
                <a:latin typeface="Arial"/>
              </a:rPr>
              <a:t> MB, </a:t>
            </a:r>
            <a:r>
              <a:rPr sz="1500" b="0" i="0" dirty="0" err="1">
                <a:solidFill>
                  <a:srgbClr val="474F67"/>
                </a:solidFill>
                <a:latin typeface="Arial"/>
              </a:rPr>
              <a:t>độ</a:t>
            </a:r>
            <a:r>
              <a:rPr sz="1500" b="0" i="0" dirty="0">
                <a:solidFill>
                  <a:srgbClr val="474F67"/>
                </a:solidFill>
                <a:latin typeface="Arial"/>
              </a:rPr>
              <a:t> </a:t>
            </a:r>
            <a:r>
              <a:rPr sz="1500" b="0" i="0" dirty="0" err="1">
                <a:solidFill>
                  <a:srgbClr val="474F67"/>
                </a:solidFill>
                <a:latin typeface="Arial"/>
              </a:rPr>
              <a:t>trễ</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FPS, </a:t>
            </a:r>
            <a:r>
              <a:rPr sz="1500" b="0" i="0" dirty="0" err="1">
                <a:solidFill>
                  <a:srgbClr val="474F67"/>
                </a:solidFill>
                <a:latin typeface="Arial"/>
              </a:rPr>
              <a:t>trước</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a:t>
            </a:r>
            <a:r>
              <a:rPr sz="1500" b="0" i="0" dirty="0" err="1">
                <a:solidFill>
                  <a:srgbClr val="474F67"/>
                </a:solidFill>
                <a:latin typeface="Arial"/>
              </a:rPr>
              <a:t>sau</a:t>
            </a:r>
            <a:r>
              <a:rPr sz="1500" b="0" i="0" dirty="0">
                <a:solidFill>
                  <a:srgbClr val="474F67"/>
                </a:solidFill>
                <a:latin typeface="Arial"/>
              </a:rPr>
              <a:t> INT8.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Các mô hình so sánh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6</a:t>
            </a:fld>
            <a:endParaRPr lang="en-US"/>
          </a:p>
        </p:txBody>
      </p:sp>
      <p:sp>
        <p:nvSpPr>
          <p:cNvPr id="7" name="Rounded Rectangle 6"/>
          <p:cNvSpPr/>
          <p:nvPr/>
        </p:nvSpPr>
        <p:spPr>
          <a:xfrm>
            <a:off x="57607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MobileNetV3-Small</a:t>
            </a:r>
          </a:p>
        </p:txBody>
      </p:sp>
      <p:sp>
        <p:nvSpPr>
          <p:cNvPr id="10" name="Rounded Rectangle 9"/>
          <p:cNvSpPr/>
          <p:nvPr/>
        </p:nvSpPr>
        <p:spPr>
          <a:xfrm>
            <a:off x="80467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Ứng viên edge (mục tiêu)</a:t>
            </a:r>
          </a:p>
        </p:txBody>
      </p:sp>
      <p:sp>
        <p:nvSpPr>
          <p:cNvPr id="11" name="TextBox 10"/>
          <p:cNvSpPr txBox="1"/>
          <p:nvPr/>
        </p:nvSpPr>
        <p:spPr>
          <a:xfrm>
            <a:off x="80467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1,52 M</a:t>
            </a:r>
          </a:p>
        </p:txBody>
      </p:sp>
      <p:sp>
        <p:nvSpPr>
          <p:cNvPr id="12" name="TextBox 11"/>
          <p:cNvSpPr txBox="1"/>
          <p:nvPr/>
        </p:nvSpPr>
        <p:spPr>
          <a:xfrm>
            <a:off x="80467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13" name="TextBox 12"/>
          <p:cNvSpPr txBox="1"/>
          <p:nvPr/>
        </p:nvSpPr>
        <p:spPr>
          <a:xfrm>
            <a:off x="80467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55 M</a:t>
            </a:r>
          </a:p>
        </p:txBody>
      </p:sp>
      <p:sp>
        <p:nvSpPr>
          <p:cNvPr id="14" name="TextBox 13"/>
          <p:cNvSpPr txBox="1"/>
          <p:nvPr/>
        </p:nvSpPr>
        <p:spPr>
          <a:xfrm>
            <a:off x="80467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15" name="Rounded Rectangle 14"/>
          <p:cNvSpPr/>
          <p:nvPr/>
        </p:nvSpPr>
        <p:spPr>
          <a:xfrm>
            <a:off x="341071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4670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931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EfficientNet-Lite0</a:t>
            </a:r>
          </a:p>
        </p:txBody>
      </p:sp>
      <p:sp>
        <p:nvSpPr>
          <p:cNvPr id="18" name="Rounded Rectangle 17"/>
          <p:cNvSpPr/>
          <p:nvPr/>
        </p:nvSpPr>
        <p:spPr>
          <a:xfrm>
            <a:off x="363931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Ứng viên edge</a:t>
            </a:r>
          </a:p>
        </p:txBody>
      </p:sp>
      <p:sp>
        <p:nvSpPr>
          <p:cNvPr id="19" name="TextBox 18"/>
          <p:cNvSpPr txBox="1"/>
          <p:nvPr/>
        </p:nvSpPr>
        <p:spPr>
          <a:xfrm>
            <a:off x="363931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3,38 M</a:t>
            </a:r>
          </a:p>
        </p:txBody>
      </p:sp>
      <p:sp>
        <p:nvSpPr>
          <p:cNvPr id="20" name="TextBox 19"/>
          <p:cNvSpPr txBox="1"/>
          <p:nvPr/>
        </p:nvSpPr>
        <p:spPr>
          <a:xfrm>
            <a:off x="363931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1" name="TextBox 20"/>
          <p:cNvSpPr txBox="1"/>
          <p:nvPr/>
        </p:nvSpPr>
        <p:spPr>
          <a:xfrm>
            <a:off x="363931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384 M</a:t>
            </a:r>
          </a:p>
        </p:txBody>
      </p:sp>
      <p:sp>
        <p:nvSpPr>
          <p:cNvPr id="22" name="TextBox 21"/>
          <p:cNvSpPr txBox="1"/>
          <p:nvPr/>
        </p:nvSpPr>
        <p:spPr>
          <a:xfrm>
            <a:off x="363931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23" name="Rounded Rectangle 22"/>
          <p:cNvSpPr/>
          <p:nvPr/>
        </p:nvSpPr>
        <p:spPr>
          <a:xfrm>
            <a:off x="624535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81344" y="1115568"/>
            <a:ext cx="91440" cy="35295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ResNet18</a:t>
            </a:r>
          </a:p>
        </p:txBody>
      </p:sp>
      <p:sp>
        <p:nvSpPr>
          <p:cNvPr id="26" name="Rounded Rectangle 25"/>
          <p:cNvSpPr/>
          <p:nvPr/>
        </p:nvSpPr>
        <p:spPr>
          <a:xfrm>
            <a:off x="6473952" y="1627632"/>
            <a:ext cx="2148840" cy="347472"/>
          </a:xfrm>
          <a:prstGeom prst="roundRect">
            <a:avLst>
              <a:gd name="adj" fmla="val 50000"/>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Mốc nặng vừa</a:t>
            </a:r>
          </a:p>
        </p:txBody>
      </p:sp>
      <p:sp>
        <p:nvSpPr>
          <p:cNvPr id="27" name="TextBox 26"/>
          <p:cNvSpPr txBox="1"/>
          <p:nvPr/>
        </p:nvSpPr>
        <p:spPr>
          <a:xfrm>
            <a:off x="6473952" y="2240280"/>
            <a:ext cx="2240280" cy="594360"/>
          </a:xfrm>
          <a:prstGeom prst="rect">
            <a:avLst/>
          </a:prstGeom>
          <a:noFill/>
        </p:spPr>
        <p:txBody>
          <a:bodyPr wrap="square" lIns="0" tIns="0" rIns="0" bIns="0" anchor="t">
            <a:spAutoFit/>
          </a:bodyPr>
          <a:lstStyle/>
          <a:p>
            <a:pPr algn="l">
              <a:spcAft>
                <a:spcPts val="600"/>
              </a:spcAft>
            </a:pPr>
            <a:r>
              <a:rPr sz="3200" b="1" i="0">
                <a:solidFill>
                  <a:srgbClr val="F58643"/>
                </a:solidFill>
                <a:latin typeface="Arial"/>
              </a:rPr>
              <a:t>11,18 M</a:t>
            </a:r>
          </a:p>
        </p:txBody>
      </p:sp>
      <p:sp>
        <p:nvSpPr>
          <p:cNvPr id="28" name="TextBox 27"/>
          <p:cNvSpPr txBox="1"/>
          <p:nvPr/>
        </p:nvSpPr>
        <p:spPr>
          <a:xfrm>
            <a:off x="647395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9" name="TextBox 28"/>
          <p:cNvSpPr txBox="1"/>
          <p:nvPr/>
        </p:nvSpPr>
        <p:spPr>
          <a:xfrm>
            <a:off x="6473952" y="3291840"/>
            <a:ext cx="2240280" cy="594360"/>
          </a:xfrm>
          <a:prstGeom prst="rect">
            <a:avLst/>
          </a:prstGeom>
          <a:noFill/>
        </p:spPr>
        <p:txBody>
          <a:bodyPr wrap="square" lIns="0" tIns="0" rIns="0" bIns="0" anchor="t">
            <a:spAutoFit/>
          </a:bodyPr>
          <a:lstStyle/>
          <a:p>
            <a:pPr algn="l">
              <a:spcAft>
                <a:spcPts val="600"/>
              </a:spcAft>
            </a:pPr>
            <a:r>
              <a:rPr sz="3200" b="1" i="0">
                <a:solidFill>
                  <a:srgbClr val="F58643"/>
                </a:solidFill>
                <a:latin typeface="Arial"/>
              </a:rPr>
              <a:t>1,81 G</a:t>
            </a:r>
          </a:p>
        </p:txBody>
      </p:sp>
      <p:sp>
        <p:nvSpPr>
          <p:cNvPr id="30" name="TextBox 29"/>
          <p:cNvSpPr txBox="1"/>
          <p:nvPr/>
        </p:nvSpPr>
        <p:spPr>
          <a:xfrm>
            <a:off x="6473952" y="3886200"/>
            <a:ext cx="2240280" cy="5486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MACs cho một ảnh 224×224</a:t>
            </a:r>
          </a:p>
        </p:txBody>
      </p:sp>
      <p:sp>
        <p:nvSpPr>
          <p:cNvPr id="31" name="Rounded Rectangle 30"/>
          <p:cNvSpPr/>
          <p:nvPr/>
        </p:nvSpPr>
        <p:spPr>
          <a:xfrm>
            <a:off x="907999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15984" y="1115568"/>
            <a:ext cx="91440" cy="35295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0859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ResNet50</a:t>
            </a:r>
          </a:p>
        </p:txBody>
      </p:sp>
      <p:sp>
        <p:nvSpPr>
          <p:cNvPr id="34" name="Rounded Rectangle 33"/>
          <p:cNvSpPr/>
          <p:nvPr/>
        </p:nvSpPr>
        <p:spPr>
          <a:xfrm>
            <a:off x="9308592" y="1627632"/>
            <a:ext cx="2148840" cy="347472"/>
          </a:xfrm>
          <a:prstGeom prst="roundRect">
            <a:avLst>
              <a:gd name="adj" fmla="val 50000"/>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Mốc nặng</a:t>
            </a:r>
          </a:p>
        </p:txBody>
      </p:sp>
      <p:sp>
        <p:nvSpPr>
          <p:cNvPr id="35" name="TextBox 34"/>
          <p:cNvSpPr txBox="1"/>
          <p:nvPr/>
        </p:nvSpPr>
        <p:spPr>
          <a:xfrm>
            <a:off x="9308592" y="2240280"/>
            <a:ext cx="2240280" cy="594360"/>
          </a:xfrm>
          <a:prstGeom prst="rect">
            <a:avLst/>
          </a:prstGeom>
          <a:noFill/>
        </p:spPr>
        <p:txBody>
          <a:bodyPr wrap="square" lIns="0" tIns="0" rIns="0" bIns="0" anchor="t">
            <a:spAutoFit/>
          </a:bodyPr>
          <a:lstStyle/>
          <a:p>
            <a:pPr algn="l">
              <a:spcAft>
                <a:spcPts val="600"/>
              </a:spcAft>
            </a:pPr>
            <a:r>
              <a:rPr sz="3200" b="1" i="0">
                <a:solidFill>
                  <a:srgbClr val="F56776"/>
                </a:solidFill>
                <a:latin typeface="Arial"/>
              </a:rPr>
              <a:t>23,52 M</a:t>
            </a:r>
          </a:p>
        </p:txBody>
      </p:sp>
      <p:sp>
        <p:nvSpPr>
          <p:cNvPr id="36" name="TextBox 35"/>
          <p:cNvSpPr txBox="1"/>
          <p:nvPr/>
        </p:nvSpPr>
        <p:spPr>
          <a:xfrm>
            <a:off x="930859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37" name="TextBox 36"/>
          <p:cNvSpPr txBox="1"/>
          <p:nvPr/>
        </p:nvSpPr>
        <p:spPr>
          <a:xfrm>
            <a:off x="9308592" y="3291840"/>
            <a:ext cx="2240280" cy="594360"/>
          </a:xfrm>
          <a:prstGeom prst="rect">
            <a:avLst/>
          </a:prstGeom>
          <a:noFill/>
        </p:spPr>
        <p:txBody>
          <a:bodyPr wrap="square" lIns="0" tIns="0" rIns="0" bIns="0" anchor="t">
            <a:spAutoFit/>
          </a:bodyPr>
          <a:lstStyle/>
          <a:p>
            <a:pPr algn="l">
              <a:spcAft>
                <a:spcPts val="600"/>
              </a:spcAft>
            </a:pPr>
            <a:r>
              <a:rPr sz="3200" b="1" i="0">
                <a:solidFill>
                  <a:srgbClr val="F56776"/>
                </a:solidFill>
                <a:latin typeface="Arial"/>
              </a:rPr>
              <a:t>4,09 G</a:t>
            </a:r>
          </a:p>
        </p:txBody>
      </p:sp>
      <p:sp>
        <p:nvSpPr>
          <p:cNvPr id="38" name="TextBox 37"/>
          <p:cNvSpPr txBox="1"/>
          <p:nvPr/>
        </p:nvSpPr>
        <p:spPr>
          <a:xfrm>
            <a:off x="9308592" y="3886200"/>
            <a:ext cx="2240280" cy="5486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MACs cho một ảnh 224×224</a:t>
            </a:r>
          </a:p>
        </p:txBody>
      </p:sp>
      <p:sp>
        <p:nvSpPr>
          <p:cNvPr id="39" name="TextBox 38"/>
          <p:cNvSpPr txBox="1"/>
          <p:nvPr/>
        </p:nvSpPr>
        <p:spPr>
          <a:xfrm>
            <a:off x="576072" y="5074920"/>
            <a:ext cx="11064240" cy="822960"/>
          </a:xfrm>
          <a:prstGeom prst="rect">
            <a:avLst/>
          </a:prstGeom>
          <a:noFill/>
        </p:spPr>
        <p:txBody>
          <a:bodyPr wrap="square" lIns="0" tIns="0" rIns="0" bIns="0" anchor="t">
            <a:spAutoFit/>
          </a:bodyPr>
          <a:lstStyle/>
          <a:p>
            <a:pPr algn="l">
              <a:spcAft>
                <a:spcPts val="600"/>
              </a:spcAft>
            </a:pPr>
            <a:r>
              <a:rPr sz="1500" b="0" i="0" dirty="0" err="1">
                <a:solidFill>
                  <a:srgbClr val="474F67"/>
                </a:solidFill>
                <a:latin typeface="Arial"/>
              </a:rPr>
              <a:t>Cùng</a:t>
            </a:r>
            <a:r>
              <a:rPr sz="1500" b="0" i="0" dirty="0">
                <a:solidFill>
                  <a:srgbClr val="474F67"/>
                </a:solidFill>
                <a:latin typeface="Arial"/>
              </a:rPr>
              <a:t> </a:t>
            </a:r>
            <a:r>
              <a:rPr sz="1500" b="0" i="0" dirty="0" err="1">
                <a:solidFill>
                  <a:srgbClr val="474F67"/>
                </a:solidFill>
                <a:latin typeface="Arial"/>
              </a:rPr>
              <a:t>giao</a:t>
            </a:r>
            <a:r>
              <a:rPr sz="1500" b="0" i="0" dirty="0">
                <a:solidFill>
                  <a:srgbClr val="474F67"/>
                </a:solidFill>
                <a:latin typeface="Arial"/>
              </a:rPr>
              <a:t> </a:t>
            </a:r>
            <a:r>
              <a:rPr sz="1500" b="0" i="0" dirty="0" err="1">
                <a:solidFill>
                  <a:srgbClr val="474F67"/>
                </a:solidFill>
                <a:latin typeface="Arial"/>
              </a:rPr>
              <a:t>thức</a:t>
            </a:r>
            <a:r>
              <a:rPr sz="1500" b="0" i="0" dirty="0">
                <a:solidFill>
                  <a:srgbClr val="474F67"/>
                </a:solidFill>
                <a:latin typeface="Arial"/>
              </a:rPr>
              <a:t> </a:t>
            </a:r>
            <a:r>
              <a:rPr sz="1500" b="0" i="0" dirty="0" err="1">
                <a:solidFill>
                  <a:srgbClr val="474F67"/>
                </a:solidFill>
                <a:latin typeface="Arial"/>
              </a:rPr>
              <a:t>cho</a:t>
            </a:r>
            <a:r>
              <a:rPr sz="1500" b="0" i="0" dirty="0">
                <a:solidFill>
                  <a:srgbClr val="474F67"/>
                </a:solidFill>
                <a:latin typeface="Arial"/>
              </a:rPr>
              <a:t> </a:t>
            </a:r>
            <a:r>
              <a:rPr sz="1500" b="0" i="0" dirty="0" err="1">
                <a:solidFill>
                  <a:srgbClr val="474F67"/>
                </a:solidFill>
                <a:latin typeface="Arial"/>
              </a:rPr>
              <a:t>cả</a:t>
            </a:r>
            <a:r>
              <a:rPr sz="1500" b="0" i="0" dirty="0">
                <a:solidFill>
                  <a:srgbClr val="474F67"/>
                </a:solidFill>
                <a:latin typeface="Arial"/>
              </a:rPr>
              <a:t> 4 </a:t>
            </a:r>
            <a:r>
              <a:rPr sz="1500" b="0" i="0" dirty="0" err="1">
                <a:solidFill>
                  <a:srgbClr val="474F67"/>
                </a:solidFill>
                <a:latin typeface="Arial"/>
              </a:rPr>
              <a:t>mô</a:t>
            </a:r>
            <a:r>
              <a:rPr sz="1500" b="0" i="0" dirty="0">
                <a:solidFill>
                  <a:srgbClr val="474F67"/>
                </a:solidFill>
                <a:latin typeface="Arial"/>
              </a:rPr>
              <a:t> </a:t>
            </a:r>
            <a:r>
              <a:rPr sz="1500" b="0" i="0" dirty="0" err="1">
                <a:solidFill>
                  <a:srgbClr val="474F67"/>
                </a:solidFill>
                <a:latin typeface="Arial"/>
              </a:rPr>
              <a:t>hình</a:t>
            </a:r>
            <a:r>
              <a:rPr sz="1500" b="0" i="0" dirty="0">
                <a:solidFill>
                  <a:srgbClr val="474F67"/>
                </a:solidFill>
                <a:latin typeface="Arial"/>
              </a:rPr>
              <a:t>. ResNet50 </a:t>
            </a:r>
            <a:r>
              <a:rPr sz="1500" b="0" i="0" dirty="0" err="1">
                <a:solidFill>
                  <a:srgbClr val="474F67"/>
                </a:solidFill>
                <a:latin typeface="Arial"/>
              </a:rPr>
              <a:t>nặng</a:t>
            </a:r>
            <a:r>
              <a:rPr sz="1500" b="0" i="0" dirty="0">
                <a:solidFill>
                  <a:srgbClr val="474F67"/>
                </a:solidFill>
                <a:latin typeface="Arial"/>
              </a:rPr>
              <a:t> </a:t>
            </a:r>
            <a:r>
              <a:rPr sz="1500" b="0" i="0" dirty="0" err="1">
                <a:solidFill>
                  <a:srgbClr val="474F67"/>
                </a:solidFill>
                <a:latin typeface="Arial"/>
              </a:rPr>
              <a:t>gấp</a:t>
            </a:r>
            <a:r>
              <a:rPr sz="1500" b="0" i="0" dirty="0">
                <a:solidFill>
                  <a:srgbClr val="474F67"/>
                </a:solidFill>
                <a:latin typeface="Arial"/>
              </a:rPr>
              <a:t> </a:t>
            </a:r>
            <a:r>
              <a:rPr sz="1500" b="0" i="0" dirty="0" err="1">
                <a:solidFill>
                  <a:srgbClr val="474F67"/>
                </a:solidFill>
                <a:latin typeface="Arial"/>
              </a:rPr>
              <a:t>khoảng</a:t>
            </a:r>
            <a:r>
              <a:rPr sz="1500" b="0" i="0" dirty="0">
                <a:solidFill>
                  <a:srgbClr val="474F67"/>
                </a:solidFill>
                <a:latin typeface="Arial"/>
              </a:rPr>
              <a:t> 74 </a:t>
            </a:r>
            <a:r>
              <a:rPr sz="1500" b="0" i="0" dirty="0" err="1">
                <a:solidFill>
                  <a:srgbClr val="474F67"/>
                </a:solidFill>
                <a:latin typeface="Arial"/>
              </a:rPr>
              <a:t>lần</a:t>
            </a:r>
            <a:r>
              <a:rPr sz="1500" b="0" i="0" dirty="0">
                <a:solidFill>
                  <a:srgbClr val="474F67"/>
                </a:solidFill>
                <a:latin typeface="Arial"/>
              </a:rPr>
              <a:t> MobileNetV3-Small </a:t>
            </a:r>
            <a:r>
              <a:rPr sz="1500" b="0" i="0" dirty="0" err="1">
                <a:solidFill>
                  <a:srgbClr val="474F67"/>
                </a:solidFill>
                <a:latin typeface="Arial"/>
              </a:rPr>
              <a:t>về</a:t>
            </a:r>
            <a:r>
              <a:rPr sz="1500" b="0" i="0" dirty="0">
                <a:solidFill>
                  <a:srgbClr val="474F67"/>
                </a:solidFill>
                <a:latin typeface="Arial"/>
              </a:rPr>
              <a:t> </a:t>
            </a:r>
            <a:r>
              <a:rPr sz="1500" b="0" i="0" dirty="0" err="1">
                <a:solidFill>
                  <a:srgbClr val="474F67"/>
                </a:solidFill>
                <a:latin typeface="Arial"/>
              </a:rPr>
              <a:t>tính</a:t>
            </a:r>
            <a:r>
              <a:rPr sz="1500" b="0" i="0" dirty="0">
                <a:solidFill>
                  <a:srgbClr val="474F67"/>
                </a:solidFill>
                <a:latin typeface="Arial"/>
              </a:rPr>
              <a:t> </a:t>
            </a:r>
            <a:r>
              <a:rPr sz="1500" b="0" i="0" dirty="0" err="1">
                <a:solidFill>
                  <a:srgbClr val="474F67"/>
                </a:solidFill>
                <a:latin typeface="Arial"/>
              </a:rPr>
              <a:t>toán</a:t>
            </a:r>
            <a:r>
              <a:rPr sz="1500" b="0" i="0" dirty="0">
                <a:solidFill>
                  <a:srgbClr val="474F67"/>
                </a:solidFill>
                <a:latin typeface="Arial"/>
              </a:rPr>
              <a:t>; EfficientNet-Lite0 ở </a:t>
            </a:r>
            <a:r>
              <a:rPr sz="1500" b="0" i="0" dirty="0" err="1">
                <a:solidFill>
                  <a:srgbClr val="474F67"/>
                </a:solidFill>
                <a:latin typeface="Arial"/>
              </a:rPr>
              <a:t>giữa</a:t>
            </a:r>
            <a:r>
              <a:rPr sz="1500" b="0" i="0" dirty="0">
                <a:solidFill>
                  <a:srgbClr val="474F67"/>
                </a:solidFill>
                <a:latin typeface="Arial"/>
              </a:rPr>
              <a:t> (</a:t>
            </a:r>
            <a:r>
              <a:rPr sz="1500" b="0" i="0" dirty="0" err="1">
                <a:solidFill>
                  <a:srgbClr val="474F67"/>
                </a:solidFill>
                <a:latin typeface="Arial"/>
              </a:rPr>
              <a:t>khoảng</a:t>
            </a:r>
            <a:r>
              <a:rPr sz="1500" b="0" i="0" dirty="0">
                <a:solidFill>
                  <a:srgbClr val="474F67"/>
                </a:solidFill>
                <a:latin typeface="Arial"/>
              </a:rPr>
              <a:t> 7 </a:t>
            </a:r>
            <a:r>
              <a:rPr sz="1500" b="0" i="0" dirty="0" err="1">
                <a:solidFill>
                  <a:srgbClr val="474F67"/>
                </a:solidFill>
                <a:latin typeface="Arial"/>
              </a:rPr>
              <a:t>lần</a:t>
            </a:r>
            <a:r>
              <a:rPr sz="1500" b="0" i="0" dirty="0">
                <a:solidFill>
                  <a:srgbClr val="474F67"/>
                </a:solidFill>
                <a:latin typeface="A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Kết quả: macro-F1 trên val và test</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7</a:t>
            </a:fld>
            <a:endParaRPr lang="en-US"/>
          </a:p>
        </p:txBody>
      </p:sp>
      <p:graphicFrame>
        <p:nvGraphicFramePr>
          <p:cNvPr id="7" name="Chart 6"/>
          <p:cNvGraphicFramePr>
            <a:graphicFrameLocks noGrp="1"/>
          </p:cNvGraphicFramePr>
          <p:nvPr/>
        </p:nvGraphicFramePr>
        <p:xfrm>
          <a:off x="576072" y="914400"/>
          <a:ext cx="73152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183879" y="914400"/>
            <a:ext cx="3456432" cy="4846320"/>
          </a:xfrm>
          <a:prstGeom prst="roundRect">
            <a:avLst>
              <a:gd name="adj" fmla="val 925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19871" y="1069848"/>
            <a:ext cx="91440" cy="45354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051560"/>
            <a:ext cx="3108960" cy="2534027"/>
          </a:xfrm>
          <a:prstGeom prst="rect">
            <a:avLst/>
          </a:prstGeom>
          <a:noFill/>
        </p:spPr>
        <p:txBody>
          <a:bodyPr wrap="square" lIns="0" tIns="0" rIns="0" bIns="0" anchor="t">
            <a:spAutoFit/>
          </a:bodyPr>
          <a:lstStyle/>
          <a:p>
            <a:pPr algn="l">
              <a:spcAft>
                <a:spcPts val="1000"/>
              </a:spcAft>
            </a:pPr>
            <a:r>
              <a:rPr sz="1800" b="1" i="0" dirty="0" err="1">
                <a:solidFill>
                  <a:srgbClr val="1D2939"/>
                </a:solidFill>
                <a:latin typeface="Arial"/>
              </a:rPr>
              <a:t>Đọc</a:t>
            </a:r>
            <a:r>
              <a:rPr sz="1800" b="1" i="0" dirty="0">
                <a:solidFill>
                  <a:srgbClr val="1D2939"/>
                </a:solidFill>
                <a:latin typeface="Arial"/>
              </a:rPr>
              <a:t> </a:t>
            </a:r>
            <a:r>
              <a:rPr sz="1800" b="1" i="0" dirty="0" err="1">
                <a:solidFill>
                  <a:srgbClr val="1D2939"/>
                </a:solidFill>
                <a:latin typeface="Arial"/>
              </a:rPr>
              <a:t>nhanh</a:t>
            </a:r>
            <a:endParaRPr sz="1800" b="1" i="0" dirty="0">
              <a:solidFill>
                <a:srgbClr val="1D2939"/>
              </a:solidFill>
              <a:latin typeface="Arial"/>
            </a:endParaRPr>
          </a:p>
          <a:p>
            <a:pPr algn="l">
              <a:spcAft>
                <a:spcPts val="1000"/>
              </a:spcAft>
            </a:pPr>
            <a:r>
              <a:rPr sz="1500" b="0" i="0" dirty="0">
                <a:solidFill>
                  <a:srgbClr val="474F67"/>
                </a:solidFill>
                <a:latin typeface="Arial"/>
              </a:rPr>
              <a:t>Test macro-F1 </a:t>
            </a:r>
            <a:r>
              <a:rPr sz="1500" b="0" i="0" dirty="0" err="1">
                <a:solidFill>
                  <a:srgbClr val="474F67"/>
                </a:solidFill>
                <a:latin typeface="Arial"/>
              </a:rPr>
              <a:t>cao</a:t>
            </a:r>
            <a:r>
              <a:rPr sz="1500" b="0" i="0" dirty="0">
                <a:solidFill>
                  <a:srgbClr val="474F67"/>
                </a:solidFill>
                <a:latin typeface="Arial"/>
              </a:rPr>
              <a:t> </a:t>
            </a:r>
            <a:r>
              <a:rPr sz="1500" b="0" i="0" dirty="0" err="1">
                <a:solidFill>
                  <a:srgbClr val="474F67"/>
                </a:solidFill>
                <a:latin typeface="Arial"/>
              </a:rPr>
              <a:t>nhất</a:t>
            </a:r>
            <a:endParaRPr sz="1500" b="0" i="0" dirty="0">
              <a:solidFill>
                <a:srgbClr val="474F67"/>
              </a:solidFill>
              <a:latin typeface="Arial"/>
            </a:endParaRPr>
          </a:p>
          <a:p>
            <a:pPr algn="l">
              <a:spcAft>
                <a:spcPts val="1000"/>
              </a:spcAft>
            </a:pPr>
            <a:r>
              <a:rPr sz="2000" b="1" i="0" dirty="0">
                <a:solidFill>
                  <a:srgbClr val="00A95C"/>
                </a:solidFill>
                <a:latin typeface="Arial"/>
              </a:rPr>
              <a:t>EfficientNet-Lite0: 0,786</a:t>
            </a:r>
          </a:p>
          <a:p>
            <a:pPr algn="l">
              <a:spcAft>
                <a:spcPts val="1000"/>
              </a:spcAft>
            </a:pPr>
            <a:r>
              <a:rPr sz="1400" b="0" i="0" dirty="0">
                <a:solidFill>
                  <a:srgbClr val="474F67"/>
                </a:solidFill>
                <a:latin typeface="Arial"/>
              </a:rPr>
              <a:t>Accuracy test </a:t>
            </a:r>
            <a:r>
              <a:rPr sz="1400" b="0" i="0" dirty="0" err="1">
                <a:solidFill>
                  <a:srgbClr val="474F67"/>
                </a:solidFill>
                <a:latin typeface="Arial"/>
              </a:rPr>
              <a:t>cao</a:t>
            </a:r>
            <a:r>
              <a:rPr sz="1400" b="0" i="0" dirty="0">
                <a:solidFill>
                  <a:srgbClr val="474F67"/>
                </a:solidFill>
                <a:latin typeface="Arial"/>
              </a:rPr>
              <a:t> </a:t>
            </a:r>
            <a:r>
              <a:rPr sz="1400" b="0" i="0" dirty="0" err="1">
                <a:solidFill>
                  <a:srgbClr val="474F67"/>
                </a:solidFill>
                <a:latin typeface="Arial"/>
              </a:rPr>
              <a:t>nhất</a:t>
            </a:r>
            <a:r>
              <a:rPr sz="1400" b="0" i="0" dirty="0">
                <a:solidFill>
                  <a:srgbClr val="474F67"/>
                </a:solidFill>
                <a:latin typeface="Arial"/>
              </a:rPr>
              <a:t> </a:t>
            </a:r>
            <a:r>
              <a:rPr sz="1400" b="0" i="0" dirty="0" err="1">
                <a:solidFill>
                  <a:srgbClr val="474F67"/>
                </a:solidFill>
                <a:latin typeface="Arial"/>
              </a:rPr>
              <a:t>cũng</a:t>
            </a:r>
            <a:r>
              <a:rPr sz="1400" b="0" i="0" dirty="0">
                <a:solidFill>
                  <a:srgbClr val="474F67"/>
                </a:solidFill>
                <a:latin typeface="Arial"/>
              </a:rPr>
              <a:t> </a:t>
            </a:r>
            <a:r>
              <a:rPr sz="1400" b="0" i="0" dirty="0" err="1">
                <a:solidFill>
                  <a:srgbClr val="474F67"/>
                </a:solidFill>
                <a:latin typeface="Arial"/>
              </a:rPr>
              <a:t>là</a:t>
            </a:r>
            <a:r>
              <a:rPr sz="1400" b="0" i="0" dirty="0">
                <a:solidFill>
                  <a:srgbClr val="474F67"/>
                </a:solidFill>
                <a:latin typeface="Arial"/>
              </a:rPr>
              <a:t> EfficientNet-Lite0: 0,854</a:t>
            </a:r>
          </a:p>
          <a:p>
            <a:pPr algn="l">
              <a:spcAft>
                <a:spcPts val="1000"/>
              </a:spcAft>
            </a:pPr>
            <a:r>
              <a:rPr sz="1400" b="0" i="0" dirty="0" err="1">
                <a:solidFill>
                  <a:srgbClr val="474F67"/>
                </a:solidFill>
                <a:latin typeface="Arial"/>
              </a:rPr>
              <a:t>Mọi</a:t>
            </a:r>
            <a:r>
              <a:rPr sz="1400" b="0" i="0" dirty="0">
                <a:solidFill>
                  <a:srgbClr val="474F67"/>
                </a:solidFill>
                <a:latin typeface="Arial"/>
              </a:rPr>
              <a:t> </a:t>
            </a:r>
            <a:r>
              <a:rPr sz="1400" b="0" i="0" dirty="0" err="1">
                <a:solidFill>
                  <a:srgbClr val="474F67"/>
                </a:solidFill>
                <a:latin typeface="Arial"/>
              </a:rPr>
              <a:t>mô</a:t>
            </a:r>
            <a:r>
              <a:rPr sz="1400" b="0" i="0" dirty="0">
                <a:solidFill>
                  <a:srgbClr val="474F67"/>
                </a:solidFill>
                <a:latin typeface="Arial"/>
              </a:rPr>
              <a:t> </a:t>
            </a:r>
            <a:r>
              <a:rPr sz="1400" b="0" i="0" dirty="0" err="1">
                <a:solidFill>
                  <a:srgbClr val="474F67"/>
                </a:solidFill>
                <a:latin typeface="Arial"/>
              </a:rPr>
              <a:t>hình</a:t>
            </a:r>
            <a:r>
              <a:rPr sz="1400" b="0" i="0" dirty="0">
                <a:solidFill>
                  <a:srgbClr val="474F67"/>
                </a:solidFill>
                <a:latin typeface="Arial"/>
              </a:rPr>
              <a:t> </a:t>
            </a:r>
            <a:r>
              <a:rPr sz="1400" b="0" i="0" dirty="0" err="1">
                <a:solidFill>
                  <a:srgbClr val="474F67"/>
                </a:solidFill>
                <a:latin typeface="Arial"/>
              </a:rPr>
              <a:t>vượt</a:t>
            </a:r>
            <a:r>
              <a:rPr sz="1400" b="0" i="0" dirty="0">
                <a:solidFill>
                  <a:srgbClr val="474F67"/>
                </a:solidFill>
                <a:latin typeface="Arial"/>
              </a:rPr>
              <a:t> xa </a:t>
            </a:r>
            <a:r>
              <a:rPr sz="1400" b="0" i="0" dirty="0" err="1">
                <a:solidFill>
                  <a:srgbClr val="474F67"/>
                </a:solidFill>
                <a:latin typeface="Arial"/>
              </a:rPr>
              <a:t>mốc</a:t>
            </a:r>
            <a:r>
              <a:rPr sz="1400" b="0" i="0" dirty="0">
                <a:solidFill>
                  <a:srgbClr val="474F67"/>
                </a:solidFill>
                <a:latin typeface="Arial"/>
              </a:rPr>
              <a:t> </a:t>
            </a:r>
            <a:r>
              <a:rPr sz="1400" b="0" i="0" dirty="0" err="1">
                <a:solidFill>
                  <a:srgbClr val="474F67"/>
                </a:solidFill>
                <a:latin typeface="Arial"/>
              </a:rPr>
              <a:t>đoán</a:t>
            </a:r>
            <a:r>
              <a:rPr sz="1400" b="0" i="0" dirty="0">
                <a:solidFill>
                  <a:srgbClr val="474F67"/>
                </a:solidFill>
                <a:latin typeface="Arial"/>
              </a:rPr>
              <a:t> </a:t>
            </a:r>
            <a:r>
              <a:rPr sz="1400" b="0" i="0" dirty="0" err="1">
                <a:solidFill>
                  <a:srgbClr val="474F67"/>
                </a:solidFill>
                <a:latin typeface="Arial"/>
              </a:rPr>
              <a:t>đa</a:t>
            </a:r>
            <a:r>
              <a:rPr sz="1400" b="0" i="0" dirty="0">
                <a:solidFill>
                  <a:srgbClr val="474F67"/>
                </a:solidFill>
                <a:latin typeface="Arial"/>
              </a:rPr>
              <a:t> </a:t>
            </a:r>
            <a:r>
              <a:rPr sz="1400" b="0" i="0" dirty="0" err="1">
                <a:solidFill>
                  <a:srgbClr val="474F67"/>
                </a:solidFill>
                <a:latin typeface="Arial"/>
              </a:rPr>
              <a:t>số</a:t>
            </a:r>
            <a:r>
              <a:rPr sz="1400" b="0" i="0" dirty="0">
                <a:solidFill>
                  <a:srgbClr val="474F67"/>
                </a:solidFill>
                <a:latin typeface="Arial"/>
              </a:rPr>
              <a:t> (macro-F1 0,093)</a:t>
            </a:r>
          </a:p>
          <a:p>
            <a:pPr algn="l">
              <a:spcAft>
                <a:spcPts val="1000"/>
              </a:spcAft>
            </a:pPr>
            <a:r>
              <a:rPr sz="1400" b="0" i="0" dirty="0">
                <a:solidFill>
                  <a:srgbClr val="474F67"/>
                </a:solidFill>
                <a:latin typeface="Arial"/>
              </a:rPr>
              <a:t>Val </a:t>
            </a:r>
            <a:r>
              <a:rPr sz="1400" b="0" i="0" dirty="0" err="1">
                <a:solidFill>
                  <a:srgbClr val="474F67"/>
                </a:solidFill>
                <a:latin typeface="Arial"/>
              </a:rPr>
              <a:t>luôn</a:t>
            </a:r>
            <a:r>
              <a:rPr sz="1400" b="0" i="0" dirty="0">
                <a:solidFill>
                  <a:srgbClr val="474F67"/>
                </a:solidFill>
                <a:latin typeface="Arial"/>
              </a:rPr>
              <a:t> </a:t>
            </a:r>
            <a:r>
              <a:rPr sz="1400" b="0" i="0" dirty="0" err="1">
                <a:solidFill>
                  <a:srgbClr val="474F67"/>
                </a:solidFill>
                <a:latin typeface="Arial"/>
              </a:rPr>
              <a:t>cao</a:t>
            </a:r>
            <a:r>
              <a:rPr sz="1400" b="0" i="0" dirty="0">
                <a:solidFill>
                  <a:srgbClr val="474F67"/>
                </a:solidFill>
                <a:latin typeface="Arial"/>
              </a:rPr>
              <a:t> </a:t>
            </a:r>
            <a:r>
              <a:rPr sz="1400" b="0" i="0" dirty="0" err="1">
                <a:solidFill>
                  <a:srgbClr val="474F67"/>
                </a:solidFill>
                <a:latin typeface="Arial"/>
              </a:rPr>
              <a:t>hơn</a:t>
            </a:r>
            <a:r>
              <a:rPr sz="1400" b="0" i="0" dirty="0">
                <a:solidFill>
                  <a:srgbClr val="474F67"/>
                </a:solidFill>
                <a:latin typeface="Arial"/>
              </a:rPr>
              <a:t> test: </a:t>
            </a:r>
            <a:r>
              <a:rPr sz="1400" b="0" i="0" dirty="0" err="1">
                <a:solidFill>
                  <a:srgbClr val="474F67"/>
                </a:solidFill>
                <a:latin typeface="Arial"/>
              </a:rPr>
              <a:t>xem</a:t>
            </a:r>
            <a:r>
              <a:rPr sz="1400" b="0" i="0" dirty="0">
                <a:solidFill>
                  <a:srgbClr val="474F67"/>
                </a:solidFill>
                <a:latin typeface="Arial"/>
              </a:rPr>
              <a:t> slide </a:t>
            </a:r>
            <a:r>
              <a:rPr sz="1400" b="0" i="0" dirty="0" err="1">
                <a:solidFill>
                  <a:srgbClr val="474F67"/>
                </a:solidFill>
                <a:latin typeface="Arial"/>
              </a:rPr>
              <a:t>sau</a:t>
            </a:r>
            <a:endParaRPr sz="1400" b="0" i="0" dirty="0">
              <a:solidFill>
                <a:srgbClr val="474F67"/>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Phát hiện chính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8</a:t>
            </a:fld>
            <a:endParaRPr lang="en-US"/>
          </a:p>
        </p:txBody>
      </p:sp>
      <p:sp>
        <p:nvSpPr>
          <p:cNvPr id="7" name="Rounded Rectangle 6"/>
          <p:cNvSpPr/>
          <p:nvPr/>
        </p:nvSpPr>
        <p:spPr>
          <a:xfrm>
            <a:off x="576072" y="960120"/>
            <a:ext cx="3520440" cy="406908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758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 y="1143000"/>
            <a:ext cx="3063240" cy="868680"/>
          </a:xfrm>
          <a:prstGeom prst="rect">
            <a:avLst/>
          </a:prstGeom>
          <a:noFill/>
        </p:spPr>
        <p:txBody>
          <a:bodyPr wrap="square" lIns="0" tIns="0" rIns="0" bIns="0" anchor="t">
            <a:spAutoFit/>
          </a:bodyPr>
          <a:lstStyle/>
          <a:p>
            <a:pPr algn="l">
              <a:spcAft>
                <a:spcPts val="600"/>
              </a:spcAft>
            </a:pPr>
            <a:r>
              <a:rPr sz="2000" b="1" i="0">
                <a:solidFill>
                  <a:srgbClr val="1D2939"/>
                </a:solidFill>
                <a:latin typeface="Arial"/>
              </a:rPr>
              <a:t>Nặng hơn không tốt hơn</a:t>
            </a:r>
          </a:p>
        </p:txBody>
      </p:sp>
      <p:sp>
        <p:nvSpPr>
          <p:cNvPr id="10" name="TextBox 9"/>
          <p:cNvSpPr txBox="1"/>
          <p:nvPr/>
        </p:nvSpPr>
        <p:spPr>
          <a:xfrm>
            <a:off x="832104" y="2057400"/>
            <a:ext cx="3063240" cy="685800"/>
          </a:xfrm>
          <a:prstGeom prst="rect">
            <a:avLst/>
          </a:prstGeom>
          <a:noFill/>
        </p:spPr>
        <p:txBody>
          <a:bodyPr wrap="square" lIns="0" tIns="0" rIns="0" bIns="0" anchor="t">
            <a:spAutoFit/>
          </a:bodyPr>
          <a:lstStyle/>
          <a:p>
            <a:pPr algn="l">
              <a:spcAft>
                <a:spcPts val="600"/>
              </a:spcAft>
            </a:pPr>
            <a:r>
              <a:rPr sz="3000" b="1" i="0">
                <a:solidFill>
                  <a:srgbClr val="00A95C"/>
                </a:solidFill>
                <a:latin typeface="Arial"/>
              </a:rPr>
              <a:t>0,786 vs 0,746</a:t>
            </a:r>
          </a:p>
        </p:txBody>
      </p:sp>
      <p:sp>
        <p:nvSpPr>
          <p:cNvPr id="11" name="TextBox 10"/>
          <p:cNvSpPr txBox="1"/>
          <p:nvPr/>
        </p:nvSpPr>
        <p:spPr>
          <a:xfrm>
            <a:off x="832104" y="2880360"/>
            <a:ext cx="3063240" cy="201168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EfficientNet-Lite0 (384 M MACs) cao hơn ResNet50 (4,09 G MACs, nặng gấp 10,6 lần) trên test.</a:t>
            </a:r>
          </a:p>
        </p:txBody>
      </p:sp>
      <p:sp>
        <p:nvSpPr>
          <p:cNvPr id="12" name="Rounded Rectangle 11"/>
          <p:cNvSpPr/>
          <p:nvPr/>
        </p:nvSpPr>
        <p:spPr>
          <a:xfrm>
            <a:off x="4343400" y="960120"/>
            <a:ext cx="3520440" cy="406908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9392" y="1115568"/>
            <a:ext cx="91440" cy="3758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1143000"/>
            <a:ext cx="3063240" cy="868680"/>
          </a:xfrm>
          <a:prstGeom prst="rect">
            <a:avLst/>
          </a:prstGeom>
          <a:noFill/>
        </p:spPr>
        <p:txBody>
          <a:bodyPr wrap="square" lIns="0" tIns="0" rIns="0" bIns="0" anchor="t">
            <a:spAutoFit/>
          </a:bodyPr>
          <a:lstStyle/>
          <a:p>
            <a:pPr algn="l">
              <a:spcAft>
                <a:spcPts val="600"/>
              </a:spcAft>
            </a:pPr>
            <a:r>
              <a:rPr sz="2000" b="1" i="0">
                <a:solidFill>
                  <a:srgbClr val="1D2939"/>
                </a:solidFill>
                <a:latin typeface="Arial"/>
              </a:rPr>
              <a:t>Val lạc quan hơn test</a:t>
            </a:r>
          </a:p>
        </p:txBody>
      </p:sp>
      <p:sp>
        <p:nvSpPr>
          <p:cNvPr id="15" name="TextBox 14"/>
          <p:cNvSpPr txBox="1"/>
          <p:nvPr/>
        </p:nvSpPr>
        <p:spPr>
          <a:xfrm>
            <a:off x="4599432" y="2057400"/>
            <a:ext cx="3063240" cy="685800"/>
          </a:xfrm>
          <a:prstGeom prst="rect">
            <a:avLst/>
          </a:prstGeom>
          <a:noFill/>
        </p:spPr>
        <p:txBody>
          <a:bodyPr wrap="square" lIns="0" tIns="0" rIns="0" bIns="0" anchor="t">
            <a:spAutoFit/>
          </a:bodyPr>
          <a:lstStyle/>
          <a:p>
            <a:pPr algn="l">
              <a:spcAft>
                <a:spcPts val="600"/>
              </a:spcAft>
            </a:pPr>
            <a:r>
              <a:rPr sz="3000" b="1" i="0">
                <a:solidFill>
                  <a:srgbClr val="F58643"/>
                </a:solidFill>
                <a:latin typeface="Arial"/>
              </a:rPr>
              <a:t>0,10 → 0,19</a:t>
            </a:r>
          </a:p>
        </p:txBody>
      </p:sp>
      <p:sp>
        <p:nvSpPr>
          <p:cNvPr id="16" name="TextBox 15"/>
          <p:cNvSpPr txBox="1"/>
          <p:nvPr/>
        </p:nvSpPr>
        <p:spPr>
          <a:xfrm>
            <a:off x="4599432" y="2880360"/>
            <a:ext cx="3063240" cy="201168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Chênh val − test tăng theo kích thước mô hình. Val chỉ 4 tài xế và được dùng để chọn epoch, nên khó tổng quát sang tài xế mới.</a:t>
            </a:r>
          </a:p>
        </p:txBody>
      </p:sp>
      <p:sp>
        <p:nvSpPr>
          <p:cNvPr id="17" name="Rounded Rectangle 16"/>
          <p:cNvSpPr/>
          <p:nvPr/>
        </p:nvSpPr>
        <p:spPr>
          <a:xfrm>
            <a:off x="8110728" y="960120"/>
            <a:ext cx="3520440" cy="406908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1115568"/>
            <a:ext cx="91440" cy="37581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66760" y="1143000"/>
            <a:ext cx="3063240" cy="868680"/>
          </a:xfrm>
          <a:prstGeom prst="rect">
            <a:avLst/>
          </a:prstGeom>
          <a:noFill/>
        </p:spPr>
        <p:txBody>
          <a:bodyPr wrap="square" lIns="0" tIns="0" rIns="0" bIns="0" anchor="t">
            <a:spAutoFit/>
          </a:bodyPr>
          <a:lstStyle/>
          <a:p>
            <a:pPr algn="l">
              <a:spcAft>
                <a:spcPts val="600"/>
              </a:spcAft>
            </a:pPr>
            <a:r>
              <a:rPr sz="2000" b="1" i="0">
                <a:solidFill>
                  <a:srgbClr val="1D2939"/>
                </a:solidFill>
                <a:latin typeface="Arial"/>
              </a:rPr>
              <a:t>talk_passenger yếu ở mọi mô hình</a:t>
            </a:r>
          </a:p>
        </p:txBody>
      </p:sp>
      <p:sp>
        <p:nvSpPr>
          <p:cNvPr id="20" name="TextBox 19"/>
          <p:cNvSpPr txBox="1"/>
          <p:nvPr/>
        </p:nvSpPr>
        <p:spPr>
          <a:xfrm>
            <a:off x="8366760" y="2057400"/>
            <a:ext cx="3063240" cy="685800"/>
          </a:xfrm>
          <a:prstGeom prst="rect">
            <a:avLst/>
          </a:prstGeom>
          <a:noFill/>
        </p:spPr>
        <p:txBody>
          <a:bodyPr wrap="square" lIns="0" tIns="0" rIns="0" bIns="0" anchor="t">
            <a:spAutoFit/>
          </a:bodyPr>
          <a:lstStyle/>
          <a:p>
            <a:pPr algn="l">
              <a:spcAft>
                <a:spcPts val="600"/>
              </a:spcAft>
            </a:pPr>
            <a:r>
              <a:rPr sz="3000" b="1" i="0">
                <a:solidFill>
                  <a:srgbClr val="F56776"/>
                </a:solidFill>
                <a:latin typeface="Arial"/>
              </a:rPr>
              <a:t>F1 0,38 – 0,43</a:t>
            </a:r>
          </a:p>
        </p:txBody>
      </p:sp>
      <p:sp>
        <p:nvSpPr>
          <p:cNvPr id="21" name="TextBox 20"/>
          <p:cNvSpPr txBox="1"/>
          <p:nvPr/>
        </p:nvSpPr>
        <p:spPr>
          <a:xfrm>
            <a:off x="8366760" y="2880360"/>
            <a:ext cx="3063240" cy="201168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Các lớp khác đạt 0,76 – 0,95. Mọi kiến trúc đều yếu ở lớp này nên nguyên nhân nhiều khả năng nằm ở dữ liệu (dễ nhầm với normal), cần confusion matrix để xác nhận.</a:t>
            </a:r>
          </a:p>
        </p:txBody>
      </p:sp>
      <p:sp>
        <p:nvSpPr>
          <p:cNvPr id="22" name="Rounded Rectangle 21"/>
          <p:cNvSpPr/>
          <p:nvPr/>
        </p:nvSpPr>
        <p:spPr>
          <a:xfrm>
            <a:off x="576072" y="5257800"/>
            <a:ext cx="11064240" cy="68580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5257800"/>
            <a:ext cx="10607040" cy="685800"/>
          </a:xfrm>
          <a:prstGeom prst="rect">
            <a:avLst/>
          </a:prstGeom>
          <a:noFill/>
        </p:spPr>
        <p:txBody>
          <a:bodyPr wrap="square" lIns="0" tIns="0" rIns="0" bIns="0" anchor="ctr">
            <a:spAutoFit/>
          </a:bodyPr>
          <a:lstStyle/>
          <a:p>
            <a:pPr algn="l">
              <a:spcAft>
                <a:spcPts val="600"/>
              </a:spcAft>
            </a:pPr>
            <a:r>
              <a:rPr sz="1600" b="0" i="0">
                <a:solidFill>
                  <a:srgbClr val="1D2939"/>
                </a:solidFill>
                <a:latin typeface="Arial"/>
              </a:rPr>
              <a:t>Test chỉ có 4 tài xế và một seed: chênh lệch dưới khoảng 0,03 giữa hai cấu hình chưa chắc là thật.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Dò siêu tham số trên MobileNetV3-Small</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9</a:t>
            </a:fld>
            <a:endParaRPr lang="en-US"/>
          </a:p>
        </p:txBody>
      </p:sp>
      <p:graphicFrame>
        <p:nvGraphicFramePr>
          <p:cNvPr id="7" name="Table 6"/>
          <p:cNvGraphicFramePr>
            <a:graphicFrameLocks noGrp="1"/>
          </p:cNvGraphicFramePr>
          <p:nvPr/>
        </p:nvGraphicFramePr>
        <p:xfrm>
          <a:off x="576072" y="960120"/>
          <a:ext cx="11064240" cy="2743200"/>
        </p:xfrm>
        <a:graphic>
          <a:graphicData uri="http://schemas.openxmlformats.org/drawingml/2006/table">
            <a:tbl>
              <a:tblPr firstRow="1" bandRow="1">
                <a:tableStyleId>{5940675A-B579-460E-94D1-54222C63F5DA}</a:tableStyleId>
              </a:tblPr>
              <a:tblGrid>
                <a:gridCol w="3566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48640">
                <a:tc>
                  <a:txBody>
                    <a:bodyPr/>
                    <a:lstStyle/>
                    <a:p>
                      <a:pPr algn="l"/>
                      <a:r>
                        <a:rPr sz="1600" b="1">
                          <a:solidFill>
                            <a:srgbClr val="FFFFFF"/>
                          </a:solidFill>
                          <a:latin typeface="Arial"/>
                        </a:rPr>
                        <a:t>Cấu hình</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Val F1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Test macro-F1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talk_passenger</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normal</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548640">
                <a:tc>
                  <a:txBody>
                    <a:bodyPr/>
                    <a:lstStyle/>
                    <a:p>
                      <a:pPr algn="l"/>
                      <a:r>
                        <a:rPr sz="1600" b="1">
                          <a:solidFill>
                            <a:srgbClr val="1D2939"/>
                          </a:solidFill>
                          <a:latin typeface="Arial"/>
                        </a:rPr>
                        <a:t>Baseline (lr 1e-3, wd 1e-4)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0,872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0,752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0,391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0,683</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extLst>
                  <a:ext uri="{0D108BD9-81ED-4DB2-BD59-A6C34878D82A}">
                    <a16:rowId xmlns:a16="http://schemas.microsoft.com/office/drawing/2014/main" val="10001"/>
                  </a:ext>
                </a:extLst>
              </a:tr>
              <a:tr h="548640">
                <a:tc>
                  <a:txBody>
                    <a:bodyPr/>
                    <a:lstStyle/>
                    <a:p>
                      <a:pPr algn="l"/>
                      <a:r>
                        <a:rPr sz="1600" b="1">
                          <a:solidFill>
                            <a:srgbClr val="1D2939"/>
                          </a:solidFill>
                          <a:latin typeface="Arial"/>
                        </a:rPr>
                        <a:t>lr 3e-4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0,794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0,735</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0,473</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0,512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548640">
                <a:tc>
                  <a:txBody>
                    <a:bodyPr/>
                    <a:lstStyle/>
                    <a:p>
                      <a:pPr algn="l"/>
                      <a:r>
                        <a:rPr sz="1600" b="1">
                          <a:solidFill>
                            <a:srgbClr val="1D2939"/>
                          </a:solidFill>
                          <a:latin typeface="Arial"/>
                        </a:rPr>
                        <a:t>lr 3e-3</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0,895</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0,744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0,470</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0,568</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D2939"/>
                          </a:solidFill>
                          <a:latin typeface="Arial"/>
                        </a:rPr>
                        <a:t>weight decay 1e-2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0,841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0,741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0,458</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0,667</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576072" y="3977639"/>
            <a:ext cx="5394960" cy="1783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2064" y="4133087"/>
            <a:ext cx="91440" cy="1472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114800"/>
            <a:ext cx="4983480" cy="155448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Kết luận</a:t>
            </a:r>
          </a:p>
          <a:p>
            <a:pPr algn="l">
              <a:spcAft>
                <a:spcPts val="600"/>
              </a:spcAft>
            </a:pPr>
            <a:r>
              <a:rPr sz="1600" b="0" i="0">
                <a:solidFill>
                  <a:srgbClr val="474F67"/>
                </a:solidFill>
                <a:latin typeface="Arial"/>
              </a:rPr>
              <a:t>Không cấu hình nào vượt baseline (thấp hơn 0,008 đến 0,017), trong phạm vi nhiễu.</a:t>
            </a:r>
          </a:p>
          <a:p>
            <a:pPr algn="l">
              <a:spcAft>
                <a:spcPts val="600"/>
              </a:spcAft>
            </a:pPr>
            <a:r>
              <a:rPr sz="1600" b="1" i="0">
                <a:solidFill>
                  <a:srgbClr val="00A95C"/>
                </a:solidFill>
                <a:latin typeface="Arial"/>
              </a:rPr>
              <a:t>→ Giữ cấu hình mặc định.</a:t>
            </a:r>
          </a:p>
        </p:txBody>
      </p:sp>
      <p:sp>
        <p:nvSpPr>
          <p:cNvPr id="11" name="Rounded Rectangle 10"/>
          <p:cNvSpPr/>
          <p:nvPr/>
        </p:nvSpPr>
        <p:spPr>
          <a:xfrm>
            <a:off x="6245352" y="3977639"/>
            <a:ext cx="5394960" cy="1783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4133087"/>
            <a:ext cx="91440" cy="1472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114800"/>
            <a:ext cx="4983480" cy="155448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Điều đáng chú ý</a:t>
            </a:r>
          </a:p>
          <a:p>
            <a:pPr algn="l">
              <a:spcAft>
                <a:spcPts val="600"/>
              </a:spcAft>
            </a:pPr>
            <a:r>
              <a:rPr sz="1600" b="0" i="0">
                <a:solidFill>
                  <a:srgbClr val="474F67"/>
                </a:solidFill>
                <a:latin typeface="Arial"/>
              </a:rPr>
              <a:t>talk_passenger tăng (+0,07) nhưng normal giảm cùng lúc: ranh giới giữa hai lớp dịch chuyển, mô hình không tốt hơn ở cả hai.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Hạn chế</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10</a:t>
            </a:fld>
            <a:endParaRPr lang="en-US"/>
          </a:p>
        </p:txBody>
      </p:sp>
      <p:sp>
        <p:nvSpPr>
          <p:cNvPr id="7" name="Rounded Rectangle 6"/>
          <p:cNvSpPr/>
          <p:nvPr/>
        </p:nvSpPr>
        <p:spPr>
          <a:xfrm>
            <a:off x="576072" y="96012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1655063"/>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 y="114300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Tập đánh giá nhỏ</a:t>
            </a:r>
          </a:p>
        </p:txBody>
      </p:sp>
      <p:sp>
        <p:nvSpPr>
          <p:cNvPr id="10" name="TextBox 9"/>
          <p:cNvSpPr txBox="1"/>
          <p:nvPr/>
        </p:nvSpPr>
        <p:spPr>
          <a:xfrm>
            <a:off x="832104" y="169164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Val và test mỗi tập chỉ 4 tài xế (khoảng 230 ảnh/lớp ở test). Chênh dưới khoảng 0,03 chưa phân biệt được với nhiễu.</a:t>
            </a:r>
          </a:p>
        </p:txBody>
      </p:sp>
      <p:sp>
        <p:nvSpPr>
          <p:cNvPr id="11" name="Rounded Rectangle 10"/>
          <p:cNvSpPr/>
          <p:nvPr/>
        </p:nvSpPr>
        <p:spPr>
          <a:xfrm>
            <a:off x="6245352" y="96012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115568"/>
            <a:ext cx="91440" cy="1655063"/>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01384" y="114300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Một lần chạy, một seed</a:t>
            </a:r>
          </a:p>
        </p:txBody>
      </p:sp>
      <p:sp>
        <p:nvSpPr>
          <p:cNvPr id="14" name="TextBox 13"/>
          <p:cNvSpPr txBox="1"/>
          <p:nvPr/>
        </p:nvSpPr>
        <p:spPr>
          <a:xfrm>
            <a:off x="6501384" y="169164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Chưa đo được độ dao động giữa các lần chạy; chưa dùng cross-validation theo tài xế.</a:t>
            </a:r>
          </a:p>
        </p:txBody>
      </p:sp>
      <p:sp>
        <p:nvSpPr>
          <p:cNvPr id="15" name="Rounded Rectangle 14"/>
          <p:cNvSpPr/>
          <p:nvPr/>
        </p:nvSpPr>
        <p:spPr>
          <a:xfrm>
            <a:off x="576072" y="315468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12064" y="3310128"/>
            <a:ext cx="91440" cy="1655063"/>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 y="333756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Tốc độ chưa đo trên chip thật</a:t>
            </a:r>
          </a:p>
        </p:txBody>
      </p:sp>
      <p:sp>
        <p:nvSpPr>
          <p:cNvPr id="18" name="TextBox 17"/>
          <p:cNvSpPr txBox="1"/>
          <p:nvPr/>
        </p:nvSpPr>
        <p:spPr>
          <a:xfrm>
            <a:off x="832104" y="388620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Độ trễ và FPS đo trên CPU máy tính (ONNX Runtime, 1 luồng): chỉ để xếp hạng tương đối.</a:t>
            </a:r>
          </a:p>
        </p:txBody>
      </p:sp>
      <p:sp>
        <p:nvSpPr>
          <p:cNvPr id="19" name="Rounded Rectangle 18"/>
          <p:cNvSpPr/>
          <p:nvPr/>
        </p:nvSpPr>
        <p:spPr>
          <a:xfrm>
            <a:off x="6245352" y="315468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310128"/>
            <a:ext cx="91440" cy="1655063"/>
          </a:xfrm>
          <a:prstGeom prst="rect">
            <a:avLst/>
          </a:prstGeom>
          <a:solidFill>
            <a:srgbClr val="FFC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01384" y="333756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Phạm vi dữ liệu</a:t>
            </a:r>
          </a:p>
        </p:txBody>
      </p:sp>
      <p:sp>
        <p:nvSpPr>
          <p:cNvPr id="22" name="TextBox 21"/>
          <p:cNvSpPr txBox="1"/>
          <p:nvPr/>
        </p:nvSpPr>
        <p:spPr>
          <a:xfrm>
            <a:off x="6501384" y="388620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Chỉ State Farm (một góc camera, ban ngày). ResNet50 chỉ có điểm F1, chưa có số đo INT8.</a:t>
            </a:r>
          </a:p>
        </p:txBody>
      </p:sp>
      <p:sp>
        <p:nvSpPr>
          <p:cNvPr id="23" name="Rounded Rectangle 22"/>
          <p:cNvSpPr/>
          <p:nvPr/>
        </p:nvSpPr>
        <p:spPr>
          <a:xfrm>
            <a:off x="576072" y="5440680"/>
            <a:ext cx="11064240" cy="59436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440680"/>
            <a:ext cx="10607040" cy="594360"/>
          </a:xfrm>
          <a:prstGeom prst="rect">
            <a:avLst/>
          </a:prstGeom>
          <a:noFill/>
        </p:spPr>
        <p:txBody>
          <a:bodyPr wrap="square" lIns="0" tIns="0" rIns="0" bIns="0" anchor="ctr">
            <a:spAutoFit/>
          </a:bodyPr>
          <a:lstStyle/>
          <a:p>
            <a:pPr algn="l">
              <a:spcAft>
                <a:spcPts val="600"/>
              </a:spcAft>
            </a:pPr>
            <a:r>
              <a:rPr sz="1600" b="0" i="0">
                <a:solidFill>
                  <a:srgbClr val="1D2939"/>
                </a:solidFill>
                <a:latin typeface="Arial"/>
              </a:rPr>
              <a:t>Vì vậy: chỉ kết luận những chênh lệch lớn; số tốc độ chỉ để so sánh tương đối giữa các mô hình.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lang="en-US" sz="2400" b="1" dirty="0" err="1">
                <a:solidFill>
                  <a:srgbClr val="FFFFFF"/>
                </a:solidFill>
                <a:latin typeface="Arial"/>
              </a:rPr>
              <a:t>H</a:t>
            </a:r>
            <a:r>
              <a:rPr sz="2400" b="1" dirty="0" err="1">
                <a:solidFill>
                  <a:srgbClr val="FFFFFF"/>
                </a:solidFill>
                <a:latin typeface="Arial"/>
              </a:rPr>
              <a:t>ướng</a:t>
            </a:r>
            <a:r>
              <a:rPr sz="2400" b="1" dirty="0">
                <a:solidFill>
                  <a:srgbClr val="FFFFFF"/>
                </a:solidFill>
                <a:latin typeface="Arial"/>
              </a:rPr>
              <a:t> </a:t>
            </a:r>
            <a:r>
              <a:rPr sz="2400" b="1" dirty="0" err="1">
                <a:solidFill>
                  <a:srgbClr val="FFFFFF"/>
                </a:solidFill>
                <a:latin typeface="Arial"/>
              </a:rPr>
              <a:t>phát</a:t>
            </a:r>
            <a:r>
              <a:rPr sz="2400" b="1" dirty="0">
                <a:solidFill>
                  <a:srgbClr val="FFFFFF"/>
                </a:solidFill>
                <a:latin typeface="Arial"/>
              </a:rPr>
              <a:t> </a:t>
            </a:r>
            <a:r>
              <a:rPr sz="2400" b="1" dirty="0" err="1">
                <a:solidFill>
                  <a:srgbClr val="FFFFFF"/>
                </a:solidFill>
                <a:latin typeface="Arial"/>
              </a:rPr>
              <a:t>triển</a:t>
            </a:r>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11</a:t>
            </a:fld>
            <a:endParaRPr lang="en-US"/>
          </a:p>
        </p:txBody>
      </p:sp>
      <p:sp>
        <p:nvSpPr>
          <p:cNvPr id="7" name="Rounded Rectangle 6"/>
          <p:cNvSpPr/>
          <p:nvPr/>
        </p:nvSpPr>
        <p:spPr>
          <a:xfrm>
            <a:off x="576072" y="960120"/>
            <a:ext cx="5394960" cy="3931920"/>
          </a:xfrm>
          <a:prstGeom prst="roundRect">
            <a:avLst>
              <a:gd name="adj" fmla="val 813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6210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097280"/>
            <a:ext cx="4983480" cy="3657600"/>
          </a:xfrm>
          <a:prstGeom prst="rect">
            <a:avLst/>
          </a:prstGeom>
          <a:noFill/>
        </p:spPr>
        <p:txBody>
          <a:bodyPr wrap="square" lIns="0" tIns="0" rIns="0" bIns="0" anchor="t">
            <a:spAutoFit/>
          </a:bodyPr>
          <a:lstStyle/>
          <a:p>
            <a:pPr algn="l">
              <a:spcAft>
                <a:spcPts val="1000"/>
              </a:spcAft>
            </a:pPr>
            <a:r>
              <a:rPr sz="1900" b="1" i="0">
                <a:solidFill>
                  <a:srgbClr val="1D2939"/>
                </a:solidFill>
                <a:latin typeface="Arial"/>
              </a:rPr>
              <a:t>Đang thực hiện (sẽ cập nhật)</a:t>
            </a:r>
          </a:p>
          <a:p>
            <a:pPr marL="256032" indent="-201168" algn="l">
              <a:spcAft>
                <a:spcPts val="1000"/>
              </a:spcAft>
              <a:buChar char="•"/>
            </a:pPr>
            <a:r>
              <a:rPr sz="1600" b="1" i="0">
                <a:solidFill>
                  <a:srgbClr val="1D2939"/>
                </a:solidFill>
                <a:latin typeface="Arial"/>
              </a:rPr>
              <a:t>Lượng tử hoá INT8: </a:t>
            </a:r>
            <a:r>
              <a:rPr sz="1600" b="0" i="0">
                <a:solidFill>
                  <a:srgbClr val="474F67"/>
                </a:solidFill>
                <a:latin typeface="Arial"/>
              </a:rPr>
              <a:t>kích thước, độ trễ, FPS, F1 trước và sau INT8; so sánh minmax, entropy, percentile</a:t>
            </a:r>
          </a:p>
          <a:p>
            <a:pPr marL="256032" indent="-201168" algn="l">
              <a:spcAft>
                <a:spcPts val="1000"/>
              </a:spcAft>
              <a:buChar char="•"/>
            </a:pPr>
            <a:r>
              <a:rPr sz="1600" b="1" i="0">
                <a:solidFill>
                  <a:srgbClr val="1D2939"/>
                </a:solidFill>
                <a:latin typeface="Arial"/>
              </a:rPr>
              <a:t>Phân tích lỗi: </a:t>
            </a:r>
            <a:r>
              <a:rPr sz="1600" b="0" i="0">
                <a:solidFill>
                  <a:srgbClr val="474F67"/>
                </a:solidFill>
                <a:latin typeface="Arial"/>
              </a:rPr>
              <a:t>confusion matrix, điểm từng tài xế, xem ảnh bị nhầm</a:t>
            </a:r>
          </a:p>
          <a:p>
            <a:pPr marL="256032" indent="-201168" algn="l">
              <a:spcAft>
                <a:spcPts val="1000"/>
              </a:spcAft>
              <a:buChar char="•"/>
            </a:pPr>
            <a:r>
              <a:rPr sz="1600" b="1" i="0">
                <a:solidFill>
                  <a:srgbClr val="1D2939"/>
                </a:solidFill>
                <a:latin typeface="Arial"/>
              </a:rPr>
              <a:t>Cải thiện: </a:t>
            </a:r>
            <a:r>
              <a:rPr sz="1600" b="0" i="0">
                <a:solidFill>
                  <a:srgbClr val="474F67"/>
                </a:solidFill>
                <a:latin typeface="Arial"/>
              </a:rPr>
              <a:t>class weight, augmentation mạnh hơn, ảnh 320×240 giữ tỉ lệ 4:3</a:t>
            </a:r>
          </a:p>
          <a:p>
            <a:pPr marL="256032" indent="-201168" algn="l">
              <a:spcAft>
                <a:spcPts val="1000"/>
              </a:spcAft>
              <a:buChar char="•"/>
            </a:pPr>
            <a:r>
              <a:rPr sz="1600" b="1" i="0">
                <a:solidFill>
                  <a:srgbClr val="1D2939"/>
                </a:solidFill>
                <a:latin typeface="Arial"/>
              </a:rPr>
              <a:t>Biểu đồ: </a:t>
            </a:r>
            <a:r>
              <a:rPr sz="1600" b="0" i="0">
                <a:solidFill>
                  <a:srgbClr val="474F67"/>
                </a:solidFill>
                <a:latin typeface="Arial"/>
              </a:rPr>
              <a:t>macro-F1 theo độ trễ để chọn mô hình cho edge</a:t>
            </a:r>
          </a:p>
        </p:txBody>
      </p:sp>
      <p:sp>
        <p:nvSpPr>
          <p:cNvPr id="10" name="Rounded Rectangle 9"/>
          <p:cNvSpPr/>
          <p:nvPr/>
        </p:nvSpPr>
        <p:spPr>
          <a:xfrm>
            <a:off x="6245352" y="960120"/>
            <a:ext cx="5394960" cy="3931920"/>
          </a:xfrm>
          <a:prstGeom prst="roundRect">
            <a:avLst>
              <a:gd name="adj" fmla="val 813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81344" y="1115568"/>
            <a:ext cx="91440" cy="362102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097280"/>
            <a:ext cx="4983480" cy="3657600"/>
          </a:xfrm>
          <a:prstGeom prst="rect">
            <a:avLst/>
          </a:prstGeom>
          <a:noFill/>
        </p:spPr>
        <p:txBody>
          <a:bodyPr wrap="square" lIns="0" tIns="0" rIns="0" bIns="0" anchor="t">
            <a:spAutoFit/>
          </a:bodyPr>
          <a:lstStyle/>
          <a:p>
            <a:pPr algn="l">
              <a:spcAft>
                <a:spcPts val="1000"/>
              </a:spcAft>
            </a:pPr>
            <a:r>
              <a:rPr sz="1900" b="1" i="0">
                <a:solidFill>
                  <a:srgbClr val="1D2939"/>
                </a:solidFill>
                <a:latin typeface="Arial"/>
              </a:rPr>
              <a:t>Hướng phát triển (đồ án 3)</a:t>
            </a:r>
          </a:p>
          <a:p>
            <a:pPr marL="256032" indent="-201168" algn="l">
              <a:spcAft>
                <a:spcPts val="1000"/>
              </a:spcAft>
              <a:buChar char="•"/>
            </a:pPr>
            <a:r>
              <a:rPr sz="1600" b="1" i="0">
                <a:solidFill>
                  <a:srgbClr val="1D2939"/>
                </a:solidFill>
                <a:latin typeface="Arial"/>
              </a:rPr>
              <a:t>Đo trên chip edge thật: </a:t>
            </a:r>
            <a:r>
              <a:rPr sz="1600" b="0" i="0">
                <a:solidFill>
                  <a:srgbClr val="474F67"/>
                </a:solidFill>
                <a:latin typeface="Arial"/>
              </a:rPr>
              <a:t>FPS tuyệt đối, kiểm tra toán tử được hỗ trợ</a:t>
            </a:r>
          </a:p>
          <a:p>
            <a:pPr marL="256032" indent="-201168" algn="l">
              <a:spcAft>
                <a:spcPts val="1000"/>
              </a:spcAft>
              <a:buChar char="•"/>
            </a:pPr>
            <a:r>
              <a:rPr sz="1600" b="1" i="0">
                <a:solidFill>
                  <a:srgbClr val="1D2939"/>
                </a:solidFill>
                <a:latin typeface="Arial"/>
              </a:rPr>
              <a:t>Distillation: </a:t>
            </a:r>
            <a:r>
              <a:rPr sz="1600" b="0" i="0">
                <a:solidFill>
                  <a:srgbClr val="474F67"/>
                </a:solidFill>
                <a:latin typeface="Arial"/>
              </a:rPr>
              <a:t>dùng mô hình lớn dạy mô hình nhỏ, không tăng chi phí suy luận</a:t>
            </a:r>
          </a:p>
          <a:p>
            <a:pPr marL="256032" indent="-201168" algn="l">
              <a:spcAft>
                <a:spcPts val="1000"/>
              </a:spcAft>
              <a:buChar char="•"/>
            </a:pPr>
            <a:r>
              <a:rPr sz="1600" b="1" i="0">
                <a:solidFill>
                  <a:srgbClr val="1D2939"/>
                </a:solidFill>
                <a:latin typeface="Arial"/>
              </a:rPr>
              <a:t>Đánh giá chắc hơn: </a:t>
            </a:r>
            <a:r>
              <a:rPr sz="1600" b="0" i="0">
                <a:solidFill>
                  <a:srgbClr val="474F67"/>
                </a:solidFill>
                <a:latin typeface="Arial"/>
              </a:rPr>
              <a:t>nhiều seed, cross-validation theo tài xế</a:t>
            </a:r>
          </a:p>
          <a:p>
            <a:pPr marL="256032" indent="-201168" algn="l">
              <a:spcAft>
                <a:spcPts val="1000"/>
              </a:spcAft>
              <a:buChar char="•"/>
            </a:pPr>
            <a:r>
              <a:rPr sz="1600" b="1" i="0">
                <a:solidFill>
                  <a:srgbClr val="1D2939"/>
                </a:solidFill>
                <a:latin typeface="Arial"/>
              </a:rPr>
              <a:t>Dữ liệu mới: </a:t>
            </a:r>
            <a:r>
              <a:rPr sz="1600" b="0" i="0">
                <a:solidFill>
                  <a:srgbClr val="474F67"/>
                </a:solidFill>
                <a:latin typeface="Arial"/>
              </a:rPr>
              <a:t>Roboflow và video tự quay để đo khả năng tổng quát</a:t>
            </a:r>
          </a:p>
        </p:txBody>
      </p:sp>
      <p:sp>
        <p:nvSpPr>
          <p:cNvPr id="13" name="Rounded Rectangle 12"/>
          <p:cNvSpPr/>
          <p:nvPr/>
        </p:nvSpPr>
        <p:spPr>
          <a:xfrm>
            <a:off x="576072" y="5166360"/>
            <a:ext cx="11064240" cy="68580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5166360"/>
            <a:ext cx="10607040" cy="685800"/>
          </a:xfrm>
          <a:prstGeom prst="rect">
            <a:avLst/>
          </a:prstGeom>
          <a:noFill/>
        </p:spPr>
        <p:txBody>
          <a:bodyPr wrap="square" lIns="0" tIns="0" rIns="0" bIns="0" anchor="ctr">
            <a:spAutoFit/>
          </a:bodyPr>
          <a:lstStyle/>
          <a:p>
            <a:pPr algn="l">
              <a:spcAft>
                <a:spcPts val="600"/>
              </a:spcAft>
            </a:pPr>
            <a:r>
              <a:rPr sz="1600" b="1" i="0">
                <a:solidFill>
                  <a:srgbClr val="1D2939"/>
                </a:solidFill>
                <a:latin typeface="Arial"/>
              </a:rPr>
              <a:t>Kết luận tạm thời: </a:t>
            </a:r>
            <a:r>
              <a:rPr sz="1600" b="0" i="0">
                <a:solidFill>
                  <a:srgbClr val="1D2939"/>
                </a:solidFill>
                <a:latin typeface="Arial"/>
              </a:rPr>
              <a:t>mô hình nhẹ (EfficientNet-Lite0, MobileNetV3-Small) không thua mô hình nặng; INT8 sẽ cho biết mô hình nào khả thi nhất cho edge.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5379</TotalTime>
  <Words>1649</Words>
  <Application>Microsoft Office PowerPoint</Application>
  <PresentationFormat>Widescreen</PresentationFormat>
  <Paragraphs>177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Times New Roman</vt:lpstr>
      <vt:lpstr>Office Theme</vt:lpstr>
      <vt:lpstr>PowerPoint Presentation</vt:lpstr>
      <vt:lpstr>Bài toán </vt:lpstr>
      <vt:lpstr>Dữ liệu: State Farm Distracted Driver</vt:lpstr>
      <vt:lpstr>Xử lý dữ liệu</vt:lpstr>
      <vt:lpstr>Giao thức thí nghiệm</vt:lpstr>
      <vt:lpstr>Các mô hình so sánh</vt:lpstr>
      <vt:lpstr>Kết quả: macro-F1 trên val và test</vt:lpstr>
      <vt:lpstr>Phát hiện chính</vt:lpstr>
      <vt:lpstr>Dò siêu tham số trên MobileNetV3-Small</vt:lpstr>
      <vt:lpstr>Hạn chế</vt:lpstr>
      <vt:lpstr>Hướng phát triển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ADMIN-PC</cp:lastModifiedBy>
  <cp:revision>259</cp:revision>
  <cp:lastPrinted>2023-12-27T01:57:00Z</cp:lastPrinted>
  <dcterms:created xsi:type="dcterms:W3CDTF">2023-08-08T03:48:00Z</dcterms:created>
  <dcterms:modified xsi:type="dcterms:W3CDTF">2026-10-13T02:34:55Z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