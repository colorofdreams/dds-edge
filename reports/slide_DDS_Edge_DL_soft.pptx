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Val macro-F1 (epoch tốt nhất)</c:v>
                </c:pt>
              </c:strCache>
            </c:strRef>
          </c:tx>
          <c:spPr>
            <a:solidFill>
              <a:srgbClr val="C7D5F3"/>
            </a:solidFill>
          </c:spPr>
          <c:cat>
            <c:strRef>
              <c:f>Sheet1!$A$2:$A$7</c:f>
              <c:strCache>
                <c:ptCount val="6"/>
                <c:pt idx="0">
                  <c:v>EffNet-Lite0</c:v>
                </c:pt>
                <c:pt idx="1">
                  <c:v>+ class weight</c:v>
                </c:pt>
                <c:pt idx="2">
                  <c:v>+ sampler</c:v>
                </c:pt>
                <c:pt idx="3">
                  <c:v>ResNet18</c:v>
                </c:pt>
                <c:pt idx="4">
                  <c:v>MobileNetV3-S
(20 epoch)</c:v>
                </c:pt>
                <c:pt idx="5">
                  <c:v>ResNet50
(lần 1)</c:v>
                </c:pt>
              </c:strCache>
            </c:strRef>
          </c:cat>
          <c:val>
            <c:numRef>
              <c:f>Sheet1!$B$2:$B$7</c:f>
              <c:numCache>
                <c:formatCode>General</c:formatCode>
                <c:ptCount val="6"/>
                <c:pt idx="0">
                  <c:v>0.899</c:v>
                </c:pt>
                <c:pt idx="1">
                  <c:v>0.926</c:v>
                </c:pt>
                <c:pt idx="2">
                  <c:v>0.812</c:v>
                </c:pt>
                <c:pt idx="3">
                  <c:v>0.897</c:v>
                </c:pt>
                <c:pt idx="4">
                  <c:v>0.87</c:v>
                </c:pt>
                <c:pt idx="5">
                  <c:v>0.94</c:v>
                </c:pt>
              </c:numCache>
            </c:numRef>
          </c:val>
        </c:ser>
        <c:ser>
          <c:idx val="1"/>
          <c:order val="1"/>
          <c:tx>
            <c:strRef>
              <c:f>Sheet1!$C$1</c:f>
              <c:strCache>
                <c:ptCount val="1"/>
                <c:pt idx="0">
                  <c:v>Test macro-F1</c:v>
                </c:pt>
              </c:strCache>
            </c:strRef>
          </c:tx>
          <c:spPr>
            <a:solidFill>
              <a:srgbClr val="3B6FF0"/>
            </a:solidFill>
          </c:spPr>
          <c:cat>
            <c:strRef>
              <c:f>Sheet1!$A$2:$A$7</c:f>
              <c:strCache>
                <c:ptCount val="6"/>
                <c:pt idx="0">
                  <c:v>EffNet-Lite0</c:v>
                </c:pt>
                <c:pt idx="1">
                  <c:v>+ class weight</c:v>
                </c:pt>
                <c:pt idx="2">
                  <c:v>+ sampler</c:v>
                </c:pt>
                <c:pt idx="3">
                  <c:v>ResNet18</c:v>
                </c:pt>
                <c:pt idx="4">
                  <c:v>MobileNetV3-S
(20 epoch)</c:v>
                </c:pt>
                <c:pt idx="5">
                  <c:v>ResNet50
(lần 1)</c:v>
                </c:pt>
              </c:strCache>
            </c:strRef>
          </c:cat>
          <c:val>
            <c:numRef>
              <c:f>Sheet1!$C$2:$C$7</c:f>
              <c:numCache>
                <c:formatCode>General</c:formatCode>
                <c:ptCount val="6"/>
                <c:pt idx="0">
                  <c:v>0.815</c:v>
                </c:pt>
                <c:pt idx="1">
                  <c:v>0.8</c:v>
                </c:pt>
                <c:pt idx="2">
                  <c:v>0.785</c:v>
                </c:pt>
                <c:pt idx="3">
                  <c:v>0.77</c:v>
                </c:pt>
                <c:pt idx="4">
                  <c:v>0.768</c:v>
                </c:pt>
                <c:pt idx="5">
                  <c:v>0.746</c:v>
                </c:pt>
              </c:numCache>
            </c:numRef>
          </c:val>
        </c:ser>
        <c:dLbls>
          <c:numFmt formatCode="0.00" sourceLinked="0"/>
          <c:txPr>
            <a:bodyPr/>
            <a:lstStyle/>
            <a:p>
              <a:pPr>
                <a:defRPr sz="1200" b="1">
                  <a:solidFill>
                    <a:srgbClr val="1E2A4A"/>
                  </a:solidFill>
                  <a:latin typeface="Arial"/>
                </a:defRPr>
              </a:pPr>
            </a:p>
          </c:txPr>
          <c:dLblPos val="outEnd"/>
          <c:showLegendKey val="0"/>
          <c:showVal val="1"/>
          <c:showCatName val="0"/>
          <c:showSerName val="0"/>
          <c:showPercent val="0"/>
          <c:showBubbleSize val="0"/>
          <c:showLeaderLines val="1"/>
        </c:dLbls>
        <c:gapWidth val="70"/>
        <c:overlap val="-6"/>
        <c:axId val="-2068027336"/>
        <c:axId val="-2113994440"/>
      </c:barChart>
      <c:catAx>
        <c:axId val="-2068027336"/>
        <c:scaling>
          <c:orientation val="minMax"/>
        </c:scaling>
        <c:delete val="0"/>
        <c:axPos val="b"/>
        <c:majorTickMark val="out"/>
        <c:minorTickMark val="none"/>
        <c:tickLblPos val="nextTo"/>
        <c:spPr>
          <a:ln>
            <a:solidFill>
              <a:srgbClr val="E6ECF7"/>
            </a:solidFill>
          </a:ln>
        </c:spPr>
        <c:txPr>
          <a:bodyPr/>
          <a:lstStyle/>
          <a:p>
            <a:pPr>
              <a:defRPr sz="1200">
                <a:solidFill>
                  <a:srgbClr val="1E2A4A"/>
                </a:solidFill>
                <a:latin typeface="Arial"/>
              </a:defRPr>
            </a:pPr>
          </a:p>
        </c:txPr>
        <c:crossAx val="-2113994440"/>
        <c:crosses val="autoZero"/>
        <c:auto val="1"/>
        <c:lblAlgn val="ctr"/>
        <c:lblOffset val="100"/>
        <c:noMultiLvlLbl val="0"/>
      </c:catAx>
      <c:valAx>
        <c:axId val="-2113994440"/>
        <c:scaling>
          <c:max val="1.0"/>
          <c:min val="0.6"/>
        </c:scaling>
        <c:delete val="0"/>
        <c:axPos val="l"/>
        <c:majorGridlines>
          <c:spPr>
            <a:ln>
              <a:solidFill>
                <a:srgbClr val="EEF2FA"/>
              </a:solidFill>
            </a:ln>
          </c:spPr>
        </c:majorGridlines>
        <c:numFmt formatCode="0.0" sourceLinked="0"/>
        <c:majorTickMark val="out"/>
        <c:minorTickMark val="none"/>
        <c:tickLblPos val="nextTo"/>
        <c:spPr>
          <a:ln>
            <a:noFill/>
          </a:ln>
        </c:spPr>
        <c:txPr>
          <a:bodyPr/>
          <a:lstStyle/>
          <a:p>
            <a:pPr>
              <a:defRPr sz="1200">
                <a:solidFill>
                  <a:srgbClr val="8D99B8"/>
                </a:solidFill>
                <a:latin typeface="Arial"/>
              </a:defRPr>
            </a:pPr>
          </a:p>
        </c:txPr>
        <c:crossAx val="-2068027336"/>
        <c:crosses val="autoZero"/>
        <c:majorUnit val="0.1"/>
      </c:valAx>
    </c:plotArea>
    <c:legend>
      <c:legendPos val="b"/>
      <c:overlay val="0"/>
      <c:txPr>
        <a:bodyPr/>
        <a:lstStyle/>
        <a:p>
          <a:pPr>
            <a:defRPr sz="1300">
              <a:solidFill>
                <a:srgbClr val="56648A"/>
              </a:solidFill>
              <a:latin typeface="Arial"/>
            </a:defRPr>
          </a:pPr>
        </a:p>
      </c:txPr>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Test macro-F1, lần chạy 1 (Kaggle)</c:v>
                </c:pt>
              </c:strCache>
            </c:strRef>
          </c:tx>
          <c:spPr>
            <a:solidFill>
              <a:srgbClr val="C7D5F3"/>
            </a:solidFill>
          </c:spPr>
          <c:cat>
            <c:strRef>
              <c:f>Sheet1!$A$2:$A$5</c:f>
              <c:strCache>
                <c:ptCount val="4"/>
                <c:pt idx="0">
                  <c:v>MobileNetV3-S</c:v>
                </c:pt>
                <c:pt idx="1">
                  <c:v>EfficientNet-Lite0</c:v>
                </c:pt>
                <c:pt idx="2">
                  <c:v>ResNet18</c:v>
                </c:pt>
                <c:pt idx="3">
                  <c:v>ResNet50</c:v>
                </c:pt>
              </c:strCache>
            </c:strRef>
          </c:cat>
          <c:val>
            <c:numRef>
              <c:f>Sheet1!$B$2:$B$5</c:f>
              <c:numCache>
                <c:formatCode>General</c:formatCode>
                <c:ptCount val="4"/>
                <c:pt idx="0">
                  <c:v>0.752</c:v>
                </c:pt>
                <c:pt idx="1">
                  <c:v>0.786</c:v>
                </c:pt>
                <c:pt idx="2">
                  <c:v>0.752</c:v>
                </c:pt>
                <c:pt idx="3">
                  <c:v>0.746</c:v>
                </c:pt>
              </c:numCache>
            </c:numRef>
          </c:val>
        </c:ser>
        <c:ser>
          <c:idx val="1"/>
          <c:order val="1"/>
          <c:tx>
            <c:strRef>
              <c:f>Sheet1!$C$1</c:f>
              <c:strCache>
                <c:ptCount val="1"/>
                <c:pt idx="0">
                  <c:v>Test macro-F1, chạy lại (Colab)</c:v>
                </c:pt>
              </c:strCache>
            </c:strRef>
          </c:tx>
          <c:spPr>
            <a:solidFill>
              <a:srgbClr val="3B6FF0"/>
            </a:solidFill>
          </c:spPr>
          <c:cat>
            <c:strRef>
              <c:f>Sheet1!$A$2:$A$5</c:f>
              <c:strCache>
                <c:ptCount val="4"/>
                <c:pt idx="0">
                  <c:v>MobileNetV3-S</c:v>
                </c:pt>
                <c:pt idx="1">
                  <c:v>EfficientNet-Lite0</c:v>
                </c:pt>
                <c:pt idx="2">
                  <c:v>ResNet18</c:v>
                </c:pt>
                <c:pt idx="3">
                  <c:v>ResNet50</c:v>
                </c:pt>
              </c:strCache>
            </c:strRef>
          </c:cat>
          <c:val>
            <c:numRef>
              <c:f>Sheet1!$C$2:$C$5</c:f>
              <c:numCache>
                <c:formatCode>General</c:formatCode>
                <c:ptCount val="4"/>
                <c:pt idx="0">
                  <c:v>0.792</c:v>
                </c:pt>
                <c:pt idx="1">
                  <c:v>0.815</c:v>
                </c:pt>
                <c:pt idx="2">
                  <c:v>0.77</c:v>
                </c:pt>
              </c:numCache>
            </c:numRef>
          </c:val>
        </c:ser>
        <c:dLbls>
          <c:numFmt formatCode="0.000" sourceLinked="0"/>
          <c:txPr>
            <a:bodyPr/>
            <a:lstStyle/>
            <a:p>
              <a:pPr>
                <a:defRPr sz="1200" b="1">
                  <a:solidFill>
                    <a:srgbClr val="1E2A4A"/>
                  </a:solidFill>
                  <a:latin typeface="Arial"/>
                </a:defRPr>
              </a:pPr>
            </a:p>
          </c:txPr>
          <c:dLblPos val="outEnd"/>
          <c:showLegendKey val="0"/>
          <c:showVal val="1"/>
          <c:showCatName val="0"/>
          <c:showSerName val="0"/>
          <c:showPercent val="0"/>
          <c:showBubbleSize val="0"/>
          <c:showLeaderLines val="1"/>
        </c:dLbls>
        <c:gapWidth val="70"/>
        <c:overlap val="-6"/>
        <c:axId val="-2068027336"/>
        <c:axId val="-2113994440"/>
      </c:barChart>
      <c:catAx>
        <c:axId val="-2068027336"/>
        <c:scaling>
          <c:orientation val="minMax"/>
        </c:scaling>
        <c:delete val="0"/>
        <c:axPos val="b"/>
        <c:majorTickMark val="out"/>
        <c:minorTickMark val="none"/>
        <c:tickLblPos val="nextTo"/>
        <c:spPr>
          <a:ln>
            <a:solidFill>
              <a:srgbClr val="E6ECF7"/>
            </a:solidFill>
          </a:ln>
        </c:spPr>
        <c:txPr>
          <a:bodyPr/>
          <a:lstStyle/>
          <a:p>
            <a:pPr>
              <a:defRPr sz="1400">
                <a:solidFill>
                  <a:srgbClr val="1E2A4A"/>
                </a:solidFill>
                <a:latin typeface="Arial"/>
              </a:defRPr>
            </a:pPr>
          </a:p>
        </c:txPr>
        <c:crossAx val="-2113994440"/>
        <c:crosses val="autoZero"/>
        <c:auto val="1"/>
        <c:lblAlgn val="ctr"/>
        <c:lblOffset val="100"/>
        <c:noMultiLvlLbl val="0"/>
      </c:catAx>
      <c:valAx>
        <c:axId val="-2113994440"/>
        <c:scaling>
          <c:max val="0.9"/>
          <c:min val="0.6"/>
        </c:scaling>
        <c:delete val="0"/>
        <c:axPos val="l"/>
        <c:majorGridlines>
          <c:spPr>
            <a:ln>
              <a:solidFill>
                <a:srgbClr val="EEF2FA"/>
              </a:solidFill>
            </a:ln>
          </c:spPr>
        </c:majorGridlines>
        <c:numFmt formatCode="0.0" sourceLinked="0"/>
        <c:majorTickMark val="out"/>
        <c:minorTickMark val="none"/>
        <c:tickLblPos val="nextTo"/>
        <c:spPr>
          <a:ln>
            <a:noFill/>
          </a:ln>
        </c:spPr>
        <c:txPr>
          <a:bodyPr/>
          <a:lstStyle/>
          <a:p>
            <a:pPr>
              <a:defRPr sz="1200">
                <a:solidFill>
                  <a:srgbClr val="8D99B8"/>
                </a:solidFill>
                <a:latin typeface="Arial"/>
              </a:defRPr>
            </a:pPr>
          </a:p>
        </c:txPr>
        <c:crossAx val="-2068027336"/>
        <c:crosses val="autoZero"/>
        <c:majorUnit val="0.1"/>
      </c:valAx>
    </c:plotArea>
    <c:legend>
      <c:legendPos val="b"/>
      <c:overlay val="0"/>
      <c:txPr>
        <a:bodyPr/>
        <a:lstStyle/>
        <a:p>
          <a:pPr>
            <a:defRPr sz="1300">
              <a:solidFill>
                <a:srgbClr val="56648A"/>
              </a:solidFill>
              <a:latin typeface="Arial"/>
            </a:defRPr>
          </a:pPr>
        </a:p>
      </c:txPr>
    </c:legend>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FP32</c:v>
                </c:pt>
              </c:strCache>
            </c:strRef>
          </c:tx>
          <c:spPr>
            <a:solidFill>
              <a:srgbClr val="C7D5F3"/>
            </a:solidFill>
          </c:spPr>
          <c:cat>
            <c:strRef>
              <c:f>Sheet1!$A$2:$A$4</c:f>
              <c:strCache>
                <c:ptCount val="3"/>
                <c:pt idx="0">
                  <c:v>EfficientNet-Lite0</c:v>
                </c:pt>
                <c:pt idx="1">
                  <c:v>ResNet18</c:v>
                </c:pt>
                <c:pt idx="2">
                  <c:v>MobileNetV3-S</c:v>
                </c:pt>
              </c:strCache>
            </c:strRef>
          </c:cat>
          <c:val>
            <c:numRef>
              <c:f>Sheet1!$B$2:$B$4</c:f>
              <c:numCache>
                <c:formatCode>General</c:formatCode>
                <c:ptCount val="3"/>
                <c:pt idx="0">
                  <c:v>0.814</c:v>
                </c:pt>
                <c:pt idx="1">
                  <c:v>0.771</c:v>
                </c:pt>
                <c:pt idx="2">
                  <c:v>0.744</c:v>
                </c:pt>
              </c:numCache>
            </c:numRef>
          </c:val>
        </c:ser>
        <c:ser>
          <c:idx val="1"/>
          <c:order val="1"/>
          <c:tx>
            <c:strRef>
              <c:f>Sheet1!$C$1</c:f>
              <c:strCache>
                <c:ptCount val="1"/>
                <c:pt idx="0">
                  <c:v>INT8</c:v>
                </c:pt>
              </c:strCache>
            </c:strRef>
          </c:tx>
          <c:spPr>
            <a:solidFill>
              <a:srgbClr val="3B6FF0"/>
            </a:solidFill>
          </c:spPr>
          <c:dPt>
            <c:idx val="2"/>
            <c:spPr>
              <a:solidFill>
                <a:srgbClr val="8E5CF0"/>
              </a:solidFill>
            </c:spPr>
          </c:dPt>
          <c:cat>
            <c:strRef>
              <c:f>Sheet1!$A$2:$A$4</c:f>
              <c:strCache>
                <c:ptCount val="3"/>
                <c:pt idx="0">
                  <c:v>EfficientNet-Lite0</c:v>
                </c:pt>
                <c:pt idx="1">
                  <c:v>ResNet18</c:v>
                </c:pt>
                <c:pt idx="2">
                  <c:v>MobileNetV3-S</c:v>
                </c:pt>
              </c:strCache>
            </c:strRef>
          </c:cat>
          <c:val>
            <c:numRef>
              <c:f>Sheet1!$C$2:$C$4</c:f>
              <c:numCache>
                <c:formatCode>General</c:formatCode>
                <c:ptCount val="3"/>
                <c:pt idx="0">
                  <c:v>0.814</c:v>
                </c:pt>
                <c:pt idx="1">
                  <c:v>0.772</c:v>
                </c:pt>
                <c:pt idx="2">
                  <c:v>0.144</c:v>
                </c:pt>
              </c:numCache>
            </c:numRef>
          </c:val>
        </c:ser>
        <c:dLbls>
          <c:numFmt formatCode="0.000" sourceLinked="0"/>
          <c:txPr>
            <a:bodyPr/>
            <a:lstStyle/>
            <a:p>
              <a:pPr>
                <a:defRPr sz="1200" b="1">
                  <a:solidFill>
                    <a:srgbClr val="1E2A4A"/>
                  </a:solidFill>
                  <a:latin typeface="Arial"/>
                </a:defRPr>
              </a:pPr>
            </a:p>
          </c:txPr>
          <c:dLblPos val="outEnd"/>
          <c:showLegendKey val="0"/>
          <c:showVal val="1"/>
          <c:showCatName val="0"/>
          <c:showSerName val="0"/>
          <c:showPercent val="0"/>
          <c:showBubbleSize val="0"/>
          <c:showLeaderLines val="1"/>
        </c:dLbls>
        <c:gapWidth val="70"/>
        <c:overlap val="-6"/>
        <c:axId val="-2068027336"/>
        <c:axId val="-2113994440"/>
      </c:barChart>
      <c:catAx>
        <c:axId val="-2068027336"/>
        <c:scaling>
          <c:orientation val="minMax"/>
        </c:scaling>
        <c:delete val="0"/>
        <c:axPos val="b"/>
        <c:majorTickMark val="out"/>
        <c:minorTickMark val="none"/>
        <c:tickLblPos val="nextTo"/>
        <c:spPr>
          <a:ln>
            <a:solidFill>
              <a:srgbClr val="E6ECF7"/>
            </a:solidFill>
          </a:ln>
        </c:spPr>
        <c:txPr>
          <a:bodyPr/>
          <a:lstStyle/>
          <a:p>
            <a:pPr>
              <a:defRPr sz="1400">
                <a:solidFill>
                  <a:srgbClr val="1E2A4A"/>
                </a:solidFill>
                <a:latin typeface="Arial"/>
              </a:defRPr>
            </a:pPr>
          </a:p>
        </c:txPr>
        <c:crossAx val="-2113994440"/>
        <c:crosses val="autoZero"/>
        <c:auto val="1"/>
        <c:lblAlgn val="ctr"/>
        <c:lblOffset val="100"/>
        <c:noMultiLvlLbl val="0"/>
      </c:catAx>
      <c:valAx>
        <c:axId val="-2113994440"/>
        <c:scaling>
          <c:max val="1.0"/>
          <c:min val="0.0"/>
        </c:scaling>
        <c:delete val="0"/>
        <c:axPos val="l"/>
        <c:majorGridlines>
          <c:spPr>
            <a:ln>
              <a:solidFill>
                <a:srgbClr val="EEF2FA"/>
              </a:solidFill>
            </a:ln>
          </c:spPr>
        </c:majorGridlines>
        <c:numFmt formatCode="0.0" sourceLinked="0"/>
        <c:majorTickMark val="out"/>
        <c:minorTickMark val="none"/>
        <c:tickLblPos val="nextTo"/>
        <c:spPr>
          <a:ln>
            <a:noFill/>
          </a:ln>
        </c:spPr>
        <c:txPr>
          <a:bodyPr/>
          <a:lstStyle/>
          <a:p>
            <a:pPr>
              <a:defRPr sz="1200">
                <a:solidFill>
                  <a:srgbClr val="8D99B8"/>
                </a:solidFill>
                <a:latin typeface="Arial"/>
              </a:defRPr>
            </a:pPr>
          </a:p>
        </c:txPr>
        <c:crossAx val="-2068027336"/>
        <c:crosses val="autoZero"/>
        <c:majorUnit val="0.2"/>
      </c:valAx>
    </c:plotArea>
    <c:legend>
      <c:legendPos val="b"/>
      <c:overlay val="0"/>
      <c:txPr>
        <a:bodyPr/>
        <a:lstStyle/>
        <a:p>
          <a:pPr>
            <a:defRPr sz="1300">
              <a:solidFill>
                <a:srgbClr val="56648A"/>
              </a:solidFill>
              <a:latin typeface="Arial"/>
            </a:defRPr>
          </a:pPr>
        </a:p>
      </c:txPr>
    </c:legend>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chart>
    <c:autoTitleDeleted val="1"/>
    <c:plotArea>
      <c:scatterChart>
        <c:scatterStyle val="lineMarker"/>
        <c:varyColors val="0"/>
        <c:ser>
          <c:idx val="0"/>
          <c:order val="0"/>
          <c:tx>
            <c:strRef>
              <c:f>Sheet1!$B$1</c:f>
              <c:strCache>
                <c:ptCount val="1"/>
                <c:pt idx="0">
                  <c:v>FP32</c:v>
                </c:pt>
              </c:strCache>
            </c:strRef>
          </c:tx>
          <c:spPr>
            <a:ln w="47625">
              <a:noFill/>
            </a:ln>
          </c:spPr>
          <c:marker>
            <c:symbol val="diamond"/>
            <c:size val="12"/>
            <c:spPr>
              <a:solidFill>
                <a:srgbClr val="C7D5F3"/>
              </a:solidFill>
              <a:ln>
                <a:solidFill>
                  <a:srgbClr val="FFFFFF"/>
                </a:solidFill>
              </a:ln>
            </c:spPr>
          </c:marker>
          <c:dLbls>
            <c:dLbl>
              <c:idx val="0"/>
              <c:tx>
                <c:rich>
                  <a:bodyPr/>
                  <a:lstStyle/>
                  <a:p>
                    <a:r>
                      <a:rPr sz="1100">
                        <a:solidFill>
                          <a:srgbClr val="1E2A4A"/>
                        </a:solidFill>
                        <a:latin typeface="Arial"/>
                      </a:rPr>
                      <a:t>EfficientNet-Lite0</a:t>
                    </a:r>
                  </a:p>
                </c:rich>
              </c:tx>
              <c:dLblPos val="r"/>
              <c:showLegendKey val="0"/>
              <c:showVal val="1"/>
              <c:showCatName val="0"/>
              <c:showSerName val="0"/>
              <c:showPercent val="0"/>
              <c:showBubbleSize val="0"/>
            </c:dLbl>
            <c:dLbl>
              <c:idx val="1"/>
              <c:tx>
                <c:rich>
                  <a:bodyPr/>
                  <a:lstStyle/>
                  <a:p>
                    <a:r>
                      <a:rPr sz="1100">
                        <a:solidFill>
                          <a:srgbClr val="1E2A4A"/>
                        </a:solidFill>
                        <a:latin typeface="Arial"/>
                      </a:rPr>
                      <a:t>ResNet18</a:t>
                    </a:r>
                  </a:p>
                </c:rich>
              </c:tx>
              <c:dLblPos val="b"/>
              <c:showLegendKey val="0"/>
              <c:showVal val="1"/>
              <c:showCatName val="0"/>
              <c:showSerName val="0"/>
              <c:showPercent val="0"/>
              <c:showBubbleSize val="0"/>
            </c:dLbl>
            <c:dLbl>
              <c:idx val="2"/>
              <c:tx>
                <c:rich>
                  <a:bodyPr/>
                  <a:lstStyle/>
                  <a:p>
                    <a:r>
                      <a:rPr sz="1100">
                        <a:solidFill>
                          <a:srgbClr val="1E2A4A"/>
                        </a:solidFill>
                        <a:latin typeface="Arial"/>
                      </a:rPr>
                      <a:t>MobileNetV3-S</a:t>
                    </a:r>
                  </a:p>
                </c:rich>
              </c:tx>
              <c:dLblPos val="b"/>
              <c:showLegendKey val="0"/>
              <c:showVal val="1"/>
              <c:showCatName val="0"/>
              <c:showSerName val="0"/>
              <c:showPercent val="0"/>
              <c:showBubbleSize val="0"/>
            </c:dLbl>
            <c:showLegendKey val="0"/>
            <c:showVal val="0"/>
            <c:showCatName val="0"/>
            <c:showSerName val="0"/>
            <c:showPercent val="0"/>
            <c:showBubbleSize val="0"/>
            <c:showLeaderLines val="1"/>
          </c:dLbls>
          <c:xVal>
            <c:numRef>
              <c:f>Sheet1!$A$2:$A$4</c:f>
              <c:numCache>
                <c:formatCode>General</c:formatCode>
                <c:ptCount val="3"/>
                <c:pt idx="0">
                  <c:v>8.16</c:v>
                </c:pt>
                <c:pt idx="1">
                  <c:v>29.05</c:v>
                </c:pt>
                <c:pt idx="2">
                  <c:v>1.65</c:v>
                </c:pt>
              </c:numCache>
            </c:numRef>
          </c:xVal>
          <c:yVal>
            <c:numRef>
              <c:f>Sheet1!$B$2:$B$4</c:f>
              <c:numCache>
                <c:formatCode>General</c:formatCode>
                <c:ptCount val="3"/>
                <c:pt idx="0">
                  <c:v>0.814</c:v>
                </c:pt>
                <c:pt idx="1">
                  <c:v>0.771</c:v>
                </c:pt>
                <c:pt idx="2">
                  <c:v>0.744</c:v>
                </c:pt>
              </c:numCache>
            </c:numRef>
          </c:yVal>
          <c:smooth val="0"/>
        </c:ser>
        <c:ser>
          <c:idx val="1"/>
          <c:order val="1"/>
          <c:tx>
            <c:strRef>
              <c:f>Sheet1!$B$6</c:f>
              <c:strCache>
                <c:ptCount val="1"/>
                <c:pt idx="0">
                  <c:v>INT8</c:v>
                </c:pt>
              </c:strCache>
            </c:strRef>
          </c:tx>
          <c:spPr>
            <a:ln w="47625">
              <a:noFill/>
            </a:ln>
          </c:spPr>
          <c:marker>
            <c:symbol val="diamond"/>
            <c:size val="12"/>
            <c:spPr>
              <a:solidFill>
                <a:srgbClr val="3B6FF0"/>
              </a:solidFill>
              <a:ln>
                <a:solidFill>
                  <a:srgbClr val="FFFFFF"/>
                </a:solidFill>
              </a:ln>
            </c:spPr>
          </c:marker>
          <c:dPt>
            <c:idx val="2"/>
            <c:marker>
              <c:symbol val="diamond"/>
              <c:size val="12"/>
              <c:spPr>
                <a:solidFill>
                  <a:srgbClr val="8E5CF0"/>
                </a:solidFill>
                <a:ln>
                  <a:solidFill>
                    <a:srgbClr val="FFFFFF"/>
                  </a:solidFill>
                </a:ln>
              </c:spPr>
            </c:marker>
          </c:dPt>
          <c:dLbls>
            <c:dLbl>
              <c:idx val="0"/>
              <c:tx>
                <c:rich>
                  <a:bodyPr/>
                  <a:lstStyle/>
                  <a:p>
                    <a:r>
                      <a:rPr sz="1100">
                        <a:solidFill>
                          <a:srgbClr val="1E2A4A"/>
                        </a:solidFill>
                        <a:latin typeface="Arial"/>
                      </a:rPr>
                      <a:t>EfficientNet-Lite0</a:t>
                    </a:r>
                  </a:p>
                </c:rich>
              </c:tx>
              <c:dLblPos val="t"/>
              <c:showLegendKey val="0"/>
              <c:showVal val="1"/>
              <c:showCatName val="0"/>
              <c:showSerName val="0"/>
              <c:showPercent val="0"/>
              <c:showBubbleSize val="0"/>
            </c:dLbl>
            <c:dLbl>
              <c:idx val="1"/>
              <c:tx>
                <c:rich>
                  <a:bodyPr/>
                  <a:lstStyle/>
                  <a:p>
                    <a:r>
                      <a:rPr sz="1100">
                        <a:solidFill>
                          <a:srgbClr val="1E2A4A"/>
                        </a:solidFill>
                        <a:latin typeface="Arial"/>
                      </a:rPr>
                      <a:t>ResNet18</a:t>
                    </a:r>
                  </a:p>
                </c:rich>
              </c:tx>
              <c:dLblPos val="b"/>
              <c:showLegendKey val="0"/>
              <c:showVal val="1"/>
              <c:showCatName val="0"/>
              <c:showSerName val="0"/>
              <c:showPercent val="0"/>
              <c:showBubbleSize val="0"/>
            </c:dLbl>
            <c:dLbl>
              <c:idx val="2"/>
              <c:tx>
                <c:rich>
                  <a:bodyPr/>
                  <a:lstStyle/>
                  <a:p>
                    <a:r>
                      <a:rPr sz="1100">
                        <a:solidFill>
                          <a:srgbClr val="1E2A4A"/>
                        </a:solidFill>
                        <a:latin typeface="Arial"/>
                      </a:rPr>
                      <a:t>MobileNetV3-S</a:t>
                    </a:r>
                  </a:p>
                </c:rich>
              </c:tx>
              <c:dLblPos val="r"/>
              <c:showLegendKey val="0"/>
              <c:showVal val="1"/>
              <c:showCatName val="0"/>
              <c:showSerName val="0"/>
              <c:showPercent val="0"/>
              <c:showBubbleSize val="0"/>
            </c:dLbl>
            <c:showLegendKey val="0"/>
            <c:showVal val="0"/>
            <c:showCatName val="0"/>
            <c:showSerName val="0"/>
            <c:showPercent val="0"/>
            <c:showBubbleSize val="0"/>
            <c:showLeaderLines val="1"/>
          </c:dLbls>
          <c:xVal>
            <c:numRef>
              <c:f>Sheet1!$A$7:$A$9</c:f>
              <c:numCache>
                <c:formatCode>General</c:formatCode>
                <c:ptCount val="3"/>
                <c:pt idx="0">
                  <c:v>5.12</c:v>
                </c:pt>
                <c:pt idx="1">
                  <c:v>9.25</c:v>
                </c:pt>
                <c:pt idx="2">
                  <c:v>2.3</c:v>
                </c:pt>
              </c:numCache>
            </c:numRef>
          </c:xVal>
          <c:yVal>
            <c:numRef>
              <c:f>Sheet1!$B$7:$B$9</c:f>
              <c:numCache>
                <c:formatCode>General</c:formatCode>
                <c:ptCount val="3"/>
                <c:pt idx="0">
                  <c:v>0.814</c:v>
                </c:pt>
                <c:pt idx="1">
                  <c:v>0.772</c:v>
                </c:pt>
                <c:pt idx="2">
                  <c:v>0.144</c:v>
                </c:pt>
              </c:numCache>
            </c:numRef>
          </c:yVal>
          <c:smooth val="0"/>
        </c:ser>
        <c:axId val="-2128940872"/>
        <c:axId val="-2129643912"/>
      </c:scatterChart>
      <c:valAx>
        <c:axId val="-2128940872"/>
        <c:scaling>
          <c:orientation val="minMax"/>
          <c:max val="32.0"/>
          <c:min val="0.0"/>
        </c:scaling>
        <c:delete val="0"/>
        <c:axPos val="b"/>
        <c:majorGridlines>
          <c:spPr>
            <a:ln>
              <a:solidFill>
                <a:srgbClr val="EEF2FA"/>
              </a:solidFill>
            </a:ln>
          </c:spPr>
        </c:majorGridlines>
        <c:title>
          <c:tx>
            <c:rich>
              <a:bodyPr/>
              <a:lstStyle/>
              <a:p>
                <a:r>
                  <a:rPr sz="1300" b="0">
                    <a:solidFill>
                      <a:srgbClr val="56648A"/>
                    </a:solidFill>
                    <a:latin typeface="Arial"/>
                  </a:rPr>
                  <a:t>Độ trễ một ảnh trên CPU (ms), càng thấp càng nhanh</a:t>
                </a:r>
              </a:p>
            </c:rich>
          </c:tx>
          <c:layout/>
          <c:overlay val="0"/>
        </c:title>
        <c:numFmt formatCode="General" sourceLinked="1"/>
        <c:majorTickMark val="out"/>
        <c:minorTickMark val="none"/>
        <c:tickLblPos val="nextTo"/>
        <c:spPr>
          <a:ln>
            <a:solidFill>
              <a:srgbClr val="E6ECF7"/>
            </a:solidFill>
          </a:ln>
        </c:spPr>
        <c:txPr>
          <a:bodyPr/>
          <a:lstStyle/>
          <a:p>
            <a:pPr>
              <a:defRPr sz="1200">
                <a:solidFill>
                  <a:srgbClr val="8D99B8"/>
                </a:solidFill>
                <a:latin typeface="Arial"/>
              </a:defRPr>
            </a:pPr>
          </a:p>
        </c:txPr>
        <c:crossAx val="-2129643912"/>
        <c:crosses val="autoZero"/>
        <c:crossBetween val="midCat"/>
        <c:majorUnit val="4.0"/>
      </c:valAx>
      <c:valAx>
        <c:axId val="-2129643912"/>
        <c:scaling>
          <c:orientation val="minMax"/>
          <c:max val="1.0"/>
          <c:min val="0.0"/>
        </c:scaling>
        <c:delete val="0"/>
        <c:axPos val="l"/>
        <c:majorGridlines>
          <c:spPr>
            <a:ln>
              <a:solidFill>
                <a:srgbClr val="EEF2FA"/>
              </a:solidFill>
            </a:ln>
          </c:spPr>
        </c:majorGridlines>
        <c:title>
          <c:tx>
            <c:rich>
              <a:bodyPr/>
              <a:lstStyle/>
              <a:p>
                <a:r>
                  <a:rPr sz="1300" b="0">
                    <a:solidFill>
                      <a:srgbClr val="56648A"/>
                    </a:solidFill>
                    <a:latin typeface="Arial"/>
                  </a:rPr>
                  <a:t>Test macro-F1</a:t>
                </a:r>
              </a:p>
            </c:rich>
          </c:tx>
          <c:layout/>
          <c:overlay val="0"/>
        </c:title>
        <c:numFmt formatCode="0.0" sourceLinked="0"/>
        <c:majorTickMark val="out"/>
        <c:minorTickMark val="none"/>
        <c:tickLblPos val="nextTo"/>
        <c:spPr>
          <a:ln>
            <a:solidFill>
              <a:srgbClr val="E6ECF7"/>
            </a:solidFill>
          </a:ln>
        </c:spPr>
        <c:txPr>
          <a:bodyPr/>
          <a:lstStyle/>
          <a:p>
            <a:pPr>
              <a:defRPr sz="1200">
                <a:solidFill>
                  <a:srgbClr val="8D99B8"/>
                </a:solidFill>
                <a:latin typeface="Arial"/>
              </a:defRPr>
            </a:pPr>
          </a:p>
        </c:txPr>
        <c:crossAx val="-2128940872"/>
        <c:crosses val="autoZero"/>
        <c:crossBetween val="midCat"/>
        <c:majorUnit val="0.2"/>
      </c:valAx>
    </c:plotArea>
    <c:legend>
      <c:legendPos val="b"/>
      <c:layout/>
      <c:overlay val="0"/>
      <c:txPr>
        <a:bodyPr/>
        <a:lstStyle/>
        <a:p>
          <a:pPr>
            <a:defRPr sz="1300">
              <a:solidFill>
                <a:srgbClr val="56648A"/>
              </a:solidFill>
              <a:latin typeface="Arial"/>
            </a:defRPr>
          </a:pPr>
        </a:p>
      </c:txPr>
    </c:legend>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Giới thiệu đề tài: nhận diện hành vi mất tập trung của tài xế từ camera trong xe, với ràng buộc chạy trên thiết bị edge (ít bộ nhớ, ít tính toán). Câu hỏi chính là đánh đổi giữa độ chính xác và tài nguyên.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thường (cloud): thiết bị gửi ảnh lên máy chủ mạnh, máy chủ chạy mô hình rồi trả kết quả. Edge AI: mô hình chạy ngay trên thiết bị trong xe. Với bài toán này edge hợp lý vì cảnh báo cần kịp thời (không chờ mạng), video mặt tài xế nhạy cảm nên ở lại thiết bị, và xe có lúc mất sóng. Cái giá phải trả: chip trong xe có rất ít bộ nhớ, tính toán và điện, nên mô hình phải nhỏ và nhanh. Đây là lập luận chung về edge AI, không phải kết quả em đo.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Mọi ảnh 640x480, 26 tài xế, mỗi tài xế có đủ 10 lớp. Gộp 4 lớp điện thoại thành 1 làm lớp phone chiếm khoảng 41,6% ảnh train: đây chính là nguồn của mất cân bằng lớp.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Quy trình nằm trong code: prepare_data tạo manifest và chia theo tài xế, preprocess bỏ ảnh gần trùng và resize. 2.417 ảnh bị loại, áp dụng cho cả train, val và test.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Giao thức giữ cố định cho mọi mô hình để so sánh công bằng. Epoch được chọn theo val macro-F1, còn test chỉ chạy một lần với checkpoint đã chọn.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MACs là số phép nhân cộng cho một ảnh, đo bằng bộ đếm FLOP của PyTorch. Hai mô hình nhẹ là ứng viên đưa lên edge, hai ResNet là mốc để xem mất bao nhiêu độ chính xác khi thu nhỏ mô hình.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Mọi mô hình đều có điểm val cao hơn test, nhưng điều quan trọng hơn là thứ hạng trên val không đoán được thứ hạng trên test. Class weight làm val tăng lên 0,926 nhưng test giảm; ResNet50 có val cao nhất nhưng test thấp nhất. Trên 12 lần chạy, tương quan thứ hạng giữa val và test chỉ 0,35. Lý do: val chỉ có 4 tài xế, được dùng để chọn epoch nên bị lạc quan, và mỗi tài xế có độ khó khác nhau. Vì vậy em không kết luận từ chênh lệch nhỏ, và đã chuẩn bị cross-validation theo tài xế để có điểm ổn định hơn.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 lần chạy cùng cấu hình, seed 42, chỉ khác máy (Kaggle P100 và Colab T4). Điểm lệch khoảng 0,02 đến 0,03, nên chênh lệch dưới mức này giữa hai mô hình chưa chắc là thật. EfficientNet-Lite0 cao nhất ở cả hai lần.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 không dừng ở một lần train. Em đã thử: làm sạch dữ liệu, đổi learning rate, weight decay, số epoch trên MobileNetV3, và hai cách xử lý mất cân bằng lớp trên EfficientNet-Lite0 (class weight và sampler cân bằng), mỗi lần chỉ đổi một thứ. Không cách nào vượt mức nhiễu giữa các lần chạy (khoảng 0,03). Đặc biệt cân bằng lớp không cứu được talk_passenger, vì lớp này bị nhầm với reach_grooming do ảnh có tay giơ lên, tức vấn đề nằm ở dữ liệu. Lưu ý: hàng 20 epoch chạy trên Colab còn mặc định của MobileNetV3 chạy trên Kaggle, nên chênh +0,016 nằm trong nhiễu giữa hai máy.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Mô hình huấn luyện thường quá lớn cho chip edge nên phải thu nhỏ qua hai bước: chọn kiến trúc nhỏ hơn, rồi lượng tử hoá từ số thực 32 bit sang số nguyên 8 bit. Bước đầu mất khả năng biểu diễn; bước sau gây sai số làm tròn, nhỏ ở từng lớp nhưng cộng dồn. Một số lớp như hard-swish và khối squeeze-excite của MobileNetV3 đặc biệt nhạy với làm tròn (đây là giải thích em đưa ra, chưa kiểm chứng riêng). Cách khắc phục: chọn kiến trúc thân thiện lượng tử hoá (EfficientNet-Lite dùng ReLU6), hiệu chỉnh bằng ảnh mẫu, hoặc huấn luyện có tính đến lượng tử hoá (QAT, hướng phát triển).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Bản FP32 xuất qua ONNX cho điểm giống lúc huấn luyện, nên đường ống đúng. Sau INT8 static, EfficientNet-Lite0 và ResNet18 gần như không đổi điểm; MobileNetV3-Small sập, dù thử minmax, entropy, percentile, qoperator, dynamic. Nguyên nhân em nghi là hard-swish và khối squeeze-excite nhạy với làm tròn; EfficientNet-Lite dùng ReLU6 vốn thiết kế cho lượng tử hoá. Đây là giả thuyết, chưa kiểm chứng riêng.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biểu đồ trả lời trực tiếp câu hỏi nghiên cứu: mỗi điểm là một mô hình ở một độ chính xác số học. Càng lên cao càng chính xác, càng sang trái càng nhanh. EfficientNet-Lite0 INT8 nằm ở góc trên bên trái trong các mô hình qua được INT8. MobileNetV3-Small INT8 rất nhanh nhưng độ chính xác sập nên nằm sát đáy.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Đạt được: giao thức đánh giá trung thực (chia theo tài xế, bỏ ảnh trùng), EfficientNet-Lite0 là mô hình tốt nhất và giữ nguyên độ chính xác sau INT8. Hạn chế: tập test nhỏ nên điểm dao động khoảng 0,03, tốc độ mới đo trên CPU máy tính, MobileNetV3-Small không chịu được INT8 sau huấn luyện, lớp talk_passenger còn yếu do ảnh nhập nhằng. Hướng phát triển: cross-validation theo tài xế, QAT, đo trên chip edge thật, và xem lại nhãn của lớp talk_passenger.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chart" Target="../charts/char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chart" Target="../charts/char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chart" Target="../charts/char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chart" Target="../charts/char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EDF2FA"/>
        </a:solidFill>
        <a:effectLst/>
      </p:bgPr>
    </p:bg>
    <p:spTree>
      <p:nvGrpSpPr>
        <p:cNvPr id="1" name=""/>
        <p:cNvGrpSpPr/>
        <p:nvPr/>
      </p:nvGrpSpPr>
      <p:grpSpPr/>
      <p:sp>
        <p:nvSpPr>
          <p:cNvPr id="2" name="TextBox 1"/>
          <p:cNvSpPr txBox="1"/>
          <p:nvPr/>
        </p:nvSpPr>
        <p:spPr>
          <a:xfrm>
            <a:off x="11064240" y="6400800"/>
            <a:ext cx="457200" cy="274320"/>
          </a:xfrm>
          <a:prstGeom prst="rect">
            <a:avLst/>
          </a:prstGeom>
          <a:noFill/>
        </p:spPr>
        <p:txBody>
          <a:bodyPr wrap="none" lIns="0" rIns="0" tIns="0" bIns="0">
            <a:spAutoFit/>
          </a:bodyPr>
          <a:lstStyle/>
          <a:p>
            <a:pPr algn="r"/>
            <a:fld id="{B6F15528-21DE-4FAA-801E-634DDDAF4B2B}" type="slidenum">
              <a:rPr lang="en-US" sz="1200">
                <a:solidFill>
                  <a:srgbClr val="8D99B8"/>
                </a:solidFill>
                <a:latin typeface="Arial"/>
              </a:rPr>
              <a:t>‹#›</a:t>
            </a:fld>
          </a:p>
        </p:txBody>
      </p:sp>
      <p:sp>
        <p:nvSpPr>
          <p:cNvPr id="3" name="Rounded Rectangle 2"/>
          <p:cNvSpPr/>
          <p:nvPr/>
        </p:nvSpPr>
        <p:spPr>
          <a:xfrm>
            <a:off x="640080" y="822960"/>
            <a:ext cx="10908792" cy="5212080"/>
          </a:xfrm>
          <a:prstGeom prst="roundRect">
            <a:avLst>
              <a:gd name="adj" fmla="val 4000"/>
            </a:avLst>
          </a:prstGeom>
          <a:solidFill>
            <a:srgbClr val="FFFFFF"/>
          </a:solidFill>
          <a:ln>
            <a:noFill/>
          </a:ln>
          <a:effectLst>
            <a:outerShdw blurRad="203200" dist="38100" dir="5400000" algn="t" rotWithShape="0">
              <a:srgbClr val="2A4B9B">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2011680"/>
            <a:ext cx="5120640" cy="2011680"/>
          </a:xfrm>
          <a:prstGeom prst="rect">
            <a:avLst/>
          </a:prstGeom>
          <a:noFill/>
        </p:spPr>
        <p:txBody>
          <a:bodyPr wrap="square" lIns="0" rIns="0" tIns="0" bIns="0" anchor="ctr">
            <a:spAutoFit/>
          </a:bodyPr>
          <a:lstStyle/>
          <a:p>
            <a:pPr algn="l">
              <a:spcAft>
                <a:spcPts val="600"/>
              </a:spcAft>
            </a:pPr>
            <a:r>
              <a:rPr sz="4400" b="1" i="0">
                <a:solidFill>
                  <a:srgbClr val="1E2A4A"/>
                </a:solidFill>
                <a:latin typeface="Arial"/>
              </a:rPr>
              <a:t>Nhận diện tài xế mất tập trung</a:t>
            </a:r>
          </a:p>
        </p:txBody>
      </p:sp>
      <p:sp>
        <p:nvSpPr>
          <p:cNvPr id="5" name="TextBox 4"/>
          <p:cNvSpPr txBox="1"/>
          <p:nvPr/>
        </p:nvSpPr>
        <p:spPr>
          <a:xfrm>
            <a:off x="1188720" y="4206240"/>
            <a:ext cx="5120640" cy="548640"/>
          </a:xfrm>
          <a:prstGeom prst="rect">
            <a:avLst/>
          </a:prstGeom>
          <a:noFill/>
        </p:spPr>
        <p:txBody>
          <a:bodyPr wrap="square" lIns="0" rIns="0" tIns="0" bIns="0" anchor="t">
            <a:spAutoFit/>
          </a:bodyPr>
          <a:lstStyle/>
          <a:p>
            <a:pPr algn="l">
              <a:spcAft>
                <a:spcPts val="600"/>
              </a:spcAft>
            </a:pPr>
            <a:r>
              <a:rPr sz="2200" b="0" i="0">
                <a:solidFill>
                  <a:srgbClr val="3B6FF0"/>
                </a:solidFill>
                <a:latin typeface="Arial"/>
              </a:rPr>
              <a:t>Presenter: Huy Tran Gia</a:t>
            </a:r>
          </a:p>
        </p:txBody>
      </p:sp>
      <p:sp>
        <p:nvSpPr>
          <p:cNvPr id="6" name="Rounded Rectangle 5"/>
          <p:cNvSpPr/>
          <p:nvPr/>
        </p:nvSpPr>
        <p:spPr>
          <a:xfrm>
            <a:off x="7178040" y="1783080"/>
            <a:ext cx="3840480" cy="3383280"/>
          </a:xfrm>
          <a:prstGeom prst="roundRect">
            <a:avLst>
              <a:gd name="adj" fmla="val 6000"/>
            </a:avLst>
          </a:prstGeom>
          <a:solidFill>
            <a:srgbClr val="D5E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01_Picture_2.jpg"/>
          <p:cNvPicPr>
            <a:picLocks noChangeAspect="1"/>
          </p:cNvPicPr>
          <p:nvPr/>
        </p:nvPicPr>
        <p:blipFill>
          <a:blip r:embed="rId3"/>
          <a:stretch>
            <a:fillRect/>
          </a:stretch>
        </p:blipFill>
        <p:spPr>
          <a:xfrm>
            <a:off x="6812280" y="1463040"/>
            <a:ext cx="3840480" cy="3383280"/>
          </a:xfrm>
          <a:prstGeom prst="roundRect">
            <a:avLst>
              <a:gd name="adj" fmla="val 6000"/>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EDF2FA"/>
        </a:solidFill>
        <a:effectLst/>
      </p:bgPr>
    </p:bg>
    <p:spTree>
      <p:nvGrpSpPr>
        <p:cNvPr id="1" name=""/>
        <p:cNvGrpSpPr/>
        <p:nvPr/>
      </p:nvGrpSpPr>
      <p:grpSpPr/>
      <p:sp>
        <p:nvSpPr>
          <p:cNvPr id="2" name="TextBox 1"/>
          <p:cNvSpPr txBox="1"/>
          <p:nvPr/>
        </p:nvSpPr>
        <p:spPr>
          <a:xfrm>
            <a:off x="822960" y="502920"/>
            <a:ext cx="10058400" cy="731520"/>
          </a:xfrm>
          <a:prstGeom prst="rect">
            <a:avLst/>
          </a:prstGeom>
          <a:noFill/>
        </p:spPr>
        <p:txBody>
          <a:bodyPr wrap="square" lIns="0" rIns="0" tIns="0" bIns="0" anchor="ctr">
            <a:spAutoFit/>
          </a:bodyPr>
          <a:lstStyle/>
          <a:p>
            <a:pPr algn="l">
              <a:spcAft>
                <a:spcPts val="600"/>
              </a:spcAft>
            </a:pPr>
            <a:r>
              <a:rPr sz="3200" b="1" i="0">
                <a:solidFill>
                  <a:srgbClr val="1E2A4A"/>
                </a:solidFill>
                <a:latin typeface="Arial"/>
              </a:rPr>
              <a:t>Bài toán</a:t>
            </a:r>
          </a:p>
        </p:txBody>
      </p:sp>
      <p:sp>
        <p:nvSpPr>
          <p:cNvPr id="3" name="TextBox 2"/>
          <p:cNvSpPr txBox="1"/>
          <p:nvPr/>
        </p:nvSpPr>
        <p:spPr>
          <a:xfrm>
            <a:off x="11064240" y="6400800"/>
            <a:ext cx="457200" cy="274320"/>
          </a:xfrm>
          <a:prstGeom prst="rect">
            <a:avLst/>
          </a:prstGeom>
          <a:noFill/>
        </p:spPr>
        <p:txBody>
          <a:bodyPr wrap="none" lIns="0" rIns="0" tIns="0" bIns="0">
            <a:spAutoFit/>
          </a:bodyPr>
          <a:lstStyle/>
          <a:p>
            <a:pPr algn="r"/>
            <a:fld id="{B6F15528-21DE-4FAA-801E-634DDDAF4B2B}" type="slidenum">
              <a:rPr lang="en-US" sz="1200">
                <a:solidFill>
                  <a:srgbClr val="8D99B8"/>
                </a:solidFill>
                <a:latin typeface="Arial"/>
              </a:rPr>
              <a:t>‹#›</a:t>
            </a:fld>
          </a:p>
        </p:txBody>
      </p:sp>
      <p:sp>
        <p:nvSpPr>
          <p:cNvPr id="4" name="Rounded Rectangle 3"/>
          <p:cNvSpPr/>
          <p:nvPr/>
        </p:nvSpPr>
        <p:spPr>
          <a:xfrm>
            <a:off x="822960" y="1554480"/>
            <a:ext cx="4846320" cy="4480560"/>
          </a:xfrm>
          <a:prstGeom prst="roundRect">
            <a:avLst>
              <a:gd name="adj" fmla="val 5000"/>
            </a:avLst>
          </a:prstGeom>
          <a:solidFill>
            <a:srgbClr val="FFFFFF"/>
          </a:solidFill>
          <a:ln>
            <a:noFill/>
          </a:ln>
          <a:effectLst>
            <a:outerShdw blurRad="203200" dist="38100" dir="5400000" algn="t" rotWithShape="0">
              <a:srgbClr val="2A4B9B">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34440" y="2011680"/>
            <a:ext cx="4023360" cy="3566160"/>
          </a:xfrm>
          <a:prstGeom prst="rect">
            <a:avLst/>
          </a:prstGeom>
          <a:noFill/>
        </p:spPr>
        <p:txBody>
          <a:bodyPr wrap="square" lIns="0" rIns="0" tIns="0" bIns="0" anchor="t">
            <a:spAutoFit/>
          </a:bodyPr>
          <a:lstStyle/>
          <a:p>
            <a:pPr algn="l">
              <a:spcAft>
                <a:spcPts val="2200"/>
              </a:spcAft>
            </a:pPr>
            <a:r>
              <a:rPr sz="2600" b="1" i="0">
                <a:solidFill>
                  <a:srgbClr val="1E2A4A"/>
                </a:solidFill>
                <a:latin typeface="Arial"/>
              </a:rPr>
              <a:t>Từ một ảnh camera trong xe, phân loại tài xế đang làm gì.</a:t>
            </a:r>
          </a:p>
          <a:p>
            <a:pPr algn="l">
              <a:spcAft>
                <a:spcPts val="2200"/>
              </a:spcAft>
            </a:pPr>
            <a:r>
              <a:rPr sz="1900" b="0" i="0">
                <a:solidFill>
                  <a:srgbClr val="56648A"/>
                </a:solidFill>
                <a:latin typeface="Arial"/>
              </a:rPr>
              <a:t>Mô hình phải chạy được trên thiết bị edge: nhỏ, nhanh, tiết kiệm bộ nhớ.</a:t>
            </a:r>
          </a:p>
        </p:txBody>
      </p:sp>
      <p:sp>
        <p:nvSpPr>
          <p:cNvPr id="6" name="Rounded Rectangle 5"/>
          <p:cNvSpPr/>
          <p:nvPr/>
        </p:nvSpPr>
        <p:spPr>
          <a:xfrm>
            <a:off x="5943600" y="1554480"/>
            <a:ext cx="5422392" cy="4480560"/>
          </a:xfrm>
          <a:prstGeom prst="roundRect">
            <a:avLst>
              <a:gd name="adj" fmla="val 5000"/>
            </a:avLst>
          </a:prstGeom>
          <a:solidFill>
            <a:srgbClr val="FFFFFF"/>
          </a:solidFill>
          <a:ln>
            <a:noFill/>
          </a:ln>
          <a:effectLst>
            <a:outerShdw blurRad="203200" dist="38100" dir="5400000" algn="t" rotWithShape="0">
              <a:srgbClr val="2A4B9B">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02_CloudVsEdge.jpg"/>
          <p:cNvPicPr>
            <a:picLocks noChangeAspect="1"/>
          </p:cNvPicPr>
          <p:nvPr/>
        </p:nvPicPr>
        <p:blipFill>
          <a:blip r:embed="rId3"/>
          <a:stretch>
            <a:fillRect/>
          </a:stretch>
        </p:blipFill>
        <p:spPr>
          <a:xfrm>
            <a:off x="6126480" y="2606040"/>
            <a:ext cx="5056632" cy="1914625"/>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EDF2FA"/>
        </a:solidFill>
        <a:effectLst/>
      </p:bgPr>
    </p:bg>
    <p:spTree>
      <p:nvGrpSpPr>
        <p:cNvPr id="1" name=""/>
        <p:cNvGrpSpPr/>
        <p:nvPr/>
      </p:nvGrpSpPr>
      <p:grpSpPr/>
      <p:sp>
        <p:nvSpPr>
          <p:cNvPr id="2" name="TextBox 1"/>
          <p:cNvSpPr txBox="1"/>
          <p:nvPr/>
        </p:nvSpPr>
        <p:spPr>
          <a:xfrm>
            <a:off x="822960" y="502920"/>
            <a:ext cx="10058400" cy="731520"/>
          </a:xfrm>
          <a:prstGeom prst="rect">
            <a:avLst/>
          </a:prstGeom>
          <a:noFill/>
        </p:spPr>
        <p:txBody>
          <a:bodyPr wrap="square" lIns="0" rIns="0" tIns="0" bIns="0" anchor="ctr">
            <a:spAutoFit/>
          </a:bodyPr>
          <a:lstStyle/>
          <a:p>
            <a:pPr algn="l">
              <a:spcAft>
                <a:spcPts val="600"/>
              </a:spcAft>
            </a:pPr>
            <a:r>
              <a:rPr sz="3200" b="1" i="0">
                <a:solidFill>
                  <a:srgbClr val="1E2A4A"/>
                </a:solidFill>
                <a:latin typeface="Arial"/>
              </a:rPr>
              <a:t>Dữ liệu: State Farm Distracted Driver</a:t>
            </a:r>
          </a:p>
        </p:txBody>
      </p:sp>
      <p:sp>
        <p:nvSpPr>
          <p:cNvPr id="3" name="TextBox 2"/>
          <p:cNvSpPr txBox="1"/>
          <p:nvPr/>
        </p:nvSpPr>
        <p:spPr>
          <a:xfrm>
            <a:off x="11064240" y="6400800"/>
            <a:ext cx="457200" cy="274320"/>
          </a:xfrm>
          <a:prstGeom prst="rect">
            <a:avLst/>
          </a:prstGeom>
          <a:noFill/>
        </p:spPr>
        <p:txBody>
          <a:bodyPr wrap="none" lIns="0" rIns="0" tIns="0" bIns="0">
            <a:spAutoFit/>
          </a:bodyPr>
          <a:lstStyle/>
          <a:p>
            <a:pPr algn="r"/>
            <a:fld id="{B6F15528-21DE-4FAA-801E-634DDDAF4B2B}" type="slidenum">
              <a:rPr lang="en-US" sz="1200">
                <a:solidFill>
                  <a:srgbClr val="8D99B8"/>
                </a:solidFill>
                <a:latin typeface="Arial"/>
              </a:rPr>
              <a:t>‹#›</a:t>
            </a:fld>
          </a:p>
        </p:txBody>
      </p:sp>
      <p:sp>
        <p:nvSpPr>
          <p:cNvPr id="4" name="Rounded Rectangle 3"/>
          <p:cNvSpPr/>
          <p:nvPr/>
        </p:nvSpPr>
        <p:spPr>
          <a:xfrm>
            <a:off x="822960" y="1508760"/>
            <a:ext cx="2468880" cy="1143000"/>
          </a:xfrm>
          <a:prstGeom prst="roundRect">
            <a:avLst>
              <a:gd name="adj" fmla="val 5000"/>
            </a:avLst>
          </a:prstGeom>
          <a:solidFill>
            <a:srgbClr val="FFFFFF"/>
          </a:solidFill>
          <a:ln>
            <a:noFill/>
          </a:ln>
          <a:effectLst>
            <a:outerShdw blurRad="203200" dist="38100" dir="5400000" algn="t" rotWithShape="0">
              <a:srgbClr val="2A4B9B">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600200"/>
            <a:ext cx="2468880" cy="640080"/>
          </a:xfrm>
          <a:prstGeom prst="rect">
            <a:avLst/>
          </a:prstGeom>
          <a:noFill/>
        </p:spPr>
        <p:txBody>
          <a:bodyPr wrap="square" lIns="0" rIns="0" tIns="0" bIns="0" anchor="ctr">
            <a:spAutoFit/>
          </a:bodyPr>
          <a:lstStyle/>
          <a:p>
            <a:pPr algn="ctr">
              <a:spcAft>
                <a:spcPts val="600"/>
              </a:spcAft>
            </a:pPr>
            <a:r>
              <a:rPr sz="3200" b="1" i="0">
                <a:solidFill>
                  <a:srgbClr val="3B6FF0"/>
                </a:solidFill>
                <a:latin typeface="Arial"/>
              </a:rPr>
              <a:t>22.424</a:t>
            </a:r>
          </a:p>
        </p:txBody>
      </p:sp>
      <p:sp>
        <p:nvSpPr>
          <p:cNvPr id="6" name="TextBox 5"/>
          <p:cNvSpPr txBox="1"/>
          <p:nvPr/>
        </p:nvSpPr>
        <p:spPr>
          <a:xfrm>
            <a:off x="822960" y="2194560"/>
            <a:ext cx="2468880" cy="320040"/>
          </a:xfrm>
          <a:prstGeom prst="rect">
            <a:avLst/>
          </a:prstGeom>
          <a:noFill/>
        </p:spPr>
        <p:txBody>
          <a:bodyPr wrap="square" lIns="0" rIns="0" tIns="0" bIns="0" anchor="t">
            <a:spAutoFit/>
          </a:bodyPr>
          <a:lstStyle/>
          <a:p>
            <a:pPr algn="ctr">
              <a:spcAft>
                <a:spcPts val="600"/>
              </a:spcAft>
            </a:pPr>
            <a:r>
              <a:rPr sz="1400" b="0" i="0">
                <a:solidFill>
                  <a:srgbClr val="8D99B8"/>
                </a:solidFill>
                <a:latin typeface="Arial"/>
              </a:rPr>
              <a:t>ảnh có nhãn</a:t>
            </a:r>
          </a:p>
        </p:txBody>
      </p:sp>
      <p:sp>
        <p:nvSpPr>
          <p:cNvPr id="7" name="Rounded Rectangle 6"/>
          <p:cNvSpPr/>
          <p:nvPr/>
        </p:nvSpPr>
        <p:spPr>
          <a:xfrm>
            <a:off x="3520440" y="1508760"/>
            <a:ext cx="2468880" cy="1143000"/>
          </a:xfrm>
          <a:prstGeom prst="roundRect">
            <a:avLst>
              <a:gd name="adj" fmla="val 5000"/>
            </a:avLst>
          </a:prstGeom>
          <a:solidFill>
            <a:srgbClr val="FFFFFF"/>
          </a:solidFill>
          <a:ln>
            <a:noFill/>
          </a:ln>
          <a:effectLst>
            <a:outerShdw blurRad="203200" dist="38100" dir="5400000" algn="t" rotWithShape="0">
              <a:srgbClr val="2A4B9B">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20440" y="1600200"/>
            <a:ext cx="2468880" cy="640080"/>
          </a:xfrm>
          <a:prstGeom prst="rect">
            <a:avLst/>
          </a:prstGeom>
          <a:noFill/>
        </p:spPr>
        <p:txBody>
          <a:bodyPr wrap="square" lIns="0" rIns="0" tIns="0" bIns="0" anchor="ctr">
            <a:spAutoFit/>
          </a:bodyPr>
          <a:lstStyle/>
          <a:p>
            <a:pPr algn="ctr">
              <a:spcAft>
                <a:spcPts val="600"/>
              </a:spcAft>
            </a:pPr>
            <a:r>
              <a:rPr sz="3200" b="1" i="0">
                <a:solidFill>
                  <a:srgbClr val="0E9AC4"/>
                </a:solidFill>
                <a:latin typeface="Arial"/>
              </a:rPr>
              <a:t>26</a:t>
            </a:r>
          </a:p>
        </p:txBody>
      </p:sp>
      <p:sp>
        <p:nvSpPr>
          <p:cNvPr id="9" name="TextBox 8"/>
          <p:cNvSpPr txBox="1"/>
          <p:nvPr/>
        </p:nvSpPr>
        <p:spPr>
          <a:xfrm>
            <a:off x="3520440" y="2194560"/>
            <a:ext cx="2468880" cy="320040"/>
          </a:xfrm>
          <a:prstGeom prst="rect">
            <a:avLst/>
          </a:prstGeom>
          <a:noFill/>
        </p:spPr>
        <p:txBody>
          <a:bodyPr wrap="square" lIns="0" rIns="0" tIns="0" bIns="0" anchor="t">
            <a:spAutoFit/>
          </a:bodyPr>
          <a:lstStyle/>
          <a:p>
            <a:pPr algn="ctr">
              <a:spcAft>
                <a:spcPts val="600"/>
              </a:spcAft>
            </a:pPr>
            <a:r>
              <a:rPr sz="1400" b="0" i="0">
                <a:solidFill>
                  <a:srgbClr val="8D99B8"/>
                </a:solidFill>
                <a:latin typeface="Arial"/>
              </a:rPr>
              <a:t>tài xế</a:t>
            </a:r>
          </a:p>
        </p:txBody>
      </p:sp>
      <p:sp>
        <p:nvSpPr>
          <p:cNvPr id="10" name="Rounded Rectangle 9"/>
          <p:cNvSpPr/>
          <p:nvPr/>
        </p:nvSpPr>
        <p:spPr>
          <a:xfrm>
            <a:off x="6217920" y="1508760"/>
            <a:ext cx="2468880" cy="1143000"/>
          </a:xfrm>
          <a:prstGeom prst="roundRect">
            <a:avLst>
              <a:gd name="adj" fmla="val 5000"/>
            </a:avLst>
          </a:prstGeom>
          <a:solidFill>
            <a:srgbClr val="FFFFFF"/>
          </a:solidFill>
          <a:ln>
            <a:noFill/>
          </a:ln>
          <a:effectLst>
            <a:outerShdw blurRad="203200" dist="38100" dir="5400000" algn="t" rotWithShape="0">
              <a:srgbClr val="2A4B9B">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0" y="1600200"/>
            <a:ext cx="2468880" cy="640080"/>
          </a:xfrm>
          <a:prstGeom prst="rect">
            <a:avLst/>
          </a:prstGeom>
          <a:noFill/>
        </p:spPr>
        <p:txBody>
          <a:bodyPr wrap="square" lIns="0" rIns="0" tIns="0" bIns="0" anchor="ctr">
            <a:spAutoFit/>
          </a:bodyPr>
          <a:lstStyle/>
          <a:p>
            <a:pPr algn="ctr">
              <a:spcAft>
                <a:spcPts val="600"/>
              </a:spcAft>
            </a:pPr>
            <a:r>
              <a:rPr sz="3200" b="1" i="0">
                <a:solidFill>
                  <a:srgbClr val="5B5CE0"/>
                </a:solidFill>
                <a:latin typeface="Arial"/>
              </a:rPr>
              <a:t>10 → 6</a:t>
            </a:r>
          </a:p>
        </p:txBody>
      </p:sp>
      <p:sp>
        <p:nvSpPr>
          <p:cNvPr id="12" name="TextBox 11"/>
          <p:cNvSpPr txBox="1"/>
          <p:nvPr/>
        </p:nvSpPr>
        <p:spPr>
          <a:xfrm>
            <a:off x="6217920" y="2194560"/>
            <a:ext cx="2468880" cy="320040"/>
          </a:xfrm>
          <a:prstGeom prst="rect">
            <a:avLst/>
          </a:prstGeom>
          <a:noFill/>
        </p:spPr>
        <p:txBody>
          <a:bodyPr wrap="square" lIns="0" rIns="0" tIns="0" bIns="0" anchor="t">
            <a:spAutoFit/>
          </a:bodyPr>
          <a:lstStyle/>
          <a:p>
            <a:pPr algn="ctr">
              <a:spcAft>
                <a:spcPts val="600"/>
              </a:spcAft>
            </a:pPr>
            <a:r>
              <a:rPr sz="1400" b="0" i="0">
                <a:solidFill>
                  <a:srgbClr val="8D99B8"/>
                </a:solidFill>
                <a:latin typeface="Arial"/>
              </a:rPr>
              <a:t>lớp hành vi</a:t>
            </a:r>
          </a:p>
        </p:txBody>
      </p:sp>
      <p:sp>
        <p:nvSpPr>
          <p:cNvPr id="13" name="Rounded Rectangle 12"/>
          <p:cNvSpPr/>
          <p:nvPr/>
        </p:nvSpPr>
        <p:spPr>
          <a:xfrm>
            <a:off x="8915400" y="1508760"/>
            <a:ext cx="2468880" cy="1143000"/>
          </a:xfrm>
          <a:prstGeom prst="roundRect">
            <a:avLst>
              <a:gd name="adj" fmla="val 5000"/>
            </a:avLst>
          </a:prstGeom>
          <a:solidFill>
            <a:srgbClr val="FFFFFF"/>
          </a:solidFill>
          <a:ln>
            <a:noFill/>
          </a:ln>
          <a:effectLst>
            <a:outerShdw blurRad="203200" dist="38100" dir="5400000" algn="t" rotWithShape="0">
              <a:srgbClr val="2A4B9B">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5400" y="1600200"/>
            <a:ext cx="2468880" cy="640080"/>
          </a:xfrm>
          <a:prstGeom prst="rect">
            <a:avLst/>
          </a:prstGeom>
          <a:noFill/>
        </p:spPr>
        <p:txBody>
          <a:bodyPr wrap="square" lIns="0" rIns="0" tIns="0" bIns="0" anchor="ctr">
            <a:spAutoFit/>
          </a:bodyPr>
          <a:lstStyle/>
          <a:p>
            <a:pPr algn="ctr">
              <a:spcAft>
                <a:spcPts val="600"/>
              </a:spcAft>
            </a:pPr>
            <a:r>
              <a:rPr sz="3200" b="1" i="0">
                <a:solidFill>
                  <a:srgbClr val="8E5CF0"/>
                </a:solidFill>
                <a:latin typeface="Arial"/>
              </a:rPr>
              <a:t>640×480</a:t>
            </a:r>
          </a:p>
        </p:txBody>
      </p:sp>
      <p:sp>
        <p:nvSpPr>
          <p:cNvPr id="15" name="TextBox 14"/>
          <p:cNvSpPr txBox="1"/>
          <p:nvPr/>
        </p:nvSpPr>
        <p:spPr>
          <a:xfrm>
            <a:off x="8915400" y="2194560"/>
            <a:ext cx="2468880" cy="320040"/>
          </a:xfrm>
          <a:prstGeom prst="rect">
            <a:avLst/>
          </a:prstGeom>
          <a:noFill/>
        </p:spPr>
        <p:txBody>
          <a:bodyPr wrap="square" lIns="0" rIns="0" tIns="0" bIns="0" anchor="t">
            <a:spAutoFit/>
          </a:bodyPr>
          <a:lstStyle/>
          <a:p>
            <a:pPr algn="ctr">
              <a:spcAft>
                <a:spcPts val="600"/>
              </a:spcAft>
            </a:pPr>
            <a:r>
              <a:rPr sz="1400" b="0" i="0">
                <a:solidFill>
                  <a:srgbClr val="8D99B8"/>
                </a:solidFill>
                <a:latin typeface="Arial"/>
              </a:rPr>
              <a:t>ảnh RGB, JPEG</a:t>
            </a:r>
          </a:p>
        </p:txBody>
      </p:sp>
      <p:sp>
        <p:nvSpPr>
          <p:cNvPr id="16" name="Rounded Rectangle 15"/>
          <p:cNvSpPr/>
          <p:nvPr/>
        </p:nvSpPr>
        <p:spPr>
          <a:xfrm>
            <a:off x="822960" y="2926080"/>
            <a:ext cx="6949440" cy="3108960"/>
          </a:xfrm>
          <a:prstGeom prst="roundRect">
            <a:avLst>
              <a:gd name="adj" fmla="val 5000"/>
            </a:avLst>
          </a:prstGeom>
          <a:solidFill>
            <a:srgbClr val="FFFFFF"/>
          </a:solidFill>
          <a:ln>
            <a:noFill/>
          </a:ln>
          <a:effectLst>
            <a:outerShdw blurRad="203200" dist="38100" dir="5400000" algn="t" rotWithShape="0">
              <a:srgbClr val="2A4B9B">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s03_Picture_18.jpg"/>
          <p:cNvPicPr>
            <a:picLocks noChangeAspect="1"/>
          </p:cNvPicPr>
          <p:nvPr/>
        </p:nvPicPr>
        <p:blipFill>
          <a:blip r:embed="rId3"/>
          <a:stretch>
            <a:fillRect/>
          </a:stretch>
        </p:blipFill>
        <p:spPr>
          <a:xfrm>
            <a:off x="1051560" y="3520440"/>
            <a:ext cx="6492240" cy="1947672"/>
          </a:xfrm>
          <a:prstGeom prst="roundRect">
            <a:avLst>
              <a:gd name="adj" fmla="val 3000"/>
            </a:avLst>
          </a:prstGeom>
        </p:spPr>
      </p:pic>
      <p:sp>
        <p:nvSpPr>
          <p:cNvPr id="18" name="Rounded Rectangle 17"/>
          <p:cNvSpPr/>
          <p:nvPr/>
        </p:nvSpPr>
        <p:spPr>
          <a:xfrm>
            <a:off x="8046720" y="2926080"/>
            <a:ext cx="3319272" cy="3108960"/>
          </a:xfrm>
          <a:prstGeom prst="roundRect">
            <a:avLst>
              <a:gd name="adj" fmla="val 8000"/>
            </a:avLst>
          </a:prstGeom>
          <a:solidFill>
            <a:srgbClr val="E3E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66760" y="3154680"/>
            <a:ext cx="2743200" cy="365760"/>
          </a:xfrm>
          <a:prstGeom prst="rect">
            <a:avLst/>
          </a:prstGeom>
          <a:noFill/>
        </p:spPr>
        <p:txBody>
          <a:bodyPr wrap="square" lIns="0" rIns="0" tIns="0" bIns="0" anchor="t">
            <a:spAutoFit/>
          </a:bodyPr>
          <a:lstStyle/>
          <a:p>
            <a:pPr algn="l">
              <a:spcAft>
                <a:spcPts val="600"/>
              </a:spcAft>
            </a:pPr>
            <a:r>
              <a:rPr sz="1600" b="1" i="0">
                <a:solidFill>
                  <a:srgbClr val="3B6FF0"/>
                </a:solidFill>
                <a:latin typeface="Arial"/>
              </a:rPr>
              <a:t>Gộp 10 lớp thành 6 nhóm</a:t>
            </a:r>
          </a:p>
        </p:txBody>
      </p:sp>
      <p:sp>
        <p:nvSpPr>
          <p:cNvPr id="20" name="TextBox 19"/>
          <p:cNvSpPr txBox="1"/>
          <p:nvPr/>
        </p:nvSpPr>
        <p:spPr>
          <a:xfrm>
            <a:off x="8366760" y="3639312"/>
            <a:ext cx="1920240" cy="329184"/>
          </a:xfrm>
          <a:prstGeom prst="rect">
            <a:avLst/>
          </a:prstGeom>
          <a:noFill/>
        </p:spPr>
        <p:txBody>
          <a:bodyPr wrap="square" lIns="0" rIns="0" tIns="0" bIns="0" anchor="ctr">
            <a:spAutoFit/>
          </a:bodyPr>
          <a:lstStyle/>
          <a:p>
            <a:pPr algn="l">
              <a:spcAft>
                <a:spcPts val="600"/>
              </a:spcAft>
            </a:pPr>
            <a:r>
              <a:rPr sz="1400" b="1" i="0">
                <a:solidFill>
                  <a:srgbClr val="1E2A4A"/>
                </a:solidFill>
                <a:latin typeface="Arial"/>
              </a:rPr>
              <a:t>normal</a:t>
            </a:r>
          </a:p>
        </p:txBody>
      </p:sp>
      <p:sp>
        <p:nvSpPr>
          <p:cNvPr id="21" name="TextBox 20"/>
          <p:cNvSpPr txBox="1"/>
          <p:nvPr/>
        </p:nvSpPr>
        <p:spPr>
          <a:xfrm>
            <a:off x="10287000" y="3639312"/>
            <a:ext cx="1005840" cy="329184"/>
          </a:xfrm>
          <a:prstGeom prst="rect">
            <a:avLst/>
          </a:prstGeom>
          <a:noFill/>
        </p:spPr>
        <p:txBody>
          <a:bodyPr wrap="square" lIns="0" rIns="0" tIns="0" bIns="0" anchor="ctr">
            <a:spAutoFit/>
          </a:bodyPr>
          <a:lstStyle/>
          <a:p>
            <a:pPr algn="l">
              <a:spcAft>
                <a:spcPts val="600"/>
              </a:spcAft>
            </a:pPr>
            <a:r>
              <a:rPr sz="1400" b="0" i="0">
                <a:solidFill>
                  <a:srgbClr val="56648A"/>
                </a:solidFill>
                <a:latin typeface="Arial"/>
              </a:rPr>
              <a:t>= c0</a:t>
            </a:r>
          </a:p>
        </p:txBody>
      </p:sp>
      <p:sp>
        <p:nvSpPr>
          <p:cNvPr id="22" name="TextBox 21"/>
          <p:cNvSpPr txBox="1"/>
          <p:nvPr/>
        </p:nvSpPr>
        <p:spPr>
          <a:xfrm>
            <a:off x="8366760" y="4005072"/>
            <a:ext cx="1920240" cy="329184"/>
          </a:xfrm>
          <a:prstGeom prst="rect">
            <a:avLst/>
          </a:prstGeom>
          <a:noFill/>
        </p:spPr>
        <p:txBody>
          <a:bodyPr wrap="square" lIns="0" rIns="0" tIns="0" bIns="0" anchor="ctr">
            <a:spAutoFit/>
          </a:bodyPr>
          <a:lstStyle/>
          <a:p>
            <a:pPr algn="l">
              <a:spcAft>
                <a:spcPts val="600"/>
              </a:spcAft>
            </a:pPr>
            <a:r>
              <a:rPr sz="1400" b="1" i="0">
                <a:solidFill>
                  <a:srgbClr val="1E2A4A"/>
                </a:solidFill>
                <a:latin typeface="Arial"/>
              </a:rPr>
              <a:t>phone</a:t>
            </a:r>
          </a:p>
        </p:txBody>
      </p:sp>
      <p:sp>
        <p:nvSpPr>
          <p:cNvPr id="23" name="TextBox 22"/>
          <p:cNvSpPr txBox="1"/>
          <p:nvPr/>
        </p:nvSpPr>
        <p:spPr>
          <a:xfrm>
            <a:off x="10287000" y="4005072"/>
            <a:ext cx="1005840" cy="329184"/>
          </a:xfrm>
          <a:prstGeom prst="rect">
            <a:avLst/>
          </a:prstGeom>
          <a:noFill/>
        </p:spPr>
        <p:txBody>
          <a:bodyPr wrap="square" lIns="0" rIns="0" tIns="0" bIns="0" anchor="ctr">
            <a:spAutoFit/>
          </a:bodyPr>
          <a:lstStyle/>
          <a:p>
            <a:pPr algn="l">
              <a:spcAft>
                <a:spcPts val="600"/>
              </a:spcAft>
            </a:pPr>
            <a:r>
              <a:rPr sz="1400" b="0" i="0">
                <a:solidFill>
                  <a:srgbClr val="56648A"/>
                </a:solidFill>
                <a:latin typeface="Arial"/>
              </a:rPr>
              <a:t>= c1–c4</a:t>
            </a:r>
          </a:p>
        </p:txBody>
      </p:sp>
      <p:sp>
        <p:nvSpPr>
          <p:cNvPr id="24" name="TextBox 23"/>
          <p:cNvSpPr txBox="1"/>
          <p:nvPr/>
        </p:nvSpPr>
        <p:spPr>
          <a:xfrm>
            <a:off x="8366760" y="4370832"/>
            <a:ext cx="1920240" cy="329184"/>
          </a:xfrm>
          <a:prstGeom prst="rect">
            <a:avLst/>
          </a:prstGeom>
          <a:noFill/>
        </p:spPr>
        <p:txBody>
          <a:bodyPr wrap="square" lIns="0" rIns="0" tIns="0" bIns="0" anchor="ctr">
            <a:spAutoFit/>
          </a:bodyPr>
          <a:lstStyle/>
          <a:p>
            <a:pPr algn="l">
              <a:spcAft>
                <a:spcPts val="600"/>
              </a:spcAft>
            </a:pPr>
            <a:r>
              <a:rPr sz="1400" b="1" i="0">
                <a:solidFill>
                  <a:srgbClr val="1E2A4A"/>
                </a:solidFill>
                <a:latin typeface="Arial"/>
              </a:rPr>
              <a:t>device_ops</a:t>
            </a:r>
          </a:p>
        </p:txBody>
      </p:sp>
      <p:sp>
        <p:nvSpPr>
          <p:cNvPr id="25" name="TextBox 24"/>
          <p:cNvSpPr txBox="1"/>
          <p:nvPr/>
        </p:nvSpPr>
        <p:spPr>
          <a:xfrm>
            <a:off x="10287000" y="4370832"/>
            <a:ext cx="1005840" cy="329184"/>
          </a:xfrm>
          <a:prstGeom prst="rect">
            <a:avLst/>
          </a:prstGeom>
          <a:noFill/>
        </p:spPr>
        <p:txBody>
          <a:bodyPr wrap="square" lIns="0" rIns="0" tIns="0" bIns="0" anchor="ctr">
            <a:spAutoFit/>
          </a:bodyPr>
          <a:lstStyle/>
          <a:p>
            <a:pPr algn="l">
              <a:spcAft>
                <a:spcPts val="600"/>
              </a:spcAft>
            </a:pPr>
            <a:r>
              <a:rPr sz="1400" b="0" i="0">
                <a:solidFill>
                  <a:srgbClr val="56648A"/>
                </a:solidFill>
                <a:latin typeface="Arial"/>
              </a:rPr>
              <a:t>= c5</a:t>
            </a:r>
          </a:p>
        </p:txBody>
      </p:sp>
      <p:sp>
        <p:nvSpPr>
          <p:cNvPr id="26" name="TextBox 25"/>
          <p:cNvSpPr txBox="1"/>
          <p:nvPr/>
        </p:nvSpPr>
        <p:spPr>
          <a:xfrm>
            <a:off x="8366760" y="4736592"/>
            <a:ext cx="1920240" cy="329184"/>
          </a:xfrm>
          <a:prstGeom prst="rect">
            <a:avLst/>
          </a:prstGeom>
          <a:noFill/>
        </p:spPr>
        <p:txBody>
          <a:bodyPr wrap="square" lIns="0" rIns="0" tIns="0" bIns="0" anchor="ctr">
            <a:spAutoFit/>
          </a:bodyPr>
          <a:lstStyle/>
          <a:p>
            <a:pPr algn="l">
              <a:spcAft>
                <a:spcPts val="600"/>
              </a:spcAft>
            </a:pPr>
            <a:r>
              <a:rPr sz="1400" b="1" i="0">
                <a:solidFill>
                  <a:srgbClr val="1E2A4A"/>
                </a:solidFill>
                <a:latin typeface="Arial"/>
              </a:rPr>
              <a:t>eat_drink</a:t>
            </a:r>
          </a:p>
        </p:txBody>
      </p:sp>
      <p:sp>
        <p:nvSpPr>
          <p:cNvPr id="27" name="TextBox 26"/>
          <p:cNvSpPr txBox="1"/>
          <p:nvPr/>
        </p:nvSpPr>
        <p:spPr>
          <a:xfrm>
            <a:off x="10287000" y="4736592"/>
            <a:ext cx="1005840" cy="329184"/>
          </a:xfrm>
          <a:prstGeom prst="rect">
            <a:avLst/>
          </a:prstGeom>
          <a:noFill/>
        </p:spPr>
        <p:txBody>
          <a:bodyPr wrap="square" lIns="0" rIns="0" tIns="0" bIns="0" anchor="ctr">
            <a:spAutoFit/>
          </a:bodyPr>
          <a:lstStyle/>
          <a:p>
            <a:pPr algn="l">
              <a:spcAft>
                <a:spcPts val="600"/>
              </a:spcAft>
            </a:pPr>
            <a:r>
              <a:rPr sz="1400" b="0" i="0">
                <a:solidFill>
                  <a:srgbClr val="56648A"/>
                </a:solidFill>
                <a:latin typeface="Arial"/>
              </a:rPr>
              <a:t>= c6</a:t>
            </a:r>
          </a:p>
        </p:txBody>
      </p:sp>
      <p:sp>
        <p:nvSpPr>
          <p:cNvPr id="28" name="TextBox 27"/>
          <p:cNvSpPr txBox="1"/>
          <p:nvPr/>
        </p:nvSpPr>
        <p:spPr>
          <a:xfrm>
            <a:off x="8366760" y="5102352"/>
            <a:ext cx="1920240" cy="329184"/>
          </a:xfrm>
          <a:prstGeom prst="rect">
            <a:avLst/>
          </a:prstGeom>
          <a:noFill/>
        </p:spPr>
        <p:txBody>
          <a:bodyPr wrap="square" lIns="0" rIns="0" tIns="0" bIns="0" anchor="ctr">
            <a:spAutoFit/>
          </a:bodyPr>
          <a:lstStyle/>
          <a:p>
            <a:pPr algn="l">
              <a:spcAft>
                <a:spcPts val="600"/>
              </a:spcAft>
            </a:pPr>
            <a:r>
              <a:rPr sz="1400" b="1" i="0">
                <a:solidFill>
                  <a:srgbClr val="1E2A4A"/>
                </a:solidFill>
                <a:latin typeface="Arial"/>
              </a:rPr>
              <a:t>reach_grooming</a:t>
            </a:r>
          </a:p>
        </p:txBody>
      </p:sp>
      <p:sp>
        <p:nvSpPr>
          <p:cNvPr id="29" name="TextBox 28"/>
          <p:cNvSpPr txBox="1"/>
          <p:nvPr/>
        </p:nvSpPr>
        <p:spPr>
          <a:xfrm>
            <a:off x="10287000" y="5102352"/>
            <a:ext cx="1005840" cy="329184"/>
          </a:xfrm>
          <a:prstGeom prst="rect">
            <a:avLst/>
          </a:prstGeom>
          <a:noFill/>
        </p:spPr>
        <p:txBody>
          <a:bodyPr wrap="square" lIns="0" rIns="0" tIns="0" bIns="0" anchor="ctr">
            <a:spAutoFit/>
          </a:bodyPr>
          <a:lstStyle/>
          <a:p>
            <a:pPr algn="l">
              <a:spcAft>
                <a:spcPts val="600"/>
              </a:spcAft>
            </a:pPr>
            <a:r>
              <a:rPr sz="1400" b="0" i="0">
                <a:solidFill>
                  <a:srgbClr val="56648A"/>
                </a:solidFill>
                <a:latin typeface="Arial"/>
              </a:rPr>
              <a:t>= c7, c8</a:t>
            </a:r>
          </a:p>
        </p:txBody>
      </p:sp>
      <p:sp>
        <p:nvSpPr>
          <p:cNvPr id="30" name="TextBox 29"/>
          <p:cNvSpPr txBox="1"/>
          <p:nvPr/>
        </p:nvSpPr>
        <p:spPr>
          <a:xfrm>
            <a:off x="8366760" y="5468112"/>
            <a:ext cx="1920240" cy="329184"/>
          </a:xfrm>
          <a:prstGeom prst="rect">
            <a:avLst/>
          </a:prstGeom>
          <a:noFill/>
        </p:spPr>
        <p:txBody>
          <a:bodyPr wrap="square" lIns="0" rIns="0" tIns="0" bIns="0" anchor="ctr">
            <a:spAutoFit/>
          </a:bodyPr>
          <a:lstStyle/>
          <a:p>
            <a:pPr algn="l">
              <a:spcAft>
                <a:spcPts val="600"/>
              </a:spcAft>
            </a:pPr>
            <a:r>
              <a:rPr sz="1400" b="1" i="0">
                <a:solidFill>
                  <a:srgbClr val="1E2A4A"/>
                </a:solidFill>
                <a:latin typeface="Arial"/>
              </a:rPr>
              <a:t>talk_passenger</a:t>
            </a:r>
          </a:p>
        </p:txBody>
      </p:sp>
      <p:sp>
        <p:nvSpPr>
          <p:cNvPr id="31" name="TextBox 30"/>
          <p:cNvSpPr txBox="1"/>
          <p:nvPr/>
        </p:nvSpPr>
        <p:spPr>
          <a:xfrm>
            <a:off x="10287000" y="5468112"/>
            <a:ext cx="1005840" cy="329184"/>
          </a:xfrm>
          <a:prstGeom prst="rect">
            <a:avLst/>
          </a:prstGeom>
          <a:noFill/>
        </p:spPr>
        <p:txBody>
          <a:bodyPr wrap="square" lIns="0" rIns="0" tIns="0" bIns="0" anchor="ctr">
            <a:spAutoFit/>
          </a:bodyPr>
          <a:lstStyle/>
          <a:p>
            <a:pPr algn="l">
              <a:spcAft>
                <a:spcPts val="600"/>
              </a:spcAft>
            </a:pPr>
            <a:r>
              <a:rPr sz="1400" b="0" i="0">
                <a:solidFill>
                  <a:srgbClr val="56648A"/>
                </a:solidFill>
                <a:latin typeface="Arial"/>
              </a:rPr>
              <a:t>= c9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DF2FA"/>
        </a:solidFill>
        <a:effectLst/>
      </p:bgPr>
    </p:bg>
    <p:spTree>
      <p:nvGrpSpPr>
        <p:cNvPr id="1" name=""/>
        <p:cNvGrpSpPr/>
        <p:nvPr/>
      </p:nvGrpSpPr>
      <p:grpSpPr/>
      <p:sp>
        <p:nvSpPr>
          <p:cNvPr id="2" name="TextBox 1"/>
          <p:cNvSpPr txBox="1"/>
          <p:nvPr/>
        </p:nvSpPr>
        <p:spPr>
          <a:xfrm>
            <a:off x="822960" y="502920"/>
            <a:ext cx="10058400" cy="731520"/>
          </a:xfrm>
          <a:prstGeom prst="rect">
            <a:avLst/>
          </a:prstGeom>
          <a:noFill/>
        </p:spPr>
        <p:txBody>
          <a:bodyPr wrap="square" lIns="0" rIns="0" tIns="0" bIns="0" anchor="ctr">
            <a:spAutoFit/>
          </a:bodyPr>
          <a:lstStyle/>
          <a:p>
            <a:pPr algn="l">
              <a:spcAft>
                <a:spcPts val="600"/>
              </a:spcAft>
            </a:pPr>
            <a:r>
              <a:rPr sz="3200" b="1" i="0">
                <a:solidFill>
                  <a:srgbClr val="1E2A4A"/>
                </a:solidFill>
                <a:latin typeface="Arial"/>
              </a:rPr>
              <a:t>Xử lý dữ liệu</a:t>
            </a:r>
          </a:p>
        </p:txBody>
      </p:sp>
      <p:sp>
        <p:nvSpPr>
          <p:cNvPr id="3" name="TextBox 2"/>
          <p:cNvSpPr txBox="1"/>
          <p:nvPr/>
        </p:nvSpPr>
        <p:spPr>
          <a:xfrm>
            <a:off x="11064240" y="6400800"/>
            <a:ext cx="457200" cy="274320"/>
          </a:xfrm>
          <a:prstGeom prst="rect">
            <a:avLst/>
          </a:prstGeom>
          <a:noFill/>
        </p:spPr>
        <p:txBody>
          <a:bodyPr wrap="none" lIns="0" rIns="0" tIns="0" bIns="0">
            <a:spAutoFit/>
          </a:bodyPr>
          <a:lstStyle/>
          <a:p>
            <a:pPr algn="r"/>
            <a:fld id="{B6F15528-21DE-4FAA-801E-634DDDAF4B2B}" type="slidenum">
              <a:rPr lang="en-US" sz="1200">
                <a:solidFill>
                  <a:srgbClr val="8D99B8"/>
                </a:solidFill>
                <a:latin typeface="Arial"/>
              </a:rPr>
              <a:t>‹#›</a:t>
            </a:fld>
          </a:p>
        </p:txBody>
      </p:sp>
      <p:sp>
        <p:nvSpPr>
          <p:cNvPr id="4" name="Rounded Rectangle 3"/>
          <p:cNvSpPr/>
          <p:nvPr/>
        </p:nvSpPr>
        <p:spPr>
          <a:xfrm>
            <a:off x="822960" y="1508760"/>
            <a:ext cx="2468880" cy="1965960"/>
          </a:xfrm>
          <a:prstGeom prst="roundRect">
            <a:avLst>
              <a:gd name="adj" fmla="val 5000"/>
            </a:avLst>
          </a:prstGeom>
          <a:solidFill>
            <a:srgbClr val="FFFFFF"/>
          </a:solidFill>
          <a:ln>
            <a:noFill/>
          </a:ln>
          <a:effectLst>
            <a:outerShdw blurRad="203200" dist="38100" dir="5400000" algn="t" rotWithShape="0">
              <a:srgbClr val="2A4B9B">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691640"/>
            <a:ext cx="822960" cy="548640"/>
          </a:xfrm>
          <a:prstGeom prst="rect">
            <a:avLst/>
          </a:prstGeom>
          <a:noFill/>
        </p:spPr>
        <p:txBody>
          <a:bodyPr wrap="square" lIns="0" rIns="0" tIns="0" bIns="0" anchor="t">
            <a:spAutoFit/>
          </a:bodyPr>
          <a:lstStyle/>
          <a:p>
            <a:pPr algn="l">
              <a:spcAft>
                <a:spcPts val="600"/>
              </a:spcAft>
            </a:pPr>
            <a:r>
              <a:rPr sz="3000" b="1" i="0">
                <a:solidFill>
                  <a:srgbClr val="3B6FF0"/>
                </a:solidFill>
                <a:latin typeface="Arial"/>
              </a:rPr>
              <a:t>01</a:t>
            </a:r>
          </a:p>
        </p:txBody>
      </p:sp>
      <p:sp>
        <p:nvSpPr>
          <p:cNvPr id="6" name="TextBox 5"/>
          <p:cNvSpPr txBox="1"/>
          <p:nvPr/>
        </p:nvSpPr>
        <p:spPr>
          <a:xfrm>
            <a:off x="1097280" y="2331720"/>
            <a:ext cx="2011680" cy="365760"/>
          </a:xfrm>
          <a:prstGeom prst="rect">
            <a:avLst/>
          </a:prstGeom>
          <a:noFill/>
        </p:spPr>
        <p:txBody>
          <a:bodyPr wrap="square" lIns="0" rIns="0" tIns="0" bIns="0" anchor="t">
            <a:spAutoFit/>
          </a:bodyPr>
          <a:lstStyle/>
          <a:p>
            <a:pPr algn="l">
              <a:spcAft>
                <a:spcPts val="600"/>
              </a:spcAft>
            </a:pPr>
            <a:r>
              <a:rPr sz="1700" b="1" i="0">
                <a:solidFill>
                  <a:srgbClr val="1E2A4A"/>
                </a:solidFill>
                <a:latin typeface="Arial"/>
              </a:rPr>
              <a:t>Manifest</a:t>
            </a:r>
          </a:p>
        </p:txBody>
      </p:sp>
      <p:sp>
        <p:nvSpPr>
          <p:cNvPr id="7" name="TextBox 6"/>
          <p:cNvSpPr txBox="1"/>
          <p:nvPr/>
        </p:nvSpPr>
        <p:spPr>
          <a:xfrm>
            <a:off x="1097280" y="2788920"/>
            <a:ext cx="2103120" cy="594360"/>
          </a:xfrm>
          <a:prstGeom prst="rect">
            <a:avLst/>
          </a:prstGeom>
          <a:noFill/>
        </p:spPr>
        <p:txBody>
          <a:bodyPr wrap="square" lIns="0" rIns="0" tIns="0" bIns="0" anchor="t">
            <a:spAutoFit/>
          </a:bodyPr>
          <a:lstStyle/>
          <a:p>
            <a:pPr algn="l">
              <a:spcAft>
                <a:spcPts val="600"/>
              </a:spcAft>
            </a:pPr>
            <a:r>
              <a:rPr sz="1400" b="0" i="0">
                <a:solidFill>
                  <a:srgbClr val="56648A"/>
                </a:solidFill>
                <a:latin typeface="Arial"/>
              </a:rPr>
              <a:t>CSV: ảnh, nhãn, tập</a:t>
            </a:r>
          </a:p>
        </p:txBody>
      </p:sp>
      <p:sp>
        <p:nvSpPr>
          <p:cNvPr id="8" name="Rounded Rectangle 7"/>
          <p:cNvSpPr/>
          <p:nvPr/>
        </p:nvSpPr>
        <p:spPr>
          <a:xfrm>
            <a:off x="3520440" y="1508760"/>
            <a:ext cx="2468880" cy="1965960"/>
          </a:xfrm>
          <a:prstGeom prst="roundRect">
            <a:avLst>
              <a:gd name="adj" fmla="val 5000"/>
            </a:avLst>
          </a:prstGeom>
          <a:solidFill>
            <a:srgbClr val="FFFFFF"/>
          </a:solidFill>
          <a:ln>
            <a:noFill/>
          </a:ln>
          <a:effectLst>
            <a:outerShdw blurRad="203200" dist="38100" dir="5400000" algn="t" rotWithShape="0">
              <a:srgbClr val="2A4B9B">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794760" y="1691640"/>
            <a:ext cx="822960" cy="548640"/>
          </a:xfrm>
          <a:prstGeom prst="rect">
            <a:avLst/>
          </a:prstGeom>
          <a:noFill/>
        </p:spPr>
        <p:txBody>
          <a:bodyPr wrap="square" lIns="0" rIns="0" tIns="0" bIns="0" anchor="t">
            <a:spAutoFit/>
          </a:bodyPr>
          <a:lstStyle/>
          <a:p>
            <a:pPr algn="l">
              <a:spcAft>
                <a:spcPts val="600"/>
              </a:spcAft>
            </a:pPr>
            <a:r>
              <a:rPr sz="3000" b="1" i="0">
                <a:solidFill>
                  <a:srgbClr val="0E9AC4"/>
                </a:solidFill>
                <a:latin typeface="Arial"/>
              </a:rPr>
              <a:t>02</a:t>
            </a:r>
          </a:p>
        </p:txBody>
      </p:sp>
      <p:sp>
        <p:nvSpPr>
          <p:cNvPr id="10" name="TextBox 9"/>
          <p:cNvSpPr txBox="1"/>
          <p:nvPr/>
        </p:nvSpPr>
        <p:spPr>
          <a:xfrm>
            <a:off x="3794760" y="2331720"/>
            <a:ext cx="2011680" cy="365760"/>
          </a:xfrm>
          <a:prstGeom prst="rect">
            <a:avLst/>
          </a:prstGeom>
          <a:noFill/>
        </p:spPr>
        <p:txBody>
          <a:bodyPr wrap="square" lIns="0" rIns="0" tIns="0" bIns="0" anchor="t">
            <a:spAutoFit/>
          </a:bodyPr>
          <a:lstStyle/>
          <a:p>
            <a:pPr algn="l">
              <a:spcAft>
                <a:spcPts val="600"/>
              </a:spcAft>
            </a:pPr>
            <a:r>
              <a:rPr sz="1700" b="1" i="0">
                <a:solidFill>
                  <a:srgbClr val="1E2A4A"/>
                </a:solidFill>
                <a:latin typeface="Arial"/>
              </a:rPr>
              <a:t>Chia theo tài xế</a:t>
            </a:r>
          </a:p>
        </p:txBody>
      </p:sp>
      <p:sp>
        <p:nvSpPr>
          <p:cNvPr id="11" name="TextBox 10"/>
          <p:cNvSpPr txBox="1"/>
          <p:nvPr/>
        </p:nvSpPr>
        <p:spPr>
          <a:xfrm>
            <a:off x="3794760" y="2788920"/>
            <a:ext cx="2103120" cy="594360"/>
          </a:xfrm>
          <a:prstGeom prst="rect">
            <a:avLst/>
          </a:prstGeom>
          <a:noFill/>
        </p:spPr>
        <p:txBody>
          <a:bodyPr wrap="square" lIns="0" rIns="0" tIns="0" bIns="0" anchor="t">
            <a:spAutoFit/>
          </a:bodyPr>
          <a:lstStyle/>
          <a:p>
            <a:pPr algn="l">
              <a:spcAft>
                <a:spcPts val="600"/>
              </a:spcAft>
            </a:pPr>
            <a:r>
              <a:rPr sz="1400" b="0" i="0">
                <a:solidFill>
                  <a:srgbClr val="56648A"/>
                </a:solidFill>
                <a:latin typeface="Arial"/>
              </a:rPr>
              <a:t>18 / 4 / 4 tài xế (seed 42)</a:t>
            </a:r>
          </a:p>
        </p:txBody>
      </p:sp>
      <p:sp>
        <p:nvSpPr>
          <p:cNvPr id="12" name="Rounded Rectangle 11"/>
          <p:cNvSpPr/>
          <p:nvPr/>
        </p:nvSpPr>
        <p:spPr>
          <a:xfrm>
            <a:off x="6217920" y="1508760"/>
            <a:ext cx="2468880" cy="1965960"/>
          </a:xfrm>
          <a:prstGeom prst="roundRect">
            <a:avLst>
              <a:gd name="adj" fmla="val 5000"/>
            </a:avLst>
          </a:prstGeom>
          <a:solidFill>
            <a:srgbClr val="FFFFFF"/>
          </a:solidFill>
          <a:ln>
            <a:noFill/>
          </a:ln>
          <a:effectLst>
            <a:outerShdw blurRad="203200" dist="38100" dir="5400000" algn="t" rotWithShape="0">
              <a:srgbClr val="2A4B9B">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0" y="1691640"/>
            <a:ext cx="822960" cy="548640"/>
          </a:xfrm>
          <a:prstGeom prst="rect">
            <a:avLst/>
          </a:prstGeom>
          <a:noFill/>
        </p:spPr>
        <p:txBody>
          <a:bodyPr wrap="square" lIns="0" rIns="0" tIns="0" bIns="0" anchor="t">
            <a:spAutoFit/>
          </a:bodyPr>
          <a:lstStyle/>
          <a:p>
            <a:pPr algn="l">
              <a:spcAft>
                <a:spcPts val="600"/>
              </a:spcAft>
            </a:pPr>
            <a:r>
              <a:rPr sz="3000" b="1" i="0">
                <a:solidFill>
                  <a:srgbClr val="5B5CE0"/>
                </a:solidFill>
                <a:latin typeface="Arial"/>
              </a:rPr>
              <a:t>03</a:t>
            </a:r>
          </a:p>
        </p:txBody>
      </p:sp>
      <p:sp>
        <p:nvSpPr>
          <p:cNvPr id="14" name="TextBox 13"/>
          <p:cNvSpPr txBox="1"/>
          <p:nvPr/>
        </p:nvSpPr>
        <p:spPr>
          <a:xfrm>
            <a:off x="6492240" y="2331720"/>
            <a:ext cx="2011680" cy="365760"/>
          </a:xfrm>
          <a:prstGeom prst="rect">
            <a:avLst/>
          </a:prstGeom>
          <a:noFill/>
        </p:spPr>
        <p:txBody>
          <a:bodyPr wrap="square" lIns="0" rIns="0" tIns="0" bIns="0" anchor="t">
            <a:spAutoFit/>
          </a:bodyPr>
          <a:lstStyle/>
          <a:p>
            <a:pPr algn="l">
              <a:spcAft>
                <a:spcPts val="600"/>
              </a:spcAft>
            </a:pPr>
            <a:r>
              <a:rPr sz="1700" b="1" i="0">
                <a:solidFill>
                  <a:srgbClr val="1E2A4A"/>
                </a:solidFill>
                <a:latin typeface="Arial"/>
              </a:rPr>
              <a:t>Bỏ ảnh gần trùng</a:t>
            </a:r>
          </a:p>
        </p:txBody>
      </p:sp>
      <p:sp>
        <p:nvSpPr>
          <p:cNvPr id="15" name="TextBox 14"/>
          <p:cNvSpPr txBox="1"/>
          <p:nvPr/>
        </p:nvSpPr>
        <p:spPr>
          <a:xfrm>
            <a:off x="6492240" y="2788920"/>
            <a:ext cx="2103120" cy="594360"/>
          </a:xfrm>
          <a:prstGeom prst="rect">
            <a:avLst/>
          </a:prstGeom>
          <a:noFill/>
        </p:spPr>
        <p:txBody>
          <a:bodyPr wrap="square" lIns="0" rIns="0" tIns="0" bIns="0" anchor="t">
            <a:spAutoFit/>
          </a:bodyPr>
          <a:lstStyle/>
          <a:p>
            <a:pPr algn="l">
              <a:spcAft>
                <a:spcPts val="600"/>
              </a:spcAft>
            </a:pPr>
            <a:r>
              <a:rPr sz="1400" b="0" i="0">
                <a:solidFill>
                  <a:srgbClr val="56648A"/>
                </a:solidFill>
                <a:latin typeface="Arial"/>
              </a:rPr>
              <a:t>22.424 → 20.007 ảnh (−10,8%)</a:t>
            </a:r>
          </a:p>
        </p:txBody>
      </p:sp>
      <p:sp>
        <p:nvSpPr>
          <p:cNvPr id="16" name="Rounded Rectangle 15"/>
          <p:cNvSpPr/>
          <p:nvPr/>
        </p:nvSpPr>
        <p:spPr>
          <a:xfrm>
            <a:off x="8915400" y="1508760"/>
            <a:ext cx="2468880" cy="1965960"/>
          </a:xfrm>
          <a:prstGeom prst="roundRect">
            <a:avLst>
              <a:gd name="adj" fmla="val 5000"/>
            </a:avLst>
          </a:prstGeom>
          <a:solidFill>
            <a:srgbClr val="FFFFFF"/>
          </a:solidFill>
          <a:ln>
            <a:noFill/>
          </a:ln>
          <a:effectLst>
            <a:outerShdw blurRad="203200" dist="38100" dir="5400000" algn="t" rotWithShape="0">
              <a:srgbClr val="2A4B9B">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89720" y="1691640"/>
            <a:ext cx="822960" cy="548640"/>
          </a:xfrm>
          <a:prstGeom prst="rect">
            <a:avLst/>
          </a:prstGeom>
          <a:noFill/>
        </p:spPr>
        <p:txBody>
          <a:bodyPr wrap="square" lIns="0" rIns="0" tIns="0" bIns="0" anchor="t">
            <a:spAutoFit/>
          </a:bodyPr>
          <a:lstStyle/>
          <a:p>
            <a:pPr algn="l">
              <a:spcAft>
                <a:spcPts val="600"/>
              </a:spcAft>
            </a:pPr>
            <a:r>
              <a:rPr sz="3000" b="1" i="0">
                <a:solidFill>
                  <a:srgbClr val="8E5CF0"/>
                </a:solidFill>
                <a:latin typeface="Arial"/>
              </a:rPr>
              <a:t>04</a:t>
            </a:r>
          </a:p>
        </p:txBody>
      </p:sp>
      <p:sp>
        <p:nvSpPr>
          <p:cNvPr id="18" name="TextBox 17"/>
          <p:cNvSpPr txBox="1"/>
          <p:nvPr/>
        </p:nvSpPr>
        <p:spPr>
          <a:xfrm>
            <a:off x="9189720" y="2331720"/>
            <a:ext cx="2011680" cy="365760"/>
          </a:xfrm>
          <a:prstGeom prst="rect">
            <a:avLst/>
          </a:prstGeom>
          <a:noFill/>
        </p:spPr>
        <p:txBody>
          <a:bodyPr wrap="square" lIns="0" rIns="0" tIns="0" bIns="0" anchor="t">
            <a:spAutoFit/>
          </a:bodyPr>
          <a:lstStyle/>
          <a:p>
            <a:pPr algn="l">
              <a:spcAft>
                <a:spcPts val="600"/>
              </a:spcAft>
            </a:pPr>
            <a:r>
              <a:rPr sz="1700" b="1" i="0">
                <a:solidFill>
                  <a:srgbClr val="1E2A4A"/>
                </a:solidFill>
                <a:latin typeface="Arial"/>
              </a:rPr>
              <a:t>Resize 320×240</a:t>
            </a:r>
          </a:p>
        </p:txBody>
      </p:sp>
      <p:sp>
        <p:nvSpPr>
          <p:cNvPr id="19" name="TextBox 18"/>
          <p:cNvSpPr txBox="1"/>
          <p:nvPr/>
        </p:nvSpPr>
        <p:spPr>
          <a:xfrm>
            <a:off x="9189720" y="2788920"/>
            <a:ext cx="2103120" cy="594360"/>
          </a:xfrm>
          <a:prstGeom prst="rect">
            <a:avLst/>
          </a:prstGeom>
          <a:noFill/>
        </p:spPr>
        <p:txBody>
          <a:bodyPr wrap="square" lIns="0" rIns="0" tIns="0" bIns="0" anchor="t">
            <a:spAutoFit/>
          </a:bodyPr>
          <a:lstStyle/>
          <a:p>
            <a:pPr algn="l">
              <a:spcAft>
                <a:spcPts val="600"/>
              </a:spcAft>
            </a:pPr>
            <a:r>
              <a:rPr sz="1400" b="0" i="0">
                <a:solidFill>
                  <a:srgbClr val="56648A"/>
                </a:solidFill>
                <a:latin typeface="Arial"/>
              </a:rPr>
              <a:t>Giữ tỉ lệ 4:3; train ở 224×224</a:t>
            </a:r>
          </a:p>
        </p:txBody>
      </p:sp>
      <p:sp>
        <p:nvSpPr>
          <p:cNvPr id="20" name="Rounded Rectangle 19"/>
          <p:cNvSpPr/>
          <p:nvPr/>
        </p:nvSpPr>
        <p:spPr>
          <a:xfrm>
            <a:off x="822960" y="3749039"/>
            <a:ext cx="3566160" cy="2286000"/>
          </a:xfrm>
          <a:prstGeom prst="roundRect">
            <a:avLst>
              <a:gd name="adj" fmla="val 5000"/>
            </a:avLst>
          </a:prstGeom>
          <a:solidFill>
            <a:srgbClr val="FFFFFF"/>
          </a:solidFill>
          <a:ln>
            <a:noFill/>
          </a:ln>
          <a:effectLst>
            <a:outerShdw blurRad="203200" dist="38100" dir="5400000" algn="t" rotWithShape="0">
              <a:srgbClr val="2A4B9B">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s04_Picture_25.jpg"/>
          <p:cNvPicPr>
            <a:picLocks noChangeAspect="1"/>
          </p:cNvPicPr>
          <p:nvPr/>
        </p:nvPicPr>
        <p:blipFill>
          <a:blip r:embed="rId3"/>
          <a:stretch>
            <a:fillRect/>
          </a:stretch>
        </p:blipFill>
        <p:spPr>
          <a:xfrm>
            <a:off x="1005840" y="3931920"/>
            <a:ext cx="3200400" cy="1920240"/>
          </a:xfrm>
          <a:prstGeom prst="roundRect">
            <a:avLst>
              <a:gd name="adj" fmla="val 4000"/>
            </a:avLst>
          </a:prstGeom>
        </p:spPr>
      </p:pic>
      <p:sp>
        <p:nvSpPr>
          <p:cNvPr id="22" name="Rounded Rectangle 21"/>
          <p:cNvSpPr/>
          <p:nvPr/>
        </p:nvSpPr>
        <p:spPr>
          <a:xfrm>
            <a:off x="4663440" y="3749039"/>
            <a:ext cx="6702552" cy="2286000"/>
          </a:xfrm>
          <a:prstGeom prst="roundRect">
            <a:avLst>
              <a:gd name="adj" fmla="val 5000"/>
            </a:avLst>
          </a:prstGeom>
          <a:solidFill>
            <a:srgbClr val="FFFFFF"/>
          </a:solidFill>
          <a:ln>
            <a:noFill/>
          </a:ln>
          <a:effectLst>
            <a:outerShdw blurRad="203200" dist="38100" dir="5400000" algn="t" rotWithShape="0">
              <a:srgbClr val="2A4B9B">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29200" y="4023360"/>
            <a:ext cx="6035040" cy="1737360"/>
          </a:xfrm>
          <a:prstGeom prst="rect">
            <a:avLst/>
          </a:prstGeom>
          <a:noFill/>
        </p:spPr>
        <p:txBody>
          <a:bodyPr wrap="square" lIns="0" rIns="0" tIns="0" bIns="0" anchor="t">
            <a:spAutoFit/>
          </a:bodyPr>
          <a:lstStyle/>
          <a:p>
            <a:pPr algn="l" marL="274320" indent="-219456">
              <a:spcAft>
                <a:spcPts val="1400"/>
              </a:spcAft>
              <a:buChar char="•"/>
            </a:pPr>
            <a:r>
              <a:rPr sz="1600" b="1" i="0">
                <a:solidFill>
                  <a:srgbClr val="1E2A4A"/>
                </a:solidFill>
                <a:latin typeface="Arial"/>
              </a:rPr>
              <a:t>Chia theo tài xế: </a:t>
            </a:r>
            <a:r>
              <a:rPr sz="1600" b="0" i="0">
                <a:solidFill>
                  <a:srgbClr val="56648A"/>
                </a:solidFill>
                <a:latin typeface="Arial"/>
              </a:rPr>
              <a:t>tránh rò rỉ dữ liệu, điểm không bị cao ảo</a:t>
            </a:r>
          </a:p>
          <a:p>
            <a:pPr algn="l" marL="274320" indent="-219456">
              <a:spcAft>
                <a:spcPts val="1400"/>
              </a:spcAft>
              <a:buChar char="•"/>
            </a:pPr>
            <a:r>
              <a:rPr sz="1600" b="1" i="0">
                <a:solidFill>
                  <a:srgbClr val="1E2A4A"/>
                </a:solidFill>
                <a:latin typeface="Arial"/>
              </a:rPr>
              <a:t>Bỏ ảnh trùng: </a:t>
            </a:r>
            <a:r>
              <a:rPr sz="1600" b="0" i="0">
                <a:solidFill>
                  <a:srgbClr val="56648A"/>
                </a:solidFill>
                <a:latin typeface="Arial"/>
              </a:rPr>
              <a:t>điểm đánh giá không lạc quan</a:t>
            </a:r>
          </a:p>
          <a:p>
            <a:pPr algn="l" marL="274320" indent="-219456">
              <a:spcAft>
                <a:spcPts val="1400"/>
              </a:spcAft>
              <a:buChar char="•"/>
            </a:pPr>
            <a:r>
              <a:rPr sz="1600" b="1" i="0">
                <a:solidFill>
                  <a:srgbClr val="1E2A4A"/>
                </a:solidFill>
                <a:latin typeface="Arial"/>
              </a:rPr>
              <a:t>Augmentation: </a:t>
            </a:r>
            <a:r>
              <a:rPr sz="1600" b="0" i="0">
                <a:solidFill>
                  <a:srgbClr val="56648A"/>
                </a:solidFill>
                <a:latin typeface="Arial"/>
              </a:rPr>
              <a:t>cắt ngẫu nhiên, xoay ±8°, đổi sáng/màu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EDF2FA"/>
        </a:solidFill>
        <a:effectLst/>
      </p:bgPr>
    </p:bg>
    <p:spTree>
      <p:nvGrpSpPr>
        <p:cNvPr id="1" name=""/>
        <p:cNvGrpSpPr/>
        <p:nvPr/>
      </p:nvGrpSpPr>
      <p:grpSpPr/>
      <p:sp>
        <p:nvSpPr>
          <p:cNvPr id="2" name="TextBox 1"/>
          <p:cNvSpPr txBox="1"/>
          <p:nvPr/>
        </p:nvSpPr>
        <p:spPr>
          <a:xfrm>
            <a:off x="822960" y="502920"/>
            <a:ext cx="10058400" cy="731520"/>
          </a:xfrm>
          <a:prstGeom prst="rect">
            <a:avLst/>
          </a:prstGeom>
          <a:noFill/>
        </p:spPr>
        <p:txBody>
          <a:bodyPr wrap="square" lIns="0" rIns="0" tIns="0" bIns="0" anchor="ctr">
            <a:spAutoFit/>
          </a:bodyPr>
          <a:lstStyle/>
          <a:p>
            <a:pPr algn="l">
              <a:spcAft>
                <a:spcPts val="600"/>
              </a:spcAft>
            </a:pPr>
            <a:r>
              <a:rPr sz="3200" b="1" i="0">
                <a:solidFill>
                  <a:srgbClr val="1E2A4A"/>
                </a:solidFill>
                <a:latin typeface="Arial"/>
              </a:rPr>
              <a:t>Giao thức thí nghiệm</a:t>
            </a:r>
          </a:p>
        </p:txBody>
      </p:sp>
      <p:sp>
        <p:nvSpPr>
          <p:cNvPr id="3" name="TextBox 2"/>
          <p:cNvSpPr txBox="1"/>
          <p:nvPr/>
        </p:nvSpPr>
        <p:spPr>
          <a:xfrm>
            <a:off x="11064240" y="6400800"/>
            <a:ext cx="457200" cy="274320"/>
          </a:xfrm>
          <a:prstGeom prst="rect">
            <a:avLst/>
          </a:prstGeom>
          <a:noFill/>
        </p:spPr>
        <p:txBody>
          <a:bodyPr wrap="none" lIns="0" rIns="0" tIns="0" bIns="0">
            <a:spAutoFit/>
          </a:bodyPr>
          <a:lstStyle/>
          <a:p>
            <a:pPr algn="r"/>
            <a:fld id="{B6F15528-21DE-4FAA-801E-634DDDAF4B2B}" type="slidenum">
              <a:rPr lang="en-US" sz="1200">
                <a:solidFill>
                  <a:srgbClr val="8D99B8"/>
                </a:solidFill>
                <a:latin typeface="Arial"/>
              </a:rPr>
              <a:t>‹#›</a:t>
            </a:fld>
          </a:p>
        </p:txBody>
      </p:sp>
      <p:sp>
        <p:nvSpPr>
          <p:cNvPr id="4" name="Rounded Rectangle 3"/>
          <p:cNvSpPr/>
          <p:nvPr/>
        </p:nvSpPr>
        <p:spPr>
          <a:xfrm>
            <a:off x="822960" y="1508760"/>
            <a:ext cx="7040880" cy="4526280"/>
          </a:xfrm>
          <a:prstGeom prst="roundRect">
            <a:avLst>
              <a:gd name="adj" fmla="val 5000"/>
            </a:avLst>
          </a:prstGeom>
          <a:solidFill>
            <a:srgbClr val="FFFFFF"/>
          </a:solidFill>
          <a:ln>
            <a:noFill/>
          </a:ln>
          <a:effectLst>
            <a:outerShdw blurRad="203200" dist="38100" dir="5400000" algn="t" rotWithShape="0">
              <a:srgbClr val="2A4B9B">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1005840" y="1691640"/>
          <a:ext cx="6766560" cy="4242816"/>
        </p:xfrm>
        <a:graphic>
          <a:graphicData uri="http://schemas.openxmlformats.org/drawingml/2006/table">
            <a:tbl>
              <a:tblPr firstRow="1" bandRow="1">
                <a:tableStyleId>{5940675A-B579-460E-94D1-54222C63F5DA}</a:tableStyleId>
              </a:tblPr>
              <a:tblGrid>
                <a:gridCol w="2103120"/>
                <a:gridCol w="4663440"/>
              </a:tblGrid>
              <a:tr h="530352">
                <a:tc>
                  <a:txBody>
                    <a:bodyPr/>
                    <a:lstStyle/>
                    <a:p>
                      <a:pPr algn="l"/>
                      <a:r>
                        <a:rPr sz="1500" b="1">
                          <a:solidFill>
                            <a:srgbClr val="3B6FF0"/>
                          </a:solidFill>
                          <a:latin typeface="Arial"/>
                        </a:rPr>
                        <a:t>Thành phần</a:t>
                      </a:r>
                    </a:p>
                  </a:txBody>
                  <a:tcPr marL="128016" marR="128016" marT="27432" marB="27432" anchor="ctr">
                    <a:lnL w="9525">
                      <a:noFill/>
                    </a:lnL>
                    <a:lnR w="9525">
                      <a:noFill/>
                    </a:lnR>
                    <a:lnT w="9525">
                      <a:noFill/>
                    </a:lnT>
                    <a:lnB w="9525">
                      <a:solidFill>
                        <a:srgbClr val="E6ECF7"/>
                      </a:solidFill>
                    </a:lnB>
                    <a:solidFill>
                      <a:srgbClr val="E3ECFF"/>
                    </a:solidFill>
                  </a:tcPr>
                </a:tc>
                <a:tc>
                  <a:txBody>
                    <a:bodyPr/>
                    <a:lstStyle/>
                    <a:p>
                      <a:pPr algn="l"/>
                      <a:r>
                        <a:rPr sz="1500" b="1">
                          <a:solidFill>
                            <a:srgbClr val="3B6FF0"/>
                          </a:solidFill>
                          <a:latin typeface="Arial"/>
                        </a:rPr>
                        <a:t>Cấu hình cố định</a:t>
                      </a:r>
                    </a:p>
                  </a:txBody>
                  <a:tcPr marL="128016" marR="128016" marT="27432" marB="27432" anchor="ctr">
                    <a:lnL w="9525">
                      <a:noFill/>
                    </a:lnL>
                    <a:lnR w="9525">
                      <a:noFill/>
                    </a:lnR>
                    <a:lnT w="9525">
                      <a:noFill/>
                    </a:lnT>
                    <a:lnB w="9525">
                      <a:solidFill>
                        <a:srgbClr val="E6ECF7"/>
                      </a:solidFill>
                    </a:lnB>
                    <a:solidFill>
                      <a:srgbClr val="E3ECFF"/>
                    </a:solidFill>
                  </a:tcPr>
                </a:tc>
              </a:tr>
              <a:tr h="530352">
                <a:tc>
                  <a:txBody>
                    <a:bodyPr/>
                    <a:lstStyle/>
                    <a:p>
                      <a:pPr algn="l"/>
                      <a:r>
                        <a:rPr sz="1500" b="1">
                          <a:solidFill>
                            <a:srgbClr val="1E2A4A"/>
                          </a:solidFill>
                          <a:latin typeface="Arial"/>
                        </a:rPr>
                        <a:t>Khởi tạo</a:t>
                      </a:r>
                    </a:p>
                  </a:txBody>
                  <a:tcPr marL="128016" marR="128016" marT="27432" marB="27432" anchor="ctr">
                    <a:lnL w="9525">
                      <a:noFill/>
                    </a:lnL>
                    <a:lnR w="9525">
                      <a:noFill/>
                    </a:lnR>
                    <a:lnT w="9525">
                      <a:noFill/>
                    </a:lnT>
                    <a:lnB w="9525">
                      <a:solidFill>
                        <a:srgbClr val="E6ECF7"/>
                      </a:solidFill>
                    </a:lnB>
                    <a:solidFill>
                      <a:srgbClr val="FFFFFF"/>
                    </a:solidFill>
                  </a:tcPr>
                </a:tc>
                <a:tc>
                  <a:txBody>
                    <a:bodyPr/>
                    <a:lstStyle/>
                    <a:p>
                      <a:pPr algn="l"/>
                      <a:r>
                        <a:rPr sz="1500" b="0">
                          <a:solidFill>
                            <a:srgbClr val="1E2A4A"/>
                          </a:solidFill>
                          <a:latin typeface="Arial"/>
                        </a:rPr>
                        <a:t>Pretrained ImageNet</a:t>
                      </a:r>
                    </a:p>
                  </a:txBody>
                  <a:tcPr marL="128016" marR="128016" marT="27432" marB="27432" anchor="ctr">
                    <a:lnL w="9525">
                      <a:noFill/>
                    </a:lnL>
                    <a:lnR w="9525">
                      <a:noFill/>
                    </a:lnR>
                    <a:lnT w="9525">
                      <a:noFill/>
                    </a:lnT>
                    <a:lnB w="9525">
                      <a:solidFill>
                        <a:srgbClr val="E6ECF7"/>
                      </a:solidFill>
                    </a:lnB>
                    <a:solidFill>
                      <a:srgbClr val="FFFFFF"/>
                    </a:solidFill>
                  </a:tcPr>
                </a:tc>
              </a:tr>
              <a:tr h="530352">
                <a:tc>
                  <a:txBody>
                    <a:bodyPr/>
                    <a:lstStyle/>
                    <a:p>
                      <a:pPr algn="l"/>
                      <a:r>
                        <a:rPr sz="1500" b="1">
                          <a:solidFill>
                            <a:srgbClr val="1E2A4A"/>
                          </a:solidFill>
                          <a:latin typeface="Arial"/>
                        </a:rPr>
                        <a:t>Optimizer</a:t>
                      </a:r>
                    </a:p>
                  </a:txBody>
                  <a:tcPr marL="128016" marR="128016" marT="27432" marB="27432" anchor="ctr">
                    <a:lnL w="9525">
                      <a:noFill/>
                    </a:lnL>
                    <a:lnR w="9525">
                      <a:noFill/>
                    </a:lnR>
                    <a:lnT w="9525">
                      <a:noFill/>
                    </a:lnT>
                    <a:lnB w="9525">
                      <a:solidFill>
                        <a:srgbClr val="E6ECF7"/>
                      </a:solidFill>
                    </a:lnB>
                    <a:solidFill>
                      <a:srgbClr val="FFFFFF"/>
                    </a:solidFill>
                  </a:tcPr>
                </a:tc>
                <a:tc>
                  <a:txBody>
                    <a:bodyPr/>
                    <a:lstStyle/>
                    <a:p>
                      <a:pPr algn="l"/>
                      <a:r>
                        <a:rPr sz="1500" b="0">
                          <a:solidFill>
                            <a:srgbClr val="1E2A4A"/>
                          </a:solidFill>
                          <a:latin typeface="Arial"/>
                        </a:rPr>
                        <a:t>AdamW, lr 0.001, weight decay 1e-4</a:t>
                      </a:r>
                    </a:p>
                  </a:txBody>
                  <a:tcPr marL="128016" marR="128016" marT="27432" marB="27432" anchor="ctr">
                    <a:lnL w="9525">
                      <a:noFill/>
                    </a:lnL>
                    <a:lnR w="9525">
                      <a:noFill/>
                    </a:lnR>
                    <a:lnT w="9525">
                      <a:noFill/>
                    </a:lnT>
                    <a:lnB w="9525">
                      <a:solidFill>
                        <a:srgbClr val="E6ECF7"/>
                      </a:solidFill>
                    </a:lnB>
                    <a:solidFill>
                      <a:srgbClr val="FFFFFF"/>
                    </a:solidFill>
                  </a:tcPr>
                </a:tc>
              </a:tr>
              <a:tr h="530352">
                <a:tc>
                  <a:txBody>
                    <a:bodyPr/>
                    <a:lstStyle/>
                    <a:p>
                      <a:pPr algn="l"/>
                      <a:r>
                        <a:rPr sz="1500" b="1">
                          <a:solidFill>
                            <a:srgbClr val="1E2A4A"/>
                          </a:solidFill>
                          <a:latin typeface="Arial"/>
                        </a:rPr>
                        <a:t>Lịch học</a:t>
                      </a:r>
                    </a:p>
                  </a:txBody>
                  <a:tcPr marL="128016" marR="128016" marT="27432" marB="27432" anchor="ctr">
                    <a:lnL w="9525">
                      <a:noFill/>
                    </a:lnL>
                    <a:lnR w="9525">
                      <a:noFill/>
                    </a:lnR>
                    <a:lnT w="9525">
                      <a:noFill/>
                    </a:lnT>
                    <a:lnB w="9525">
                      <a:solidFill>
                        <a:srgbClr val="E6ECF7"/>
                      </a:solidFill>
                    </a:lnB>
                    <a:solidFill>
                      <a:srgbClr val="FFFFFF"/>
                    </a:solidFill>
                  </a:tcPr>
                </a:tc>
                <a:tc>
                  <a:txBody>
                    <a:bodyPr/>
                    <a:lstStyle/>
                    <a:p>
                      <a:pPr algn="l"/>
                      <a:r>
                        <a:rPr sz="1500" b="0">
                          <a:solidFill>
                            <a:srgbClr val="1E2A4A"/>
                          </a:solidFill>
                          <a:latin typeface="Arial"/>
                        </a:rPr>
                        <a:t>Cosine annealing, 10 epoch, batch 64</a:t>
                      </a:r>
                    </a:p>
                  </a:txBody>
                  <a:tcPr marL="128016" marR="128016" marT="27432" marB="27432" anchor="ctr">
                    <a:lnL w="9525">
                      <a:noFill/>
                    </a:lnL>
                    <a:lnR w="9525">
                      <a:noFill/>
                    </a:lnR>
                    <a:lnT w="9525">
                      <a:noFill/>
                    </a:lnT>
                    <a:lnB w="9525">
                      <a:solidFill>
                        <a:srgbClr val="E6ECF7"/>
                      </a:solidFill>
                    </a:lnB>
                    <a:solidFill>
                      <a:srgbClr val="FFFFFF"/>
                    </a:solidFill>
                  </a:tcPr>
                </a:tc>
              </a:tr>
              <a:tr h="530352">
                <a:tc>
                  <a:txBody>
                    <a:bodyPr/>
                    <a:lstStyle/>
                    <a:p>
                      <a:pPr algn="l"/>
                      <a:r>
                        <a:rPr sz="1500" b="1">
                          <a:solidFill>
                            <a:srgbClr val="1E2A4A"/>
                          </a:solidFill>
                          <a:latin typeface="Arial"/>
                        </a:rPr>
                        <a:t>Hàm mất mát</a:t>
                      </a:r>
                    </a:p>
                  </a:txBody>
                  <a:tcPr marL="128016" marR="128016" marT="27432" marB="27432" anchor="ctr">
                    <a:lnL w="9525">
                      <a:noFill/>
                    </a:lnL>
                    <a:lnR w="9525">
                      <a:noFill/>
                    </a:lnR>
                    <a:lnT w="9525">
                      <a:noFill/>
                    </a:lnT>
                    <a:lnB w="9525">
                      <a:solidFill>
                        <a:srgbClr val="E6ECF7"/>
                      </a:solidFill>
                    </a:lnB>
                    <a:solidFill>
                      <a:srgbClr val="FFFFFF"/>
                    </a:solidFill>
                  </a:tcPr>
                </a:tc>
                <a:tc>
                  <a:txBody>
                    <a:bodyPr/>
                    <a:lstStyle/>
                    <a:p>
                      <a:pPr algn="l"/>
                      <a:r>
                        <a:rPr sz="1500" b="0">
                          <a:solidFill>
                            <a:srgbClr val="1E2A4A"/>
                          </a:solidFill>
                          <a:latin typeface="Arial"/>
                        </a:rPr>
                        <a:t>Cross-entropy, label smoothing 0,1</a:t>
                      </a:r>
                    </a:p>
                  </a:txBody>
                  <a:tcPr marL="128016" marR="128016" marT="27432" marB="27432" anchor="ctr">
                    <a:lnL w="9525">
                      <a:noFill/>
                    </a:lnL>
                    <a:lnR w="9525">
                      <a:noFill/>
                    </a:lnR>
                    <a:lnT w="9525">
                      <a:noFill/>
                    </a:lnT>
                    <a:lnB w="9525">
                      <a:solidFill>
                        <a:srgbClr val="E6ECF7"/>
                      </a:solidFill>
                    </a:lnB>
                    <a:solidFill>
                      <a:srgbClr val="FFFFFF"/>
                    </a:solidFill>
                  </a:tcPr>
                </a:tc>
              </a:tr>
              <a:tr h="530352">
                <a:tc>
                  <a:txBody>
                    <a:bodyPr/>
                    <a:lstStyle/>
                    <a:p>
                      <a:pPr algn="l"/>
                      <a:r>
                        <a:rPr sz="1500" b="1">
                          <a:solidFill>
                            <a:srgbClr val="1E2A4A"/>
                          </a:solidFill>
                          <a:latin typeface="Arial"/>
                        </a:rPr>
                        <a:t>Ảnh vào</a:t>
                      </a:r>
                    </a:p>
                  </a:txBody>
                  <a:tcPr marL="128016" marR="128016" marT="27432" marB="27432" anchor="ctr">
                    <a:lnL w="9525">
                      <a:noFill/>
                    </a:lnL>
                    <a:lnR w="9525">
                      <a:noFill/>
                    </a:lnR>
                    <a:lnT w="9525">
                      <a:noFill/>
                    </a:lnT>
                    <a:lnB w="9525">
                      <a:solidFill>
                        <a:srgbClr val="E6ECF7"/>
                      </a:solidFill>
                    </a:lnB>
                    <a:solidFill>
                      <a:srgbClr val="FFFFFF"/>
                    </a:solidFill>
                  </a:tcPr>
                </a:tc>
                <a:tc>
                  <a:txBody>
                    <a:bodyPr/>
                    <a:lstStyle/>
                    <a:p>
                      <a:pPr algn="l"/>
                      <a:r>
                        <a:rPr sz="1500" b="0">
                          <a:solidFill>
                            <a:srgbClr val="1E2A4A"/>
                          </a:solidFill>
                          <a:latin typeface="Arial"/>
                        </a:rPr>
                        <a:t>224×224, augmentation</a:t>
                      </a:r>
                    </a:p>
                  </a:txBody>
                  <a:tcPr marL="128016" marR="128016" marT="27432" marB="27432" anchor="ctr">
                    <a:lnL w="9525">
                      <a:noFill/>
                    </a:lnL>
                    <a:lnR w="9525">
                      <a:noFill/>
                    </a:lnR>
                    <a:lnT w="9525">
                      <a:noFill/>
                    </a:lnT>
                    <a:lnB w="9525">
                      <a:solidFill>
                        <a:srgbClr val="E6ECF7"/>
                      </a:solidFill>
                    </a:lnB>
                    <a:solidFill>
                      <a:srgbClr val="FFFFFF"/>
                    </a:solidFill>
                  </a:tcPr>
                </a:tc>
              </a:tr>
              <a:tr h="530352">
                <a:tc>
                  <a:txBody>
                    <a:bodyPr/>
                    <a:lstStyle/>
                    <a:p>
                      <a:pPr algn="l"/>
                      <a:r>
                        <a:rPr sz="1500" b="1">
                          <a:solidFill>
                            <a:srgbClr val="1E2A4A"/>
                          </a:solidFill>
                          <a:latin typeface="Arial"/>
                        </a:rPr>
                        <a:t>Chọn checkpoint</a:t>
                      </a:r>
                    </a:p>
                  </a:txBody>
                  <a:tcPr marL="128016" marR="128016" marT="27432" marB="27432" anchor="ctr">
                    <a:lnL w="9525">
                      <a:noFill/>
                    </a:lnL>
                    <a:lnR w="9525">
                      <a:noFill/>
                    </a:lnR>
                    <a:lnT w="9525">
                      <a:noFill/>
                    </a:lnT>
                    <a:lnB w="9525">
                      <a:solidFill>
                        <a:srgbClr val="E6ECF7"/>
                      </a:solidFill>
                    </a:lnB>
                    <a:solidFill>
                      <a:srgbClr val="FFFFFF"/>
                    </a:solidFill>
                  </a:tcPr>
                </a:tc>
                <a:tc>
                  <a:txBody>
                    <a:bodyPr/>
                    <a:lstStyle/>
                    <a:p>
                      <a:pPr algn="l"/>
                      <a:r>
                        <a:rPr sz="1500" b="0">
                          <a:solidFill>
                            <a:srgbClr val="1E2A4A"/>
                          </a:solidFill>
                          <a:latin typeface="Arial"/>
                        </a:rPr>
                        <a:t>Epoch có val macro-F1 cao nhất</a:t>
                      </a:r>
                    </a:p>
                  </a:txBody>
                  <a:tcPr marL="128016" marR="128016" marT="27432" marB="27432" anchor="ctr">
                    <a:lnL w="9525">
                      <a:noFill/>
                    </a:lnL>
                    <a:lnR w="9525">
                      <a:noFill/>
                    </a:lnR>
                    <a:lnT w="9525">
                      <a:noFill/>
                    </a:lnT>
                    <a:lnB w="9525">
                      <a:solidFill>
                        <a:srgbClr val="E6ECF7"/>
                      </a:solidFill>
                    </a:lnB>
                    <a:solidFill>
                      <a:srgbClr val="FFFFFF"/>
                    </a:solidFill>
                  </a:tcPr>
                </a:tc>
              </a:tr>
              <a:tr h="530352">
                <a:tc>
                  <a:txBody>
                    <a:bodyPr/>
                    <a:lstStyle/>
                    <a:p>
                      <a:pPr algn="l"/>
                      <a:r>
                        <a:rPr sz="1500" b="1">
                          <a:solidFill>
                            <a:srgbClr val="1E2A4A"/>
                          </a:solidFill>
                          <a:latin typeface="Arial"/>
                        </a:rPr>
                        <a:t>Đánh giá</a:t>
                      </a:r>
                    </a:p>
                  </a:txBody>
                  <a:tcPr marL="128016" marR="128016" marT="27432" marB="27432" anchor="ctr">
                    <a:lnL w="9525">
                      <a:noFill/>
                    </a:lnL>
                    <a:lnR w="9525">
                      <a:noFill/>
                    </a:lnR>
                    <a:lnT w="9525">
                      <a:noFill/>
                    </a:lnT>
                    <a:lnB w="9525">
                      <a:solidFill>
                        <a:srgbClr val="E6ECF7"/>
                      </a:solidFill>
                    </a:lnB>
                    <a:solidFill>
                      <a:srgbClr val="FFFFFF"/>
                    </a:solidFill>
                  </a:tcPr>
                </a:tc>
                <a:tc>
                  <a:txBody>
                    <a:bodyPr/>
                    <a:lstStyle/>
                    <a:p>
                      <a:pPr algn="l"/>
                      <a:r>
                        <a:rPr sz="1500" b="0">
                          <a:solidFill>
                            <a:srgbClr val="1E2A4A"/>
                          </a:solidFill>
                          <a:latin typeface="Arial"/>
                        </a:rPr>
                        <a:t>Test báo cáo một lần, seed 42</a:t>
                      </a:r>
                    </a:p>
                  </a:txBody>
                  <a:tcPr marL="128016" marR="128016" marT="27432" marB="27432" anchor="ctr">
                    <a:lnL w="9525">
                      <a:noFill/>
                    </a:lnL>
                    <a:lnR w="9525">
                      <a:noFill/>
                    </a:lnR>
                    <a:lnT w="9525">
                      <a:noFill/>
                    </a:lnT>
                    <a:lnB w="9525">
                      <a:solidFill>
                        <a:srgbClr val="E6ECF7"/>
                      </a:solidFill>
                    </a:lnB>
                    <a:solidFill>
                      <a:srgbClr val="FFFFFF"/>
                    </a:solidFill>
                  </a:tcPr>
                </a:tc>
              </a:tr>
            </a:tbl>
          </a:graphicData>
        </a:graphic>
      </p:graphicFrame>
      <p:sp>
        <p:nvSpPr>
          <p:cNvPr id="6" name="Rounded Rectangle 5"/>
          <p:cNvSpPr/>
          <p:nvPr/>
        </p:nvSpPr>
        <p:spPr>
          <a:xfrm>
            <a:off x="8138160" y="1508760"/>
            <a:ext cx="3227832" cy="4526280"/>
          </a:xfrm>
          <a:prstGeom prst="roundRect">
            <a:avLst>
              <a:gd name="adj" fmla="val 8000"/>
            </a:avLst>
          </a:prstGeom>
          <a:solidFill>
            <a:srgbClr val="E3E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3920" y="1920240"/>
            <a:ext cx="2651760" cy="731520"/>
          </a:xfrm>
          <a:prstGeom prst="rect">
            <a:avLst/>
          </a:prstGeom>
          <a:noFill/>
        </p:spPr>
        <p:txBody>
          <a:bodyPr wrap="square" lIns="0" rIns="0" tIns="0" bIns="0" anchor="t">
            <a:spAutoFit/>
          </a:bodyPr>
          <a:lstStyle/>
          <a:p>
            <a:pPr algn="l">
              <a:spcAft>
                <a:spcPts val="600"/>
              </a:spcAft>
            </a:pPr>
            <a:r>
              <a:rPr sz="3400" b="1" i="0">
                <a:solidFill>
                  <a:srgbClr val="3B6FF0"/>
                </a:solidFill>
                <a:latin typeface="Arial"/>
              </a:rPr>
              <a:t>macro‑F1</a:t>
            </a:r>
          </a:p>
        </p:txBody>
      </p:sp>
      <p:sp>
        <p:nvSpPr>
          <p:cNvPr id="8" name="TextBox 7"/>
          <p:cNvSpPr txBox="1"/>
          <p:nvPr/>
        </p:nvSpPr>
        <p:spPr>
          <a:xfrm>
            <a:off x="8503920" y="2788920"/>
            <a:ext cx="2651760" cy="2743200"/>
          </a:xfrm>
          <a:prstGeom prst="rect">
            <a:avLst/>
          </a:prstGeom>
          <a:noFill/>
        </p:spPr>
        <p:txBody>
          <a:bodyPr wrap="square" lIns="0" rIns="0" tIns="0" bIns="0" anchor="t">
            <a:spAutoFit/>
          </a:bodyPr>
          <a:lstStyle/>
          <a:p>
            <a:pPr algn="l">
              <a:spcAft>
                <a:spcPts val="600"/>
              </a:spcAft>
            </a:pPr>
            <a:r>
              <a:rPr sz="1700" b="0" i="0">
                <a:solidFill>
                  <a:srgbClr val="56648A"/>
                </a:solidFill>
                <a:latin typeface="Arial"/>
              </a:rPr>
              <a:t>Điểm trung bình của 6 hành vi, hành vi nào cũng quan trọng như nhau.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EDF2FA"/>
        </a:solidFill>
        <a:effectLst/>
      </p:bgPr>
    </p:bg>
    <p:spTree>
      <p:nvGrpSpPr>
        <p:cNvPr id="1" name=""/>
        <p:cNvGrpSpPr/>
        <p:nvPr/>
      </p:nvGrpSpPr>
      <p:grpSpPr/>
      <p:sp>
        <p:nvSpPr>
          <p:cNvPr id="2" name="TextBox 1"/>
          <p:cNvSpPr txBox="1"/>
          <p:nvPr/>
        </p:nvSpPr>
        <p:spPr>
          <a:xfrm>
            <a:off x="822960" y="502920"/>
            <a:ext cx="10058400" cy="731520"/>
          </a:xfrm>
          <a:prstGeom prst="rect">
            <a:avLst/>
          </a:prstGeom>
          <a:noFill/>
        </p:spPr>
        <p:txBody>
          <a:bodyPr wrap="square" lIns="0" rIns="0" tIns="0" bIns="0" anchor="ctr">
            <a:spAutoFit/>
          </a:bodyPr>
          <a:lstStyle/>
          <a:p>
            <a:pPr algn="l">
              <a:spcAft>
                <a:spcPts val="600"/>
              </a:spcAft>
            </a:pPr>
            <a:r>
              <a:rPr sz="3200" b="1" i="0">
                <a:solidFill>
                  <a:srgbClr val="1E2A4A"/>
                </a:solidFill>
                <a:latin typeface="Arial"/>
              </a:rPr>
              <a:t>Các mô hình so sánh</a:t>
            </a:r>
          </a:p>
        </p:txBody>
      </p:sp>
      <p:sp>
        <p:nvSpPr>
          <p:cNvPr id="3" name="TextBox 2"/>
          <p:cNvSpPr txBox="1"/>
          <p:nvPr/>
        </p:nvSpPr>
        <p:spPr>
          <a:xfrm>
            <a:off x="11064240" y="6400800"/>
            <a:ext cx="457200" cy="274320"/>
          </a:xfrm>
          <a:prstGeom prst="rect">
            <a:avLst/>
          </a:prstGeom>
          <a:noFill/>
        </p:spPr>
        <p:txBody>
          <a:bodyPr wrap="none" lIns="0" rIns="0" tIns="0" bIns="0">
            <a:spAutoFit/>
          </a:bodyPr>
          <a:lstStyle/>
          <a:p>
            <a:pPr algn="r"/>
            <a:fld id="{B6F15528-21DE-4FAA-801E-634DDDAF4B2B}" type="slidenum">
              <a:rPr lang="en-US" sz="1200">
                <a:solidFill>
                  <a:srgbClr val="8D99B8"/>
                </a:solidFill>
                <a:latin typeface="Arial"/>
              </a:rPr>
              <a:t>‹#›</a:t>
            </a:fld>
          </a:p>
        </p:txBody>
      </p:sp>
      <p:sp>
        <p:nvSpPr>
          <p:cNvPr id="4" name="Rounded Rectangle 3"/>
          <p:cNvSpPr/>
          <p:nvPr/>
        </p:nvSpPr>
        <p:spPr>
          <a:xfrm>
            <a:off x="822960" y="1508760"/>
            <a:ext cx="2468880" cy="4206240"/>
          </a:xfrm>
          <a:prstGeom prst="roundRect">
            <a:avLst>
              <a:gd name="adj" fmla="val 5000"/>
            </a:avLst>
          </a:prstGeom>
          <a:solidFill>
            <a:srgbClr val="FFFFFF"/>
          </a:solidFill>
          <a:ln>
            <a:noFill/>
          </a:ln>
          <a:effectLst>
            <a:outerShdw blurRad="203200" dist="38100" dir="5400000" algn="t" rotWithShape="0">
              <a:srgbClr val="2A4B9B">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05840" y="1691640"/>
            <a:ext cx="2103120" cy="777240"/>
          </a:xfrm>
          <a:prstGeom prst="roundRect">
            <a:avLst>
              <a:gd name="adj" fmla="val 12000"/>
            </a:avLst>
          </a:prstGeom>
          <a:solidFill>
            <a:srgbClr val="E3E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43000" y="1783080"/>
            <a:ext cx="1828800" cy="365760"/>
          </a:xfrm>
          <a:prstGeom prst="rect">
            <a:avLst/>
          </a:prstGeom>
          <a:noFill/>
        </p:spPr>
        <p:txBody>
          <a:bodyPr wrap="square" lIns="0" rIns="0" tIns="0" bIns="0" anchor="t">
            <a:spAutoFit/>
          </a:bodyPr>
          <a:lstStyle/>
          <a:p>
            <a:pPr algn="l">
              <a:spcAft>
                <a:spcPts val="600"/>
              </a:spcAft>
            </a:pPr>
            <a:r>
              <a:rPr sz="1500" b="1" i="0">
                <a:solidFill>
                  <a:srgbClr val="1E2A4A"/>
                </a:solidFill>
                <a:latin typeface="Arial"/>
              </a:rPr>
              <a:t>MobileNetV3-Small</a:t>
            </a:r>
          </a:p>
        </p:txBody>
      </p:sp>
      <p:sp>
        <p:nvSpPr>
          <p:cNvPr id="7" name="TextBox 6"/>
          <p:cNvSpPr txBox="1"/>
          <p:nvPr/>
        </p:nvSpPr>
        <p:spPr>
          <a:xfrm>
            <a:off x="1143000" y="2130552"/>
            <a:ext cx="1828800" cy="274320"/>
          </a:xfrm>
          <a:prstGeom prst="rect">
            <a:avLst/>
          </a:prstGeom>
          <a:noFill/>
        </p:spPr>
        <p:txBody>
          <a:bodyPr wrap="square" lIns="0" rIns="0" tIns="0" bIns="0" anchor="t">
            <a:spAutoFit/>
          </a:bodyPr>
          <a:lstStyle/>
          <a:p>
            <a:pPr algn="l">
              <a:spcAft>
                <a:spcPts val="600"/>
              </a:spcAft>
            </a:pPr>
            <a:r>
              <a:rPr sz="1100" b="1" i="0">
                <a:solidFill>
                  <a:srgbClr val="3B6FF0"/>
                </a:solidFill>
                <a:latin typeface="Arial"/>
              </a:rPr>
              <a:t>Ứng viên edge (mục tiêu)</a:t>
            </a:r>
          </a:p>
        </p:txBody>
      </p:sp>
      <p:sp>
        <p:nvSpPr>
          <p:cNvPr id="8" name="TextBox 7"/>
          <p:cNvSpPr txBox="1"/>
          <p:nvPr/>
        </p:nvSpPr>
        <p:spPr>
          <a:xfrm>
            <a:off x="1097280" y="2834640"/>
            <a:ext cx="2011680" cy="640080"/>
          </a:xfrm>
          <a:prstGeom prst="rect">
            <a:avLst/>
          </a:prstGeom>
          <a:noFill/>
        </p:spPr>
        <p:txBody>
          <a:bodyPr wrap="square" lIns="0" rIns="0" tIns="0" bIns="0" anchor="t">
            <a:spAutoFit/>
          </a:bodyPr>
          <a:lstStyle/>
          <a:p>
            <a:pPr algn="l">
              <a:spcAft>
                <a:spcPts val="600"/>
              </a:spcAft>
            </a:pPr>
            <a:r>
              <a:rPr sz="3400" b="1" i="0">
                <a:solidFill>
                  <a:srgbClr val="3B6FF0"/>
                </a:solidFill>
                <a:latin typeface="Arial"/>
              </a:rPr>
              <a:t>1,52 M</a:t>
            </a:r>
          </a:p>
        </p:txBody>
      </p:sp>
      <p:sp>
        <p:nvSpPr>
          <p:cNvPr id="9" name="TextBox 8"/>
          <p:cNvSpPr txBox="1"/>
          <p:nvPr/>
        </p:nvSpPr>
        <p:spPr>
          <a:xfrm>
            <a:off x="1097280" y="3474720"/>
            <a:ext cx="2011680" cy="320040"/>
          </a:xfrm>
          <a:prstGeom prst="rect">
            <a:avLst/>
          </a:prstGeom>
          <a:noFill/>
        </p:spPr>
        <p:txBody>
          <a:bodyPr wrap="square" lIns="0" rIns="0" tIns="0" bIns="0" anchor="t">
            <a:spAutoFit/>
          </a:bodyPr>
          <a:lstStyle/>
          <a:p>
            <a:pPr algn="l">
              <a:spcAft>
                <a:spcPts val="600"/>
              </a:spcAft>
            </a:pPr>
            <a:r>
              <a:rPr sz="1400" b="0" i="0">
                <a:solidFill>
                  <a:srgbClr val="56648A"/>
                </a:solidFill>
                <a:latin typeface="Arial"/>
              </a:rPr>
              <a:t>tham số</a:t>
            </a:r>
          </a:p>
        </p:txBody>
      </p:sp>
      <p:sp>
        <p:nvSpPr>
          <p:cNvPr id="10" name="TextBox 9"/>
          <p:cNvSpPr txBox="1"/>
          <p:nvPr/>
        </p:nvSpPr>
        <p:spPr>
          <a:xfrm>
            <a:off x="1097280" y="4206240"/>
            <a:ext cx="2011680" cy="640080"/>
          </a:xfrm>
          <a:prstGeom prst="rect">
            <a:avLst/>
          </a:prstGeom>
          <a:noFill/>
        </p:spPr>
        <p:txBody>
          <a:bodyPr wrap="square" lIns="0" rIns="0" tIns="0" bIns="0" anchor="t">
            <a:spAutoFit/>
          </a:bodyPr>
          <a:lstStyle/>
          <a:p>
            <a:pPr algn="l">
              <a:spcAft>
                <a:spcPts val="600"/>
              </a:spcAft>
            </a:pPr>
            <a:r>
              <a:rPr sz="3400" b="1" i="0">
                <a:solidFill>
                  <a:srgbClr val="3B6FF0"/>
                </a:solidFill>
                <a:latin typeface="Arial"/>
              </a:rPr>
              <a:t>55 M</a:t>
            </a:r>
          </a:p>
        </p:txBody>
      </p:sp>
      <p:sp>
        <p:nvSpPr>
          <p:cNvPr id="11" name="TextBox 10"/>
          <p:cNvSpPr txBox="1"/>
          <p:nvPr/>
        </p:nvSpPr>
        <p:spPr>
          <a:xfrm>
            <a:off x="1097280" y="4846320"/>
            <a:ext cx="2011680" cy="548640"/>
          </a:xfrm>
          <a:prstGeom prst="rect">
            <a:avLst/>
          </a:prstGeom>
          <a:noFill/>
        </p:spPr>
        <p:txBody>
          <a:bodyPr wrap="square" lIns="0" rIns="0" tIns="0" bIns="0" anchor="t">
            <a:spAutoFit/>
          </a:bodyPr>
          <a:lstStyle/>
          <a:p>
            <a:pPr algn="l">
              <a:spcAft>
                <a:spcPts val="600"/>
              </a:spcAft>
            </a:pPr>
            <a:r>
              <a:rPr sz="1200" b="0" i="0">
                <a:solidFill>
                  <a:srgbClr val="56648A"/>
                </a:solidFill>
                <a:latin typeface="Arial"/>
              </a:rPr>
              <a:t>MACs cho một ảnh 224×224</a:t>
            </a:r>
          </a:p>
        </p:txBody>
      </p:sp>
      <p:sp>
        <p:nvSpPr>
          <p:cNvPr id="12" name="Rounded Rectangle 11"/>
          <p:cNvSpPr/>
          <p:nvPr/>
        </p:nvSpPr>
        <p:spPr>
          <a:xfrm>
            <a:off x="3520440" y="1508760"/>
            <a:ext cx="2468880" cy="4206240"/>
          </a:xfrm>
          <a:prstGeom prst="roundRect">
            <a:avLst>
              <a:gd name="adj" fmla="val 5000"/>
            </a:avLst>
          </a:prstGeom>
          <a:solidFill>
            <a:srgbClr val="FFFFFF"/>
          </a:solidFill>
          <a:ln>
            <a:noFill/>
          </a:ln>
          <a:effectLst>
            <a:outerShdw blurRad="203200" dist="38100" dir="5400000" algn="t" rotWithShape="0">
              <a:srgbClr val="2A4B9B">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703320" y="1691640"/>
            <a:ext cx="2103120" cy="777240"/>
          </a:xfrm>
          <a:prstGeom prst="roundRect">
            <a:avLst>
              <a:gd name="adj" fmla="val 12000"/>
            </a:avLst>
          </a:prstGeom>
          <a:solidFill>
            <a:srgbClr val="DD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840480" y="1783080"/>
            <a:ext cx="1828800" cy="365760"/>
          </a:xfrm>
          <a:prstGeom prst="rect">
            <a:avLst/>
          </a:prstGeom>
          <a:noFill/>
        </p:spPr>
        <p:txBody>
          <a:bodyPr wrap="square" lIns="0" rIns="0" tIns="0" bIns="0" anchor="t">
            <a:spAutoFit/>
          </a:bodyPr>
          <a:lstStyle/>
          <a:p>
            <a:pPr algn="l">
              <a:spcAft>
                <a:spcPts val="600"/>
              </a:spcAft>
            </a:pPr>
            <a:r>
              <a:rPr sz="1500" b="1" i="0">
                <a:solidFill>
                  <a:srgbClr val="1E2A4A"/>
                </a:solidFill>
                <a:latin typeface="Arial"/>
              </a:rPr>
              <a:t>EfficientNet-Lite0</a:t>
            </a:r>
          </a:p>
        </p:txBody>
      </p:sp>
      <p:sp>
        <p:nvSpPr>
          <p:cNvPr id="15" name="TextBox 14"/>
          <p:cNvSpPr txBox="1"/>
          <p:nvPr/>
        </p:nvSpPr>
        <p:spPr>
          <a:xfrm>
            <a:off x="3840480" y="2130552"/>
            <a:ext cx="1828800" cy="274320"/>
          </a:xfrm>
          <a:prstGeom prst="rect">
            <a:avLst/>
          </a:prstGeom>
          <a:noFill/>
        </p:spPr>
        <p:txBody>
          <a:bodyPr wrap="square" lIns="0" rIns="0" tIns="0" bIns="0" anchor="t">
            <a:spAutoFit/>
          </a:bodyPr>
          <a:lstStyle/>
          <a:p>
            <a:pPr algn="l">
              <a:spcAft>
                <a:spcPts val="600"/>
              </a:spcAft>
            </a:pPr>
            <a:r>
              <a:rPr sz="1100" b="1" i="0">
                <a:solidFill>
                  <a:srgbClr val="0E9AC4"/>
                </a:solidFill>
                <a:latin typeface="Arial"/>
              </a:rPr>
              <a:t>Ứng viên edge</a:t>
            </a:r>
          </a:p>
        </p:txBody>
      </p:sp>
      <p:sp>
        <p:nvSpPr>
          <p:cNvPr id="16" name="TextBox 15"/>
          <p:cNvSpPr txBox="1"/>
          <p:nvPr/>
        </p:nvSpPr>
        <p:spPr>
          <a:xfrm>
            <a:off x="3794760" y="2834640"/>
            <a:ext cx="2011680" cy="640080"/>
          </a:xfrm>
          <a:prstGeom prst="rect">
            <a:avLst/>
          </a:prstGeom>
          <a:noFill/>
        </p:spPr>
        <p:txBody>
          <a:bodyPr wrap="square" lIns="0" rIns="0" tIns="0" bIns="0" anchor="t">
            <a:spAutoFit/>
          </a:bodyPr>
          <a:lstStyle/>
          <a:p>
            <a:pPr algn="l">
              <a:spcAft>
                <a:spcPts val="600"/>
              </a:spcAft>
            </a:pPr>
            <a:r>
              <a:rPr sz="3400" b="1" i="0">
                <a:solidFill>
                  <a:srgbClr val="0E9AC4"/>
                </a:solidFill>
                <a:latin typeface="Arial"/>
              </a:rPr>
              <a:t>3,38 M</a:t>
            </a:r>
          </a:p>
        </p:txBody>
      </p:sp>
      <p:sp>
        <p:nvSpPr>
          <p:cNvPr id="17" name="TextBox 16"/>
          <p:cNvSpPr txBox="1"/>
          <p:nvPr/>
        </p:nvSpPr>
        <p:spPr>
          <a:xfrm>
            <a:off x="3794760" y="3474720"/>
            <a:ext cx="2011680" cy="320040"/>
          </a:xfrm>
          <a:prstGeom prst="rect">
            <a:avLst/>
          </a:prstGeom>
          <a:noFill/>
        </p:spPr>
        <p:txBody>
          <a:bodyPr wrap="square" lIns="0" rIns="0" tIns="0" bIns="0" anchor="t">
            <a:spAutoFit/>
          </a:bodyPr>
          <a:lstStyle/>
          <a:p>
            <a:pPr algn="l">
              <a:spcAft>
                <a:spcPts val="600"/>
              </a:spcAft>
            </a:pPr>
            <a:r>
              <a:rPr sz="1400" b="0" i="0">
                <a:solidFill>
                  <a:srgbClr val="56648A"/>
                </a:solidFill>
                <a:latin typeface="Arial"/>
              </a:rPr>
              <a:t>tham số</a:t>
            </a:r>
          </a:p>
        </p:txBody>
      </p:sp>
      <p:sp>
        <p:nvSpPr>
          <p:cNvPr id="18" name="TextBox 17"/>
          <p:cNvSpPr txBox="1"/>
          <p:nvPr/>
        </p:nvSpPr>
        <p:spPr>
          <a:xfrm>
            <a:off x="3794760" y="4206240"/>
            <a:ext cx="2011680" cy="640080"/>
          </a:xfrm>
          <a:prstGeom prst="rect">
            <a:avLst/>
          </a:prstGeom>
          <a:noFill/>
        </p:spPr>
        <p:txBody>
          <a:bodyPr wrap="square" lIns="0" rIns="0" tIns="0" bIns="0" anchor="t">
            <a:spAutoFit/>
          </a:bodyPr>
          <a:lstStyle/>
          <a:p>
            <a:pPr algn="l">
              <a:spcAft>
                <a:spcPts val="600"/>
              </a:spcAft>
            </a:pPr>
            <a:r>
              <a:rPr sz="3400" b="1" i="0">
                <a:solidFill>
                  <a:srgbClr val="0E9AC4"/>
                </a:solidFill>
                <a:latin typeface="Arial"/>
              </a:rPr>
              <a:t>384 M</a:t>
            </a:r>
          </a:p>
        </p:txBody>
      </p:sp>
      <p:sp>
        <p:nvSpPr>
          <p:cNvPr id="19" name="TextBox 18"/>
          <p:cNvSpPr txBox="1"/>
          <p:nvPr/>
        </p:nvSpPr>
        <p:spPr>
          <a:xfrm>
            <a:off x="3794760" y="4846320"/>
            <a:ext cx="2011680" cy="548640"/>
          </a:xfrm>
          <a:prstGeom prst="rect">
            <a:avLst/>
          </a:prstGeom>
          <a:noFill/>
        </p:spPr>
        <p:txBody>
          <a:bodyPr wrap="square" lIns="0" rIns="0" tIns="0" bIns="0" anchor="t">
            <a:spAutoFit/>
          </a:bodyPr>
          <a:lstStyle/>
          <a:p>
            <a:pPr algn="l">
              <a:spcAft>
                <a:spcPts val="600"/>
              </a:spcAft>
            </a:pPr>
            <a:r>
              <a:rPr sz="1200" b="0" i="0">
                <a:solidFill>
                  <a:srgbClr val="56648A"/>
                </a:solidFill>
                <a:latin typeface="Arial"/>
              </a:rPr>
              <a:t>MACs cho một ảnh 224×224</a:t>
            </a:r>
          </a:p>
        </p:txBody>
      </p:sp>
      <p:sp>
        <p:nvSpPr>
          <p:cNvPr id="20" name="Rounded Rectangle 19"/>
          <p:cNvSpPr/>
          <p:nvPr/>
        </p:nvSpPr>
        <p:spPr>
          <a:xfrm>
            <a:off x="6217920" y="1508760"/>
            <a:ext cx="2468880" cy="4206240"/>
          </a:xfrm>
          <a:prstGeom prst="roundRect">
            <a:avLst>
              <a:gd name="adj" fmla="val 5000"/>
            </a:avLst>
          </a:prstGeom>
          <a:solidFill>
            <a:srgbClr val="FFFFFF"/>
          </a:solidFill>
          <a:ln>
            <a:noFill/>
          </a:ln>
          <a:effectLst>
            <a:outerShdw blurRad="203200" dist="38100" dir="5400000" algn="t" rotWithShape="0">
              <a:srgbClr val="2A4B9B">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400800" y="1691640"/>
            <a:ext cx="2103120" cy="777240"/>
          </a:xfrm>
          <a:prstGeom prst="roundRect">
            <a:avLst>
              <a:gd name="adj" fmla="val 12000"/>
            </a:avLst>
          </a:prstGeom>
          <a:solidFill>
            <a:srgbClr val="E8E9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37960" y="1783080"/>
            <a:ext cx="1828800" cy="365760"/>
          </a:xfrm>
          <a:prstGeom prst="rect">
            <a:avLst/>
          </a:prstGeom>
          <a:noFill/>
        </p:spPr>
        <p:txBody>
          <a:bodyPr wrap="square" lIns="0" rIns="0" tIns="0" bIns="0" anchor="t">
            <a:spAutoFit/>
          </a:bodyPr>
          <a:lstStyle/>
          <a:p>
            <a:pPr algn="l">
              <a:spcAft>
                <a:spcPts val="600"/>
              </a:spcAft>
            </a:pPr>
            <a:r>
              <a:rPr sz="1500" b="1" i="0">
                <a:solidFill>
                  <a:srgbClr val="1E2A4A"/>
                </a:solidFill>
                <a:latin typeface="Arial"/>
              </a:rPr>
              <a:t>ResNet18</a:t>
            </a:r>
          </a:p>
        </p:txBody>
      </p:sp>
      <p:sp>
        <p:nvSpPr>
          <p:cNvPr id="23" name="TextBox 22"/>
          <p:cNvSpPr txBox="1"/>
          <p:nvPr/>
        </p:nvSpPr>
        <p:spPr>
          <a:xfrm>
            <a:off x="6537960" y="2130552"/>
            <a:ext cx="1828800" cy="274320"/>
          </a:xfrm>
          <a:prstGeom prst="rect">
            <a:avLst/>
          </a:prstGeom>
          <a:noFill/>
        </p:spPr>
        <p:txBody>
          <a:bodyPr wrap="square" lIns="0" rIns="0" tIns="0" bIns="0" anchor="t">
            <a:spAutoFit/>
          </a:bodyPr>
          <a:lstStyle/>
          <a:p>
            <a:pPr algn="l">
              <a:spcAft>
                <a:spcPts val="600"/>
              </a:spcAft>
            </a:pPr>
            <a:r>
              <a:rPr sz="1100" b="1" i="0">
                <a:solidFill>
                  <a:srgbClr val="5B5CE0"/>
                </a:solidFill>
                <a:latin typeface="Arial"/>
              </a:rPr>
              <a:t>Mốc nặng vừa</a:t>
            </a:r>
          </a:p>
        </p:txBody>
      </p:sp>
      <p:sp>
        <p:nvSpPr>
          <p:cNvPr id="24" name="TextBox 23"/>
          <p:cNvSpPr txBox="1"/>
          <p:nvPr/>
        </p:nvSpPr>
        <p:spPr>
          <a:xfrm>
            <a:off x="6492240" y="2834640"/>
            <a:ext cx="2011680" cy="640080"/>
          </a:xfrm>
          <a:prstGeom prst="rect">
            <a:avLst/>
          </a:prstGeom>
          <a:noFill/>
        </p:spPr>
        <p:txBody>
          <a:bodyPr wrap="square" lIns="0" rIns="0" tIns="0" bIns="0" anchor="t">
            <a:spAutoFit/>
          </a:bodyPr>
          <a:lstStyle/>
          <a:p>
            <a:pPr algn="l">
              <a:spcAft>
                <a:spcPts val="600"/>
              </a:spcAft>
            </a:pPr>
            <a:r>
              <a:rPr sz="3400" b="1" i="0">
                <a:solidFill>
                  <a:srgbClr val="5B5CE0"/>
                </a:solidFill>
                <a:latin typeface="Arial"/>
              </a:rPr>
              <a:t>11,18 M</a:t>
            </a:r>
          </a:p>
        </p:txBody>
      </p:sp>
      <p:sp>
        <p:nvSpPr>
          <p:cNvPr id="25" name="TextBox 24"/>
          <p:cNvSpPr txBox="1"/>
          <p:nvPr/>
        </p:nvSpPr>
        <p:spPr>
          <a:xfrm>
            <a:off x="6492240" y="3474720"/>
            <a:ext cx="2011680" cy="320040"/>
          </a:xfrm>
          <a:prstGeom prst="rect">
            <a:avLst/>
          </a:prstGeom>
          <a:noFill/>
        </p:spPr>
        <p:txBody>
          <a:bodyPr wrap="square" lIns="0" rIns="0" tIns="0" bIns="0" anchor="t">
            <a:spAutoFit/>
          </a:bodyPr>
          <a:lstStyle/>
          <a:p>
            <a:pPr algn="l">
              <a:spcAft>
                <a:spcPts val="600"/>
              </a:spcAft>
            </a:pPr>
            <a:r>
              <a:rPr sz="1400" b="0" i="0">
                <a:solidFill>
                  <a:srgbClr val="56648A"/>
                </a:solidFill>
                <a:latin typeface="Arial"/>
              </a:rPr>
              <a:t>tham số</a:t>
            </a:r>
          </a:p>
        </p:txBody>
      </p:sp>
      <p:sp>
        <p:nvSpPr>
          <p:cNvPr id="26" name="TextBox 25"/>
          <p:cNvSpPr txBox="1"/>
          <p:nvPr/>
        </p:nvSpPr>
        <p:spPr>
          <a:xfrm>
            <a:off x="6492240" y="4206240"/>
            <a:ext cx="2011680" cy="640080"/>
          </a:xfrm>
          <a:prstGeom prst="rect">
            <a:avLst/>
          </a:prstGeom>
          <a:noFill/>
        </p:spPr>
        <p:txBody>
          <a:bodyPr wrap="square" lIns="0" rIns="0" tIns="0" bIns="0" anchor="t">
            <a:spAutoFit/>
          </a:bodyPr>
          <a:lstStyle/>
          <a:p>
            <a:pPr algn="l">
              <a:spcAft>
                <a:spcPts val="600"/>
              </a:spcAft>
            </a:pPr>
            <a:r>
              <a:rPr sz="3400" b="1" i="0">
                <a:solidFill>
                  <a:srgbClr val="5B5CE0"/>
                </a:solidFill>
                <a:latin typeface="Arial"/>
              </a:rPr>
              <a:t>1,81 G</a:t>
            </a:r>
          </a:p>
        </p:txBody>
      </p:sp>
      <p:sp>
        <p:nvSpPr>
          <p:cNvPr id="27" name="TextBox 26"/>
          <p:cNvSpPr txBox="1"/>
          <p:nvPr/>
        </p:nvSpPr>
        <p:spPr>
          <a:xfrm>
            <a:off x="6492240" y="4846320"/>
            <a:ext cx="2011680" cy="548640"/>
          </a:xfrm>
          <a:prstGeom prst="rect">
            <a:avLst/>
          </a:prstGeom>
          <a:noFill/>
        </p:spPr>
        <p:txBody>
          <a:bodyPr wrap="square" lIns="0" rIns="0" tIns="0" bIns="0" anchor="t">
            <a:spAutoFit/>
          </a:bodyPr>
          <a:lstStyle/>
          <a:p>
            <a:pPr algn="l">
              <a:spcAft>
                <a:spcPts val="600"/>
              </a:spcAft>
            </a:pPr>
            <a:r>
              <a:rPr sz="1200" b="0" i="0">
                <a:solidFill>
                  <a:srgbClr val="56648A"/>
                </a:solidFill>
                <a:latin typeface="Arial"/>
              </a:rPr>
              <a:t>MACs cho một ảnh 224×224</a:t>
            </a:r>
          </a:p>
        </p:txBody>
      </p:sp>
      <p:sp>
        <p:nvSpPr>
          <p:cNvPr id="28" name="Rounded Rectangle 27"/>
          <p:cNvSpPr/>
          <p:nvPr/>
        </p:nvSpPr>
        <p:spPr>
          <a:xfrm>
            <a:off x="8915400" y="1508760"/>
            <a:ext cx="2468880" cy="4206240"/>
          </a:xfrm>
          <a:prstGeom prst="roundRect">
            <a:avLst>
              <a:gd name="adj" fmla="val 5000"/>
            </a:avLst>
          </a:prstGeom>
          <a:solidFill>
            <a:srgbClr val="FFFFFF"/>
          </a:solidFill>
          <a:ln>
            <a:noFill/>
          </a:ln>
          <a:effectLst>
            <a:outerShdw blurRad="203200" dist="38100" dir="5400000" algn="t" rotWithShape="0">
              <a:srgbClr val="2A4B9B">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098280" y="1691640"/>
            <a:ext cx="2103120" cy="777240"/>
          </a:xfrm>
          <a:prstGeom prst="roundRect">
            <a:avLst>
              <a:gd name="adj" fmla="val 12000"/>
            </a:avLst>
          </a:prstGeom>
          <a:solidFill>
            <a:srgbClr val="EFE8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235440" y="1783080"/>
            <a:ext cx="1828800" cy="365760"/>
          </a:xfrm>
          <a:prstGeom prst="rect">
            <a:avLst/>
          </a:prstGeom>
          <a:noFill/>
        </p:spPr>
        <p:txBody>
          <a:bodyPr wrap="square" lIns="0" rIns="0" tIns="0" bIns="0" anchor="t">
            <a:spAutoFit/>
          </a:bodyPr>
          <a:lstStyle/>
          <a:p>
            <a:pPr algn="l">
              <a:spcAft>
                <a:spcPts val="600"/>
              </a:spcAft>
            </a:pPr>
            <a:r>
              <a:rPr sz="1500" b="1" i="0">
                <a:solidFill>
                  <a:srgbClr val="1E2A4A"/>
                </a:solidFill>
                <a:latin typeface="Arial"/>
              </a:rPr>
              <a:t>ResNet50</a:t>
            </a:r>
          </a:p>
        </p:txBody>
      </p:sp>
      <p:sp>
        <p:nvSpPr>
          <p:cNvPr id="31" name="TextBox 30"/>
          <p:cNvSpPr txBox="1"/>
          <p:nvPr/>
        </p:nvSpPr>
        <p:spPr>
          <a:xfrm>
            <a:off x="9235440" y="2130552"/>
            <a:ext cx="1828800" cy="274320"/>
          </a:xfrm>
          <a:prstGeom prst="rect">
            <a:avLst/>
          </a:prstGeom>
          <a:noFill/>
        </p:spPr>
        <p:txBody>
          <a:bodyPr wrap="square" lIns="0" rIns="0" tIns="0" bIns="0" anchor="t">
            <a:spAutoFit/>
          </a:bodyPr>
          <a:lstStyle/>
          <a:p>
            <a:pPr algn="l">
              <a:spcAft>
                <a:spcPts val="600"/>
              </a:spcAft>
            </a:pPr>
            <a:r>
              <a:rPr sz="1100" b="1" i="0">
                <a:solidFill>
                  <a:srgbClr val="8E5CF0"/>
                </a:solidFill>
                <a:latin typeface="Arial"/>
              </a:rPr>
              <a:t>Mốc nặng</a:t>
            </a:r>
          </a:p>
        </p:txBody>
      </p:sp>
      <p:sp>
        <p:nvSpPr>
          <p:cNvPr id="32" name="TextBox 31"/>
          <p:cNvSpPr txBox="1"/>
          <p:nvPr/>
        </p:nvSpPr>
        <p:spPr>
          <a:xfrm>
            <a:off x="9189720" y="2834640"/>
            <a:ext cx="2011680" cy="640080"/>
          </a:xfrm>
          <a:prstGeom prst="rect">
            <a:avLst/>
          </a:prstGeom>
          <a:noFill/>
        </p:spPr>
        <p:txBody>
          <a:bodyPr wrap="square" lIns="0" rIns="0" tIns="0" bIns="0" anchor="t">
            <a:spAutoFit/>
          </a:bodyPr>
          <a:lstStyle/>
          <a:p>
            <a:pPr algn="l">
              <a:spcAft>
                <a:spcPts val="600"/>
              </a:spcAft>
            </a:pPr>
            <a:r>
              <a:rPr sz="3400" b="1" i="0">
                <a:solidFill>
                  <a:srgbClr val="8E5CF0"/>
                </a:solidFill>
                <a:latin typeface="Arial"/>
              </a:rPr>
              <a:t>23,52 M</a:t>
            </a:r>
          </a:p>
        </p:txBody>
      </p:sp>
      <p:sp>
        <p:nvSpPr>
          <p:cNvPr id="33" name="TextBox 32"/>
          <p:cNvSpPr txBox="1"/>
          <p:nvPr/>
        </p:nvSpPr>
        <p:spPr>
          <a:xfrm>
            <a:off x="9189720" y="3474720"/>
            <a:ext cx="2011680" cy="320040"/>
          </a:xfrm>
          <a:prstGeom prst="rect">
            <a:avLst/>
          </a:prstGeom>
          <a:noFill/>
        </p:spPr>
        <p:txBody>
          <a:bodyPr wrap="square" lIns="0" rIns="0" tIns="0" bIns="0" anchor="t">
            <a:spAutoFit/>
          </a:bodyPr>
          <a:lstStyle/>
          <a:p>
            <a:pPr algn="l">
              <a:spcAft>
                <a:spcPts val="600"/>
              </a:spcAft>
            </a:pPr>
            <a:r>
              <a:rPr sz="1400" b="0" i="0">
                <a:solidFill>
                  <a:srgbClr val="56648A"/>
                </a:solidFill>
                <a:latin typeface="Arial"/>
              </a:rPr>
              <a:t>tham số</a:t>
            </a:r>
          </a:p>
        </p:txBody>
      </p:sp>
      <p:sp>
        <p:nvSpPr>
          <p:cNvPr id="34" name="TextBox 33"/>
          <p:cNvSpPr txBox="1"/>
          <p:nvPr/>
        </p:nvSpPr>
        <p:spPr>
          <a:xfrm>
            <a:off x="9189720" y="4206240"/>
            <a:ext cx="2011680" cy="640080"/>
          </a:xfrm>
          <a:prstGeom prst="rect">
            <a:avLst/>
          </a:prstGeom>
          <a:noFill/>
        </p:spPr>
        <p:txBody>
          <a:bodyPr wrap="square" lIns="0" rIns="0" tIns="0" bIns="0" anchor="t">
            <a:spAutoFit/>
          </a:bodyPr>
          <a:lstStyle/>
          <a:p>
            <a:pPr algn="l">
              <a:spcAft>
                <a:spcPts val="600"/>
              </a:spcAft>
            </a:pPr>
            <a:r>
              <a:rPr sz="3400" b="1" i="0">
                <a:solidFill>
                  <a:srgbClr val="8E5CF0"/>
                </a:solidFill>
                <a:latin typeface="Arial"/>
              </a:rPr>
              <a:t>4,09 G</a:t>
            </a:r>
          </a:p>
        </p:txBody>
      </p:sp>
      <p:sp>
        <p:nvSpPr>
          <p:cNvPr id="35" name="TextBox 34"/>
          <p:cNvSpPr txBox="1"/>
          <p:nvPr/>
        </p:nvSpPr>
        <p:spPr>
          <a:xfrm>
            <a:off x="9189720" y="4846320"/>
            <a:ext cx="2011680" cy="548640"/>
          </a:xfrm>
          <a:prstGeom prst="rect">
            <a:avLst/>
          </a:prstGeom>
          <a:noFill/>
        </p:spPr>
        <p:txBody>
          <a:bodyPr wrap="square" lIns="0" rIns="0" tIns="0" bIns="0" anchor="t">
            <a:spAutoFit/>
          </a:bodyPr>
          <a:lstStyle/>
          <a:p>
            <a:pPr algn="l">
              <a:spcAft>
                <a:spcPts val="600"/>
              </a:spcAft>
            </a:pPr>
            <a:r>
              <a:rPr sz="1200" b="0" i="0">
                <a:solidFill>
                  <a:srgbClr val="56648A"/>
                </a:solidFill>
                <a:latin typeface="Arial"/>
              </a:rPr>
              <a:t>MACs cho một ảnh 224×224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EDF2FA"/>
        </a:solidFill>
        <a:effectLst/>
      </p:bgPr>
    </p:bg>
    <p:spTree>
      <p:nvGrpSpPr>
        <p:cNvPr id="1" name=""/>
        <p:cNvGrpSpPr/>
        <p:nvPr/>
      </p:nvGrpSpPr>
      <p:grpSpPr/>
      <p:sp>
        <p:nvSpPr>
          <p:cNvPr id="2" name="TextBox 1"/>
          <p:cNvSpPr txBox="1"/>
          <p:nvPr/>
        </p:nvSpPr>
        <p:spPr>
          <a:xfrm>
            <a:off x="822960" y="502920"/>
            <a:ext cx="10058400" cy="731520"/>
          </a:xfrm>
          <a:prstGeom prst="rect">
            <a:avLst/>
          </a:prstGeom>
          <a:noFill/>
        </p:spPr>
        <p:txBody>
          <a:bodyPr wrap="square" lIns="0" rIns="0" tIns="0" bIns="0" anchor="ctr">
            <a:spAutoFit/>
          </a:bodyPr>
          <a:lstStyle/>
          <a:p>
            <a:pPr algn="l">
              <a:spcAft>
                <a:spcPts val="600"/>
              </a:spcAft>
            </a:pPr>
            <a:r>
              <a:rPr sz="3200" b="1" i="0">
                <a:solidFill>
                  <a:srgbClr val="1E2A4A"/>
                </a:solidFill>
                <a:latin typeface="Arial"/>
              </a:rPr>
              <a:t>Val vs test</a:t>
            </a:r>
          </a:p>
        </p:txBody>
      </p:sp>
      <p:sp>
        <p:nvSpPr>
          <p:cNvPr id="3" name="TextBox 2"/>
          <p:cNvSpPr txBox="1"/>
          <p:nvPr/>
        </p:nvSpPr>
        <p:spPr>
          <a:xfrm>
            <a:off x="11064240" y="6400800"/>
            <a:ext cx="457200" cy="274320"/>
          </a:xfrm>
          <a:prstGeom prst="rect">
            <a:avLst/>
          </a:prstGeom>
          <a:noFill/>
        </p:spPr>
        <p:txBody>
          <a:bodyPr wrap="none" lIns="0" rIns="0" tIns="0" bIns="0">
            <a:spAutoFit/>
          </a:bodyPr>
          <a:lstStyle/>
          <a:p>
            <a:pPr algn="r"/>
            <a:fld id="{B6F15528-21DE-4FAA-801E-634DDDAF4B2B}" type="slidenum">
              <a:rPr lang="en-US" sz="1200">
                <a:solidFill>
                  <a:srgbClr val="8D99B8"/>
                </a:solidFill>
                <a:latin typeface="Arial"/>
              </a:rPr>
              <a:t>‹#›</a:t>
            </a:fld>
          </a:p>
        </p:txBody>
      </p:sp>
      <p:sp>
        <p:nvSpPr>
          <p:cNvPr id="4" name="Rounded Rectangle 3"/>
          <p:cNvSpPr/>
          <p:nvPr/>
        </p:nvSpPr>
        <p:spPr>
          <a:xfrm>
            <a:off x="822960" y="1463040"/>
            <a:ext cx="10543032" cy="4754880"/>
          </a:xfrm>
          <a:prstGeom prst="roundRect">
            <a:avLst>
              <a:gd name="adj" fmla="val 5000"/>
            </a:avLst>
          </a:prstGeom>
          <a:solidFill>
            <a:srgbClr val="FFFFFF"/>
          </a:solidFill>
          <a:ln>
            <a:noFill/>
          </a:ln>
          <a:effectLst>
            <a:outerShdw blurRad="203200" dist="38100" dir="5400000" algn="t" rotWithShape="0">
              <a:srgbClr val="2A4B9B">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Chart 4"/>
          <p:cNvGraphicFramePr>
            <a:graphicFrameLocks noGrp="1"/>
          </p:cNvGraphicFramePr>
          <p:nvPr/>
        </p:nvGraphicFramePr>
        <p:xfrm>
          <a:off x="1005840" y="1600200"/>
          <a:ext cx="10149840" cy="4526280"/>
        </p:xfrm>
        <a:graphic>
          <a:graphicData uri="http://schemas.openxmlformats.org/drawingml/2006/chart">
            <c:chart xmlns:c="http://schemas.openxmlformats.org/drawingml/2006/chart" r:id="rId3"/>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EDF2FA"/>
        </a:solidFill>
        <a:effectLst/>
      </p:bgPr>
    </p:bg>
    <p:spTree>
      <p:nvGrpSpPr>
        <p:cNvPr id="1" name=""/>
        <p:cNvGrpSpPr/>
        <p:nvPr/>
      </p:nvGrpSpPr>
      <p:grpSpPr/>
      <p:sp>
        <p:nvSpPr>
          <p:cNvPr id="2" name="TextBox 1"/>
          <p:cNvSpPr txBox="1"/>
          <p:nvPr/>
        </p:nvSpPr>
        <p:spPr>
          <a:xfrm>
            <a:off x="822960" y="502920"/>
            <a:ext cx="10058400" cy="731520"/>
          </a:xfrm>
          <a:prstGeom prst="rect">
            <a:avLst/>
          </a:prstGeom>
          <a:noFill/>
        </p:spPr>
        <p:txBody>
          <a:bodyPr wrap="square" lIns="0" rIns="0" tIns="0" bIns="0" anchor="ctr">
            <a:spAutoFit/>
          </a:bodyPr>
          <a:lstStyle/>
          <a:p>
            <a:pPr algn="l">
              <a:spcAft>
                <a:spcPts val="600"/>
              </a:spcAft>
            </a:pPr>
            <a:r>
              <a:rPr sz="3200" b="1" i="0">
                <a:solidFill>
                  <a:srgbClr val="1E2A4A"/>
                </a:solidFill>
                <a:latin typeface="Arial"/>
              </a:rPr>
              <a:t>Kết quả: test macro-F1 của các mô hình</a:t>
            </a:r>
          </a:p>
        </p:txBody>
      </p:sp>
      <p:sp>
        <p:nvSpPr>
          <p:cNvPr id="3" name="TextBox 2"/>
          <p:cNvSpPr txBox="1"/>
          <p:nvPr/>
        </p:nvSpPr>
        <p:spPr>
          <a:xfrm>
            <a:off x="11064240" y="6400800"/>
            <a:ext cx="457200" cy="274320"/>
          </a:xfrm>
          <a:prstGeom prst="rect">
            <a:avLst/>
          </a:prstGeom>
          <a:noFill/>
        </p:spPr>
        <p:txBody>
          <a:bodyPr wrap="none" lIns="0" rIns="0" tIns="0" bIns="0">
            <a:spAutoFit/>
          </a:bodyPr>
          <a:lstStyle/>
          <a:p>
            <a:pPr algn="r"/>
            <a:fld id="{B6F15528-21DE-4FAA-801E-634DDDAF4B2B}" type="slidenum">
              <a:rPr lang="en-US" sz="1200">
                <a:solidFill>
                  <a:srgbClr val="8D99B8"/>
                </a:solidFill>
                <a:latin typeface="Arial"/>
              </a:rPr>
              <a:t>‹#›</a:t>
            </a:fld>
          </a:p>
        </p:txBody>
      </p:sp>
      <p:sp>
        <p:nvSpPr>
          <p:cNvPr id="4" name="Rounded Rectangle 3"/>
          <p:cNvSpPr/>
          <p:nvPr/>
        </p:nvSpPr>
        <p:spPr>
          <a:xfrm>
            <a:off x="822960" y="1463040"/>
            <a:ext cx="10543032" cy="4754880"/>
          </a:xfrm>
          <a:prstGeom prst="roundRect">
            <a:avLst>
              <a:gd name="adj" fmla="val 5000"/>
            </a:avLst>
          </a:prstGeom>
          <a:solidFill>
            <a:srgbClr val="FFFFFF"/>
          </a:solidFill>
          <a:ln>
            <a:noFill/>
          </a:ln>
          <a:effectLst>
            <a:outerShdw blurRad="203200" dist="38100" dir="5400000" algn="t" rotWithShape="0">
              <a:srgbClr val="2A4B9B">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Chart 4"/>
          <p:cNvGraphicFramePr>
            <a:graphicFrameLocks noGrp="1"/>
          </p:cNvGraphicFramePr>
          <p:nvPr/>
        </p:nvGraphicFramePr>
        <p:xfrm>
          <a:off x="1005840" y="1600200"/>
          <a:ext cx="10149840" cy="4526280"/>
        </p:xfrm>
        <a:graphic>
          <a:graphicData uri="http://schemas.openxmlformats.org/drawingml/2006/chart">
            <c:chart xmlns:c="http://schemas.openxmlformats.org/drawingml/2006/chart" r:id="rId3"/>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EDF2FA"/>
        </a:solidFill>
        <a:effectLst/>
      </p:bgPr>
    </p:bg>
    <p:spTree>
      <p:nvGrpSpPr>
        <p:cNvPr id="1" name=""/>
        <p:cNvGrpSpPr/>
        <p:nvPr/>
      </p:nvGrpSpPr>
      <p:grpSpPr/>
      <p:sp>
        <p:nvSpPr>
          <p:cNvPr id="2" name="TextBox 1"/>
          <p:cNvSpPr txBox="1"/>
          <p:nvPr/>
        </p:nvSpPr>
        <p:spPr>
          <a:xfrm>
            <a:off x="822960" y="502920"/>
            <a:ext cx="10058400" cy="731520"/>
          </a:xfrm>
          <a:prstGeom prst="rect">
            <a:avLst/>
          </a:prstGeom>
          <a:noFill/>
        </p:spPr>
        <p:txBody>
          <a:bodyPr wrap="square" lIns="0" rIns="0" tIns="0" bIns="0" anchor="ctr">
            <a:spAutoFit/>
          </a:bodyPr>
          <a:lstStyle/>
          <a:p>
            <a:pPr algn="l">
              <a:spcAft>
                <a:spcPts val="600"/>
              </a:spcAft>
            </a:pPr>
            <a:r>
              <a:rPr sz="3200" b="1" i="0">
                <a:solidFill>
                  <a:srgbClr val="1E2A4A"/>
                </a:solidFill>
                <a:latin typeface="Arial"/>
              </a:rPr>
              <a:t>Đã thử cải thiện những gì</a:t>
            </a:r>
          </a:p>
        </p:txBody>
      </p:sp>
      <p:sp>
        <p:nvSpPr>
          <p:cNvPr id="3" name="TextBox 2"/>
          <p:cNvSpPr txBox="1"/>
          <p:nvPr/>
        </p:nvSpPr>
        <p:spPr>
          <a:xfrm>
            <a:off x="11064240" y="6400800"/>
            <a:ext cx="457200" cy="274320"/>
          </a:xfrm>
          <a:prstGeom prst="rect">
            <a:avLst/>
          </a:prstGeom>
          <a:noFill/>
        </p:spPr>
        <p:txBody>
          <a:bodyPr wrap="none" lIns="0" rIns="0" tIns="0" bIns="0">
            <a:spAutoFit/>
          </a:bodyPr>
          <a:lstStyle/>
          <a:p>
            <a:pPr algn="r"/>
            <a:fld id="{B6F15528-21DE-4FAA-801E-634DDDAF4B2B}" type="slidenum">
              <a:rPr lang="en-US" sz="1200">
                <a:solidFill>
                  <a:srgbClr val="8D99B8"/>
                </a:solidFill>
                <a:latin typeface="Arial"/>
              </a:rPr>
              <a:t>‹#›</a:t>
            </a:fld>
          </a:p>
        </p:txBody>
      </p:sp>
      <p:sp>
        <p:nvSpPr>
          <p:cNvPr id="4" name="Rounded Rectangle 3"/>
          <p:cNvSpPr/>
          <p:nvPr/>
        </p:nvSpPr>
        <p:spPr>
          <a:xfrm>
            <a:off x="822960" y="1463040"/>
            <a:ext cx="10543032" cy="4754880"/>
          </a:xfrm>
          <a:prstGeom prst="roundRect">
            <a:avLst>
              <a:gd name="adj" fmla="val 5000"/>
            </a:avLst>
          </a:prstGeom>
          <a:solidFill>
            <a:srgbClr val="FFFFFF"/>
          </a:solidFill>
          <a:ln>
            <a:noFill/>
          </a:ln>
          <a:effectLst>
            <a:outerShdw blurRad="203200" dist="38100" dir="5400000" algn="t" rotWithShape="0">
              <a:srgbClr val="2A4B9B">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960120" y="1600200"/>
          <a:ext cx="10378440" cy="4443984"/>
        </p:xfrm>
        <a:graphic>
          <a:graphicData uri="http://schemas.openxmlformats.org/drawingml/2006/table">
            <a:tbl>
              <a:tblPr firstRow="1" bandRow="1">
                <a:tableStyleId>{5940675A-B579-460E-94D1-54222C63F5DA}</a:tableStyleId>
              </a:tblPr>
              <a:tblGrid>
                <a:gridCol w="2103120"/>
                <a:gridCol w="3840480"/>
                <a:gridCol w="1600200"/>
                <a:gridCol w="1005840"/>
                <a:gridCol w="1828800"/>
              </a:tblGrid>
              <a:tr h="493776">
                <a:tc>
                  <a:txBody>
                    <a:bodyPr/>
                    <a:lstStyle/>
                    <a:p>
                      <a:pPr algn="l"/>
                      <a:r>
                        <a:rPr sz="1500" b="1">
                          <a:solidFill>
                            <a:srgbClr val="3B6FF0"/>
                          </a:solidFill>
                          <a:latin typeface="Arial"/>
                        </a:rPr>
                        <a:t>Mô hình</a:t>
                      </a:r>
                    </a:p>
                  </a:txBody>
                  <a:tcPr marL="128016" marR="128016" marT="27432" marB="27432" anchor="ctr">
                    <a:lnL w="9525">
                      <a:noFill/>
                    </a:lnL>
                    <a:lnR w="9525">
                      <a:noFill/>
                    </a:lnR>
                    <a:lnT w="9525">
                      <a:noFill/>
                    </a:lnT>
                    <a:lnB w="9525">
                      <a:solidFill>
                        <a:srgbClr val="E6ECF7"/>
                      </a:solidFill>
                    </a:lnB>
                    <a:solidFill>
                      <a:srgbClr val="E3ECFF"/>
                    </a:solidFill>
                  </a:tcPr>
                </a:tc>
                <a:tc>
                  <a:txBody>
                    <a:bodyPr/>
                    <a:lstStyle/>
                    <a:p>
                      <a:pPr algn="l"/>
                      <a:r>
                        <a:rPr sz="1500" b="1">
                          <a:solidFill>
                            <a:srgbClr val="3B6FF0"/>
                          </a:solidFill>
                          <a:latin typeface="Arial"/>
                        </a:rPr>
                        <a:t>Thay đổi so với mặc định</a:t>
                      </a:r>
                    </a:p>
                  </a:txBody>
                  <a:tcPr marL="128016" marR="128016" marT="27432" marB="27432" anchor="ctr">
                    <a:lnL w="9525">
                      <a:noFill/>
                    </a:lnL>
                    <a:lnR w="9525">
                      <a:noFill/>
                    </a:lnR>
                    <a:lnT w="9525">
                      <a:noFill/>
                    </a:lnT>
                    <a:lnB w="9525">
                      <a:solidFill>
                        <a:srgbClr val="E6ECF7"/>
                      </a:solidFill>
                    </a:lnB>
                    <a:solidFill>
                      <a:srgbClr val="E3ECFF"/>
                    </a:solidFill>
                  </a:tcPr>
                </a:tc>
                <a:tc>
                  <a:txBody>
                    <a:bodyPr/>
                    <a:lstStyle/>
                    <a:p>
                      <a:pPr algn="ctr"/>
                      <a:r>
                        <a:rPr sz="1500" b="1">
                          <a:solidFill>
                            <a:srgbClr val="3B6FF0"/>
                          </a:solidFill>
                          <a:latin typeface="Arial"/>
                        </a:rPr>
                        <a:t>Test macro-F1</a:t>
                      </a:r>
                    </a:p>
                  </a:txBody>
                  <a:tcPr marL="128016" marR="128016" marT="27432" marB="27432" anchor="ctr">
                    <a:lnL w="9525">
                      <a:noFill/>
                    </a:lnL>
                    <a:lnR w="9525">
                      <a:noFill/>
                    </a:lnR>
                    <a:lnT w="9525">
                      <a:noFill/>
                    </a:lnT>
                    <a:lnB w="9525">
                      <a:solidFill>
                        <a:srgbClr val="E6ECF7"/>
                      </a:solidFill>
                    </a:lnB>
                    <a:solidFill>
                      <a:srgbClr val="E3ECFF"/>
                    </a:solidFill>
                  </a:tcPr>
                </a:tc>
                <a:tc>
                  <a:txBody>
                    <a:bodyPr/>
                    <a:lstStyle/>
                    <a:p>
                      <a:pPr algn="ctr"/>
                      <a:r>
                        <a:rPr sz="1500" b="1">
                          <a:solidFill>
                            <a:srgbClr val="3B6FF0"/>
                          </a:solidFill>
                          <a:latin typeface="Arial"/>
                        </a:rPr>
                        <a:t>Chênh</a:t>
                      </a:r>
                    </a:p>
                  </a:txBody>
                  <a:tcPr marL="128016" marR="128016" marT="27432" marB="27432" anchor="ctr">
                    <a:lnL w="9525">
                      <a:noFill/>
                    </a:lnL>
                    <a:lnR w="9525">
                      <a:noFill/>
                    </a:lnR>
                    <a:lnT w="9525">
                      <a:noFill/>
                    </a:lnT>
                    <a:lnB w="9525">
                      <a:solidFill>
                        <a:srgbClr val="E6ECF7"/>
                      </a:solidFill>
                    </a:lnB>
                    <a:solidFill>
                      <a:srgbClr val="E3ECFF"/>
                    </a:solidFill>
                  </a:tcPr>
                </a:tc>
                <a:tc>
                  <a:txBody>
                    <a:bodyPr/>
                    <a:lstStyle/>
                    <a:p>
                      <a:pPr algn="ctr"/>
                      <a:r>
                        <a:rPr sz="1500" b="1">
                          <a:solidFill>
                            <a:srgbClr val="3B6FF0"/>
                          </a:solidFill>
                          <a:latin typeface="Arial"/>
                        </a:rPr>
                        <a:t>F1 talk_passenger</a:t>
                      </a:r>
                    </a:p>
                  </a:txBody>
                  <a:tcPr marL="128016" marR="128016" marT="27432" marB="27432" anchor="ctr">
                    <a:lnL w="9525">
                      <a:noFill/>
                    </a:lnL>
                    <a:lnR w="9525">
                      <a:noFill/>
                    </a:lnR>
                    <a:lnT w="9525">
                      <a:noFill/>
                    </a:lnT>
                    <a:lnB w="9525">
                      <a:solidFill>
                        <a:srgbClr val="E6ECF7"/>
                      </a:solidFill>
                    </a:lnB>
                    <a:solidFill>
                      <a:srgbClr val="E3ECFF"/>
                    </a:solidFill>
                  </a:tcPr>
                </a:tc>
              </a:tr>
              <a:tr h="493776">
                <a:tc>
                  <a:txBody>
                    <a:bodyPr/>
                    <a:lstStyle/>
                    <a:p>
                      <a:pPr algn="l"/>
                      <a:r>
                        <a:rPr sz="1500" b="1">
                          <a:solidFill>
                            <a:srgbClr val="1E2A4A"/>
                          </a:solidFill>
                          <a:latin typeface="Arial"/>
                        </a:rPr>
                        <a:t>EfficientNet-Lite0</a:t>
                      </a:r>
                    </a:p>
                  </a:txBody>
                  <a:tcPr marL="128016" marR="128016" marT="27432" marB="27432" anchor="ctr">
                    <a:lnL w="9525">
                      <a:noFill/>
                    </a:lnL>
                    <a:lnR w="9525">
                      <a:noFill/>
                    </a:lnR>
                    <a:lnT w="9525">
                      <a:noFill/>
                    </a:lnT>
                    <a:lnB w="9525">
                      <a:solidFill>
                        <a:srgbClr val="E6ECF7"/>
                      </a:solidFill>
                    </a:lnB>
                    <a:solidFill>
                      <a:srgbClr val="F5F8FF"/>
                    </a:solidFill>
                  </a:tcPr>
                </a:tc>
                <a:tc>
                  <a:txBody>
                    <a:bodyPr/>
                    <a:lstStyle/>
                    <a:p>
                      <a:pPr algn="l"/>
                      <a:r>
                        <a:rPr sz="1500" b="1">
                          <a:solidFill>
                            <a:srgbClr val="1E2A4A"/>
                          </a:solidFill>
                          <a:latin typeface="Arial"/>
                        </a:rPr>
                        <a:t>Mặc định (chạy trên Colab)</a:t>
                      </a:r>
                    </a:p>
                  </a:txBody>
                  <a:tcPr marL="128016" marR="128016" marT="27432" marB="27432" anchor="ctr">
                    <a:lnL w="9525">
                      <a:noFill/>
                    </a:lnL>
                    <a:lnR w="9525">
                      <a:noFill/>
                    </a:lnR>
                    <a:lnT w="9525">
                      <a:noFill/>
                    </a:lnT>
                    <a:lnB w="9525">
                      <a:solidFill>
                        <a:srgbClr val="E6ECF7"/>
                      </a:solidFill>
                    </a:lnB>
                    <a:solidFill>
                      <a:srgbClr val="F5F8FF"/>
                    </a:solidFill>
                  </a:tcPr>
                </a:tc>
                <a:tc>
                  <a:txBody>
                    <a:bodyPr/>
                    <a:lstStyle/>
                    <a:p>
                      <a:pPr algn="ctr"/>
                      <a:r>
                        <a:rPr sz="1500" b="1">
                          <a:solidFill>
                            <a:srgbClr val="1E2A4A"/>
                          </a:solidFill>
                          <a:latin typeface="Arial"/>
                        </a:rPr>
                        <a:t>0,815</a:t>
                      </a:r>
                    </a:p>
                  </a:txBody>
                  <a:tcPr marL="128016" marR="128016" marT="27432" marB="27432" anchor="ctr">
                    <a:lnL w="9525">
                      <a:noFill/>
                    </a:lnL>
                    <a:lnR w="9525">
                      <a:noFill/>
                    </a:lnR>
                    <a:lnT w="9525">
                      <a:noFill/>
                    </a:lnT>
                    <a:lnB w="9525">
                      <a:solidFill>
                        <a:srgbClr val="E6ECF7"/>
                      </a:solidFill>
                    </a:lnB>
                    <a:solidFill>
                      <a:srgbClr val="F5F8FF"/>
                    </a:solidFill>
                  </a:tcPr>
                </a:tc>
                <a:tc>
                  <a:txBody>
                    <a:bodyPr/>
                    <a:lstStyle/>
                    <a:p>
                      <a:pPr algn="ctr"/>
                      <a:r>
                        <a:rPr sz="1500" b="1">
                          <a:solidFill>
                            <a:srgbClr val="1E2A4A"/>
                          </a:solidFill>
                          <a:latin typeface="Arial"/>
                        </a:rPr>
                        <a:t/>
                      </a:r>
                    </a:p>
                  </a:txBody>
                  <a:tcPr marL="128016" marR="128016" marT="27432" marB="27432" anchor="ctr">
                    <a:lnL w="9525">
                      <a:noFill/>
                    </a:lnL>
                    <a:lnR w="9525">
                      <a:noFill/>
                    </a:lnR>
                    <a:lnT w="9525">
                      <a:noFill/>
                    </a:lnT>
                    <a:lnB w="9525">
                      <a:solidFill>
                        <a:srgbClr val="E6ECF7"/>
                      </a:solidFill>
                    </a:lnB>
                    <a:solidFill>
                      <a:srgbClr val="F5F8FF"/>
                    </a:solidFill>
                  </a:tcPr>
                </a:tc>
                <a:tc>
                  <a:txBody>
                    <a:bodyPr/>
                    <a:lstStyle/>
                    <a:p>
                      <a:pPr algn="ctr"/>
                      <a:r>
                        <a:rPr sz="1500" b="1">
                          <a:solidFill>
                            <a:srgbClr val="1E2A4A"/>
                          </a:solidFill>
                          <a:latin typeface="Arial"/>
                        </a:rPr>
                        <a:t>0,416</a:t>
                      </a:r>
                    </a:p>
                  </a:txBody>
                  <a:tcPr marL="128016" marR="128016" marT="27432" marB="27432" anchor="ctr">
                    <a:lnL w="9525">
                      <a:noFill/>
                    </a:lnL>
                    <a:lnR w="9525">
                      <a:noFill/>
                    </a:lnR>
                    <a:lnT w="9525">
                      <a:noFill/>
                    </a:lnT>
                    <a:lnB w="9525">
                      <a:solidFill>
                        <a:srgbClr val="E6ECF7"/>
                      </a:solidFill>
                    </a:lnB>
                    <a:solidFill>
                      <a:srgbClr val="F5F8FF"/>
                    </a:solidFill>
                  </a:tcPr>
                </a:tc>
              </a:tr>
              <a:tr h="493776">
                <a:tc>
                  <a:txBody>
                    <a:bodyPr/>
                    <a:lstStyle/>
                    <a:p>
                      <a:pPr algn="l"/>
                      <a:r>
                        <a:rPr sz="1500" b="1">
                          <a:solidFill>
                            <a:srgbClr val="1E2A4A"/>
                          </a:solidFill>
                          <a:latin typeface="Arial"/>
                        </a:rPr>
                        <a:t/>
                      </a:r>
                    </a:p>
                  </a:txBody>
                  <a:tcPr marL="128016" marR="128016" marT="27432" marB="27432" anchor="ctr">
                    <a:lnL w="9525">
                      <a:noFill/>
                    </a:lnL>
                    <a:lnR w="9525">
                      <a:noFill/>
                    </a:lnR>
                    <a:lnT w="9525">
                      <a:noFill/>
                    </a:lnT>
                    <a:lnB w="9525">
                      <a:solidFill>
                        <a:srgbClr val="E6ECF7"/>
                      </a:solidFill>
                    </a:lnB>
                    <a:solidFill>
                      <a:srgbClr val="FFFFFF"/>
                    </a:solidFill>
                  </a:tcPr>
                </a:tc>
                <a:tc>
                  <a:txBody>
                    <a:bodyPr/>
                    <a:lstStyle/>
                    <a:p>
                      <a:pPr algn="l"/>
                      <a:r>
                        <a:rPr sz="1500" b="0">
                          <a:solidFill>
                            <a:srgbClr val="1E2A4A"/>
                          </a:solidFill>
                          <a:latin typeface="Arial"/>
                        </a:rPr>
                        <a:t>Class weight (lớp ít ảnh nặng hơn)</a:t>
                      </a:r>
                    </a:p>
                  </a:txBody>
                  <a:tcPr marL="128016" marR="128016" marT="27432" marB="27432" anchor="ctr">
                    <a:lnL w="9525">
                      <a:noFill/>
                    </a:lnL>
                    <a:lnR w="9525">
                      <a:noFill/>
                    </a:lnR>
                    <a:lnT w="9525">
                      <a:noFill/>
                    </a:lnT>
                    <a:lnB w="9525">
                      <a:solidFill>
                        <a:srgbClr val="E6ECF7"/>
                      </a:solidFill>
                    </a:lnB>
                    <a:solidFill>
                      <a:srgbClr val="FFFFFF"/>
                    </a:solidFill>
                  </a:tcPr>
                </a:tc>
                <a:tc>
                  <a:txBody>
                    <a:bodyPr/>
                    <a:lstStyle/>
                    <a:p>
                      <a:pPr algn="ctr"/>
                      <a:r>
                        <a:rPr sz="1500" b="0">
                          <a:solidFill>
                            <a:srgbClr val="1E2A4A"/>
                          </a:solidFill>
                          <a:latin typeface="Arial"/>
                        </a:rPr>
                        <a:t>0,800</a:t>
                      </a:r>
                    </a:p>
                  </a:txBody>
                  <a:tcPr marL="128016" marR="128016" marT="27432" marB="27432" anchor="ctr">
                    <a:lnL w="9525">
                      <a:noFill/>
                    </a:lnL>
                    <a:lnR w="9525">
                      <a:noFill/>
                    </a:lnR>
                    <a:lnT w="9525">
                      <a:noFill/>
                    </a:lnT>
                    <a:lnB w="9525">
                      <a:solidFill>
                        <a:srgbClr val="E6ECF7"/>
                      </a:solidFill>
                    </a:lnB>
                    <a:solidFill>
                      <a:srgbClr val="FFFFFF"/>
                    </a:solidFill>
                  </a:tcPr>
                </a:tc>
                <a:tc>
                  <a:txBody>
                    <a:bodyPr/>
                    <a:lstStyle/>
                    <a:p>
                      <a:pPr algn="ctr"/>
                      <a:r>
                        <a:rPr sz="1500" b="0">
                          <a:solidFill>
                            <a:srgbClr val="8E5CF0"/>
                          </a:solidFill>
                          <a:latin typeface="Arial"/>
                        </a:rPr>
                        <a:t>−0,015</a:t>
                      </a:r>
                    </a:p>
                  </a:txBody>
                  <a:tcPr marL="128016" marR="128016" marT="27432" marB="27432" anchor="ctr">
                    <a:lnL w="9525">
                      <a:noFill/>
                    </a:lnL>
                    <a:lnR w="9525">
                      <a:noFill/>
                    </a:lnR>
                    <a:lnT w="9525">
                      <a:noFill/>
                    </a:lnT>
                    <a:lnB w="9525">
                      <a:solidFill>
                        <a:srgbClr val="E6ECF7"/>
                      </a:solidFill>
                    </a:lnB>
                    <a:solidFill>
                      <a:srgbClr val="FFFFFF"/>
                    </a:solidFill>
                  </a:tcPr>
                </a:tc>
                <a:tc>
                  <a:txBody>
                    <a:bodyPr/>
                    <a:lstStyle/>
                    <a:p>
                      <a:pPr algn="ctr"/>
                      <a:r>
                        <a:rPr sz="1500" b="0">
                          <a:solidFill>
                            <a:srgbClr val="1E2A4A"/>
                          </a:solidFill>
                          <a:latin typeface="Arial"/>
                        </a:rPr>
                        <a:t>0,347</a:t>
                      </a:r>
                    </a:p>
                  </a:txBody>
                  <a:tcPr marL="128016" marR="128016" marT="27432" marB="27432" anchor="ctr">
                    <a:lnL w="9525">
                      <a:noFill/>
                    </a:lnL>
                    <a:lnR w="9525">
                      <a:noFill/>
                    </a:lnR>
                    <a:lnT w="9525">
                      <a:noFill/>
                    </a:lnT>
                    <a:lnB w="9525">
                      <a:solidFill>
                        <a:srgbClr val="E6ECF7"/>
                      </a:solidFill>
                    </a:lnB>
                    <a:solidFill>
                      <a:srgbClr val="FFFFFF"/>
                    </a:solidFill>
                  </a:tcPr>
                </a:tc>
              </a:tr>
              <a:tr h="493776">
                <a:tc>
                  <a:txBody>
                    <a:bodyPr/>
                    <a:lstStyle/>
                    <a:p>
                      <a:pPr algn="l"/>
                      <a:r>
                        <a:rPr sz="1500" b="1">
                          <a:solidFill>
                            <a:srgbClr val="1E2A4A"/>
                          </a:solidFill>
                          <a:latin typeface="Arial"/>
                        </a:rPr>
                        <a:t/>
                      </a:r>
                    </a:p>
                  </a:txBody>
                  <a:tcPr marL="128016" marR="128016" marT="27432" marB="27432" anchor="ctr">
                    <a:lnL w="9525">
                      <a:noFill/>
                    </a:lnL>
                    <a:lnR w="9525">
                      <a:noFill/>
                    </a:lnR>
                    <a:lnT w="9525">
                      <a:noFill/>
                    </a:lnT>
                    <a:lnB w="9525">
                      <a:solidFill>
                        <a:srgbClr val="E6ECF7"/>
                      </a:solidFill>
                    </a:lnB>
                    <a:solidFill>
                      <a:srgbClr val="FFFFFF"/>
                    </a:solidFill>
                  </a:tcPr>
                </a:tc>
                <a:tc>
                  <a:txBody>
                    <a:bodyPr/>
                    <a:lstStyle/>
                    <a:p>
                      <a:pPr algn="l"/>
                      <a:r>
                        <a:rPr sz="1500" b="0">
                          <a:solidFill>
                            <a:srgbClr val="1E2A4A"/>
                          </a:solidFill>
                          <a:latin typeface="Arial"/>
                        </a:rPr>
                        <a:t>Sampler cân bằng (lấy lớp ít nhiều hơn)</a:t>
                      </a:r>
                    </a:p>
                  </a:txBody>
                  <a:tcPr marL="128016" marR="128016" marT="27432" marB="27432" anchor="ctr">
                    <a:lnL w="9525">
                      <a:noFill/>
                    </a:lnL>
                    <a:lnR w="9525">
                      <a:noFill/>
                    </a:lnR>
                    <a:lnT w="9525">
                      <a:noFill/>
                    </a:lnT>
                    <a:lnB w="9525">
                      <a:solidFill>
                        <a:srgbClr val="E6ECF7"/>
                      </a:solidFill>
                    </a:lnB>
                    <a:solidFill>
                      <a:srgbClr val="FFFFFF"/>
                    </a:solidFill>
                  </a:tcPr>
                </a:tc>
                <a:tc>
                  <a:txBody>
                    <a:bodyPr/>
                    <a:lstStyle/>
                    <a:p>
                      <a:pPr algn="ctr"/>
                      <a:r>
                        <a:rPr sz="1500" b="0">
                          <a:solidFill>
                            <a:srgbClr val="1E2A4A"/>
                          </a:solidFill>
                          <a:latin typeface="Arial"/>
                        </a:rPr>
                        <a:t>0,785</a:t>
                      </a:r>
                    </a:p>
                  </a:txBody>
                  <a:tcPr marL="128016" marR="128016" marT="27432" marB="27432" anchor="ctr">
                    <a:lnL w="9525">
                      <a:noFill/>
                    </a:lnL>
                    <a:lnR w="9525">
                      <a:noFill/>
                    </a:lnR>
                    <a:lnT w="9525">
                      <a:noFill/>
                    </a:lnT>
                    <a:lnB w="9525">
                      <a:solidFill>
                        <a:srgbClr val="E6ECF7"/>
                      </a:solidFill>
                    </a:lnB>
                    <a:solidFill>
                      <a:srgbClr val="FFFFFF"/>
                    </a:solidFill>
                  </a:tcPr>
                </a:tc>
                <a:tc>
                  <a:txBody>
                    <a:bodyPr/>
                    <a:lstStyle/>
                    <a:p>
                      <a:pPr algn="ctr"/>
                      <a:r>
                        <a:rPr sz="1500" b="0">
                          <a:solidFill>
                            <a:srgbClr val="8E5CF0"/>
                          </a:solidFill>
                          <a:latin typeface="Arial"/>
                        </a:rPr>
                        <a:t>−0,030</a:t>
                      </a:r>
                    </a:p>
                  </a:txBody>
                  <a:tcPr marL="128016" marR="128016" marT="27432" marB="27432" anchor="ctr">
                    <a:lnL w="9525">
                      <a:noFill/>
                    </a:lnL>
                    <a:lnR w="9525">
                      <a:noFill/>
                    </a:lnR>
                    <a:lnT w="9525">
                      <a:noFill/>
                    </a:lnT>
                    <a:lnB w="9525">
                      <a:solidFill>
                        <a:srgbClr val="E6ECF7"/>
                      </a:solidFill>
                    </a:lnB>
                    <a:solidFill>
                      <a:srgbClr val="FFFFFF"/>
                    </a:solidFill>
                  </a:tcPr>
                </a:tc>
                <a:tc>
                  <a:txBody>
                    <a:bodyPr/>
                    <a:lstStyle/>
                    <a:p>
                      <a:pPr algn="ctr"/>
                      <a:r>
                        <a:rPr sz="1500" b="0">
                          <a:solidFill>
                            <a:srgbClr val="1E2A4A"/>
                          </a:solidFill>
                          <a:latin typeface="Arial"/>
                        </a:rPr>
                        <a:t>0,352</a:t>
                      </a:r>
                    </a:p>
                  </a:txBody>
                  <a:tcPr marL="128016" marR="128016" marT="27432" marB="27432" anchor="ctr">
                    <a:lnL w="9525">
                      <a:noFill/>
                    </a:lnL>
                    <a:lnR w="9525">
                      <a:noFill/>
                    </a:lnR>
                    <a:lnT w="9525">
                      <a:noFill/>
                    </a:lnT>
                    <a:lnB w="9525">
                      <a:solidFill>
                        <a:srgbClr val="E6ECF7"/>
                      </a:solidFill>
                    </a:lnB>
                    <a:solidFill>
                      <a:srgbClr val="FFFFFF"/>
                    </a:solidFill>
                  </a:tcPr>
                </a:tc>
              </a:tr>
              <a:tr h="493776">
                <a:tc>
                  <a:txBody>
                    <a:bodyPr/>
                    <a:lstStyle/>
                    <a:p>
                      <a:pPr algn="l"/>
                      <a:r>
                        <a:rPr sz="1500" b="1">
                          <a:solidFill>
                            <a:srgbClr val="1E2A4A"/>
                          </a:solidFill>
                          <a:latin typeface="Arial"/>
                        </a:rPr>
                        <a:t>MobileNetV3-S</a:t>
                      </a:r>
                    </a:p>
                  </a:txBody>
                  <a:tcPr marL="128016" marR="128016" marT="27432" marB="27432" anchor="ctr">
                    <a:lnL w="9525">
                      <a:noFill/>
                    </a:lnL>
                    <a:lnR w="9525">
                      <a:noFill/>
                    </a:lnR>
                    <a:lnT w="9525">
                      <a:noFill/>
                    </a:lnT>
                    <a:lnB w="9525">
                      <a:solidFill>
                        <a:srgbClr val="E6ECF7"/>
                      </a:solidFill>
                    </a:lnB>
                    <a:solidFill>
                      <a:srgbClr val="F5F8FF"/>
                    </a:solidFill>
                  </a:tcPr>
                </a:tc>
                <a:tc>
                  <a:txBody>
                    <a:bodyPr/>
                    <a:lstStyle/>
                    <a:p>
                      <a:pPr algn="l"/>
                      <a:r>
                        <a:rPr sz="1500" b="1">
                          <a:solidFill>
                            <a:srgbClr val="1E2A4A"/>
                          </a:solidFill>
                          <a:latin typeface="Arial"/>
                        </a:rPr>
                        <a:t>Mặc định (lr 0,001, 10 epoch)</a:t>
                      </a:r>
                    </a:p>
                  </a:txBody>
                  <a:tcPr marL="128016" marR="128016" marT="27432" marB="27432" anchor="ctr">
                    <a:lnL w="9525">
                      <a:noFill/>
                    </a:lnL>
                    <a:lnR w="9525">
                      <a:noFill/>
                    </a:lnR>
                    <a:lnT w="9525">
                      <a:noFill/>
                    </a:lnT>
                    <a:lnB w="9525">
                      <a:solidFill>
                        <a:srgbClr val="E6ECF7"/>
                      </a:solidFill>
                    </a:lnB>
                    <a:solidFill>
                      <a:srgbClr val="F5F8FF"/>
                    </a:solidFill>
                  </a:tcPr>
                </a:tc>
                <a:tc>
                  <a:txBody>
                    <a:bodyPr/>
                    <a:lstStyle/>
                    <a:p>
                      <a:pPr algn="ctr"/>
                      <a:r>
                        <a:rPr sz="1500" b="1">
                          <a:solidFill>
                            <a:srgbClr val="1E2A4A"/>
                          </a:solidFill>
                          <a:latin typeface="Arial"/>
                        </a:rPr>
                        <a:t>0,752</a:t>
                      </a:r>
                    </a:p>
                  </a:txBody>
                  <a:tcPr marL="128016" marR="128016" marT="27432" marB="27432" anchor="ctr">
                    <a:lnL w="9525">
                      <a:noFill/>
                    </a:lnL>
                    <a:lnR w="9525">
                      <a:noFill/>
                    </a:lnR>
                    <a:lnT w="9525">
                      <a:noFill/>
                    </a:lnT>
                    <a:lnB w="9525">
                      <a:solidFill>
                        <a:srgbClr val="E6ECF7"/>
                      </a:solidFill>
                    </a:lnB>
                    <a:solidFill>
                      <a:srgbClr val="F5F8FF"/>
                    </a:solidFill>
                  </a:tcPr>
                </a:tc>
                <a:tc>
                  <a:txBody>
                    <a:bodyPr/>
                    <a:lstStyle/>
                    <a:p>
                      <a:pPr algn="ctr"/>
                      <a:r>
                        <a:rPr sz="1500" b="1">
                          <a:solidFill>
                            <a:srgbClr val="1E2A4A"/>
                          </a:solidFill>
                          <a:latin typeface="Arial"/>
                        </a:rPr>
                        <a:t/>
                      </a:r>
                    </a:p>
                  </a:txBody>
                  <a:tcPr marL="128016" marR="128016" marT="27432" marB="27432" anchor="ctr">
                    <a:lnL w="9525">
                      <a:noFill/>
                    </a:lnL>
                    <a:lnR w="9525">
                      <a:noFill/>
                    </a:lnR>
                    <a:lnT w="9525">
                      <a:noFill/>
                    </a:lnT>
                    <a:lnB w="9525">
                      <a:solidFill>
                        <a:srgbClr val="E6ECF7"/>
                      </a:solidFill>
                    </a:lnB>
                    <a:solidFill>
                      <a:srgbClr val="F5F8FF"/>
                    </a:solidFill>
                  </a:tcPr>
                </a:tc>
                <a:tc>
                  <a:txBody>
                    <a:bodyPr/>
                    <a:lstStyle/>
                    <a:p>
                      <a:pPr algn="ctr"/>
                      <a:r>
                        <a:rPr sz="1500" b="1">
                          <a:solidFill>
                            <a:srgbClr val="1E2A4A"/>
                          </a:solidFill>
                          <a:latin typeface="Arial"/>
                        </a:rPr>
                        <a:t>0,391</a:t>
                      </a:r>
                    </a:p>
                  </a:txBody>
                  <a:tcPr marL="128016" marR="128016" marT="27432" marB="27432" anchor="ctr">
                    <a:lnL w="9525">
                      <a:noFill/>
                    </a:lnL>
                    <a:lnR w="9525">
                      <a:noFill/>
                    </a:lnR>
                    <a:lnT w="9525">
                      <a:noFill/>
                    </a:lnT>
                    <a:lnB w="9525">
                      <a:solidFill>
                        <a:srgbClr val="E6ECF7"/>
                      </a:solidFill>
                    </a:lnB>
                    <a:solidFill>
                      <a:srgbClr val="F5F8FF"/>
                    </a:solidFill>
                  </a:tcPr>
                </a:tc>
              </a:tr>
              <a:tr h="493776">
                <a:tc>
                  <a:txBody>
                    <a:bodyPr/>
                    <a:lstStyle/>
                    <a:p>
                      <a:pPr algn="l"/>
                      <a:r>
                        <a:rPr sz="1500" b="1">
                          <a:solidFill>
                            <a:srgbClr val="1E2A4A"/>
                          </a:solidFill>
                          <a:latin typeface="Arial"/>
                        </a:rPr>
                        <a:t/>
                      </a:r>
                    </a:p>
                  </a:txBody>
                  <a:tcPr marL="128016" marR="128016" marT="27432" marB="27432" anchor="ctr">
                    <a:lnL w="9525">
                      <a:noFill/>
                    </a:lnL>
                    <a:lnR w="9525">
                      <a:noFill/>
                    </a:lnR>
                    <a:lnT w="9525">
                      <a:noFill/>
                    </a:lnT>
                    <a:lnB w="9525">
                      <a:solidFill>
                        <a:srgbClr val="E6ECF7"/>
                      </a:solidFill>
                    </a:lnB>
                    <a:solidFill>
                      <a:srgbClr val="FFFFFF"/>
                    </a:solidFill>
                  </a:tcPr>
                </a:tc>
                <a:tc>
                  <a:txBody>
                    <a:bodyPr/>
                    <a:lstStyle/>
                    <a:p>
                      <a:pPr algn="l"/>
                      <a:r>
                        <a:rPr sz="1500" b="0">
                          <a:solidFill>
                            <a:srgbClr val="1E2A4A"/>
                          </a:solidFill>
                          <a:latin typeface="Arial"/>
                        </a:rPr>
                        <a:t>Learning rate 0,0003</a:t>
                      </a:r>
                    </a:p>
                  </a:txBody>
                  <a:tcPr marL="128016" marR="128016" marT="27432" marB="27432" anchor="ctr">
                    <a:lnL w="9525">
                      <a:noFill/>
                    </a:lnL>
                    <a:lnR w="9525">
                      <a:noFill/>
                    </a:lnR>
                    <a:lnT w="9525">
                      <a:noFill/>
                    </a:lnT>
                    <a:lnB w="9525">
                      <a:solidFill>
                        <a:srgbClr val="E6ECF7"/>
                      </a:solidFill>
                    </a:lnB>
                    <a:solidFill>
                      <a:srgbClr val="FFFFFF"/>
                    </a:solidFill>
                  </a:tcPr>
                </a:tc>
                <a:tc>
                  <a:txBody>
                    <a:bodyPr/>
                    <a:lstStyle/>
                    <a:p>
                      <a:pPr algn="ctr"/>
                      <a:r>
                        <a:rPr sz="1500" b="0">
                          <a:solidFill>
                            <a:srgbClr val="1E2A4A"/>
                          </a:solidFill>
                          <a:latin typeface="Arial"/>
                        </a:rPr>
                        <a:t>0,735</a:t>
                      </a:r>
                    </a:p>
                  </a:txBody>
                  <a:tcPr marL="128016" marR="128016" marT="27432" marB="27432" anchor="ctr">
                    <a:lnL w="9525">
                      <a:noFill/>
                    </a:lnL>
                    <a:lnR w="9525">
                      <a:noFill/>
                    </a:lnR>
                    <a:lnT w="9525">
                      <a:noFill/>
                    </a:lnT>
                    <a:lnB w="9525">
                      <a:solidFill>
                        <a:srgbClr val="E6ECF7"/>
                      </a:solidFill>
                    </a:lnB>
                    <a:solidFill>
                      <a:srgbClr val="FFFFFF"/>
                    </a:solidFill>
                  </a:tcPr>
                </a:tc>
                <a:tc>
                  <a:txBody>
                    <a:bodyPr/>
                    <a:lstStyle/>
                    <a:p>
                      <a:pPr algn="ctr"/>
                      <a:r>
                        <a:rPr sz="1500" b="0">
                          <a:solidFill>
                            <a:srgbClr val="8E5CF0"/>
                          </a:solidFill>
                          <a:latin typeface="Arial"/>
                        </a:rPr>
                        <a:t>−0,017</a:t>
                      </a:r>
                    </a:p>
                  </a:txBody>
                  <a:tcPr marL="128016" marR="128016" marT="27432" marB="27432" anchor="ctr">
                    <a:lnL w="9525">
                      <a:noFill/>
                    </a:lnL>
                    <a:lnR w="9525">
                      <a:noFill/>
                    </a:lnR>
                    <a:lnT w="9525">
                      <a:noFill/>
                    </a:lnT>
                    <a:lnB w="9525">
                      <a:solidFill>
                        <a:srgbClr val="E6ECF7"/>
                      </a:solidFill>
                    </a:lnB>
                    <a:solidFill>
                      <a:srgbClr val="FFFFFF"/>
                    </a:solidFill>
                  </a:tcPr>
                </a:tc>
                <a:tc>
                  <a:txBody>
                    <a:bodyPr/>
                    <a:lstStyle/>
                    <a:p>
                      <a:pPr algn="ctr"/>
                      <a:r>
                        <a:rPr sz="1500" b="0">
                          <a:solidFill>
                            <a:srgbClr val="1E2A4A"/>
                          </a:solidFill>
                          <a:latin typeface="Arial"/>
                        </a:rPr>
                        <a:t>0,473</a:t>
                      </a:r>
                    </a:p>
                  </a:txBody>
                  <a:tcPr marL="128016" marR="128016" marT="27432" marB="27432" anchor="ctr">
                    <a:lnL w="9525">
                      <a:noFill/>
                    </a:lnL>
                    <a:lnR w="9525">
                      <a:noFill/>
                    </a:lnR>
                    <a:lnT w="9525">
                      <a:noFill/>
                    </a:lnT>
                    <a:lnB w="9525">
                      <a:solidFill>
                        <a:srgbClr val="E6ECF7"/>
                      </a:solidFill>
                    </a:lnB>
                    <a:solidFill>
                      <a:srgbClr val="FFFFFF"/>
                    </a:solidFill>
                  </a:tcPr>
                </a:tc>
              </a:tr>
              <a:tr h="493776">
                <a:tc>
                  <a:txBody>
                    <a:bodyPr/>
                    <a:lstStyle/>
                    <a:p>
                      <a:pPr algn="l"/>
                      <a:r>
                        <a:rPr sz="1500" b="1">
                          <a:solidFill>
                            <a:srgbClr val="1E2A4A"/>
                          </a:solidFill>
                          <a:latin typeface="Arial"/>
                        </a:rPr>
                        <a:t/>
                      </a:r>
                    </a:p>
                  </a:txBody>
                  <a:tcPr marL="128016" marR="128016" marT="27432" marB="27432" anchor="ctr">
                    <a:lnL w="9525">
                      <a:noFill/>
                    </a:lnL>
                    <a:lnR w="9525">
                      <a:noFill/>
                    </a:lnR>
                    <a:lnT w="9525">
                      <a:noFill/>
                    </a:lnT>
                    <a:lnB w="9525">
                      <a:solidFill>
                        <a:srgbClr val="E6ECF7"/>
                      </a:solidFill>
                    </a:lnB>
                    <a:solidFill>
                      <a:srgbClr val="FFFFFF"/>
                    </a:solidFill>
                  </a:tcPr>
                </a:tc>
                <a:tc>
                  <a:txBody>
                    <a:bodyPr/>
                    <a:lstStyle/>
                    <a:p>
                      <a:pPr algn="l"/>
                      <a:r>
                        <a:rPr sz="1500" b="0">
                          <a:solidFill>
                            <a:srgbClr val="1E2A4A"/>
                          </a:solidFill>
                          <a:latin typeface="Arial"/>
                        </a:rPr>
                        <a:t>Learning rate 0,003</a:t>
                      </a:r>
                    </a:p>
                  </a:txBody>
                  <a:tcPr marL="128016" marR="128016" marT="27432" marB="27432" anchor="ctr">
                    <a:lnL w="9525">
                      <a:noFill/>
                    </a:lnL>
                    <a:lnR w="9525">
                      <a:noFill/>
                    </a:lnR>
                    <a:lnT w="9525">
                      <a:noFill/>
                    </a:lnT>
                    <a:lnB w="9525">
                      <a:solidFill>
                        <a:srgbClr val="E6ECF7"/>
                      </a:solidFill>
                    </a:lnB>
                    <a:solidFill>
                      <a:srgbClr val="FFFFFF"/>
                    </a:solidFill>
                  </a:tcPr>
                </a:tc>
                <a:tc>
                  <a:txBody>
                    <a:bodyPr/>
                    <a:lstStyle/>
                    <a:p>
                      <a:pPr algn="ctr"/>
                      <a:r>
                        <a:rPr sz="1500" b="0">
                          <a:solidFill>
                            <a:srgbClr val="1E2A4A"/>
                          </a:solidFill>
                          <a:latin typeface="Arial"/>
                        </a:rPr>
                        <a:t>0,744</a:t>
                      </a:r>
                    </a:p>
                  </a:txBody>
                  <a:tcPr marL="128016" marR="128016" marT="27432" marB="27432" anchor="ctr">
                    <a:lnL w="9525">
                      <a:noFill/>
                    </a:lnL>
                    <a:lnR w="9525">
                      <a:noFill/>
                    </a:lnR>
                    <a:lnT w="9525">
                      <a:noFill/>
                    </a:lnT>
                    <a:lnB w="9525">
                      <a:solidFill>
                        <a:srgbClr val="E6ECF7"/>
                      </a:solidFill>
                    </a:lnB>
                    <a:solidFill>
                      <a:srgbClr val="FFFFFF"/>
                    </a:solidFill>
                  </a:tcPr>
                </a:tc>
                <a:tc>
                  <a:txBody>
                    <a:bodyPr/>
                    <a:lstStyle/>
                    <a:p>
                      <a:pPr algn="ctr"/>
                      <a:r>
                        <a:rPr sz="1500" b="0">
                          <a:solidFill>
                            <a:srgbClr val="8E5CF0"/>
                          </a:solidFill>
                          <a:latin typeface="Arial"/>
                        </a:rPr>
                        <a:t>−0,008</a:t>
                      </a:r>
                    </a:p>
                  </a:txBody>
                  <a:tcPr marL="128016" marR="128016" marT="27432" marB="27432" anchor="ctr">
                    <a:lnL w="9525">
                      <a:noFill/>
                    </a:lnL>
                    <a:lnR w="9525">
                      <a:noFill/>
                    </a:lnR>
                    <a:lnT w="9525">
                      <a:noFill/>
                    </a:lnT>
                    <a:lnB w="9525">
                      <a:solidFill>
                        <a:srgbClr val="E6ECF7"/>
                      </a:solidFill>
                    </a:lnB>
                    <a:solidFill>
                      <a:srgbClr val="FFFFFF"/>
                    </a:solidFill>
                  </a:tcPr>
                </a:tc>
                <a:tc>
                  <a:txBody>
                    <a:bodyPr/>
                    <a:lstStyle/>
                    <a:p>
                      <a:pPr algn="ctr"/>
                      <a:r>
                        <a:rPr sz="1500" b="0">
                          <a:solidFill>
                            <a:srgbClr val="1E2A4A"/>
                          </a:solidFill>
                          <a:latin typeface="Arial"/>
                        </a:rPr>
                        <a:t>0,470</a:t>
                      </a:r>
                    </a:p>
                  </a:txBody>
                  <a:tcPr marL="128016" marR="128016" marT="27432" marB="27432" anchor="ctr">
                    <a:lnL w="9525">
                      <a:noFill/>
                    </a:lnL>
                    <a:lnR w="9525">
                      <a:noFill/>
                    </a:lnR>
                    <a:lnT w="9525">
                      <a:noFill/>
                    </a:lnT>
                    <a:lnB w="9525">
                      <a:solidFill>
                        <a:srgbClr val="E6ECF7"/>
                      </a:solidFill>
                    </a:lnB>
                    <a:solidFill>
                      <a:srgbClr val="FFFFFF"/>
                    </a:solidFill>
                  </a:tcPr>
                </a:tc>
              </a:tr>
              <a:tr h="493776">
                <a:tc>
                  <a:txBody>
                    <a:bodyPr/>
                    <a:lstStyle/>
                    <a:p>
                      <a:pPr algn="l"/>
                      <a:r>
                        <a:rPr sz="1500" b="1">
                          <a:solidFill>
                            <a:srgbClr val="1E2A4A"/>
                          </a:solidFill>
                          <a:latin typeface="Arial"/>
                        </a:rPr>
                        <a:t/>
                      </a:r>
                    </a:p>
                  </a:txBody>
                  <a:tcPr marL="128016" marR="128016" marT="27432" marB="27432" anchor="ctr">
                    <a:lnL w="9525">
                      <a:noFill/>
                    </a:lnL>
                    <a:lnR w="9525">
                      <a:noFill/>
                    </a:lnR>
                    <a:lnT w="9525">
                      <a:noFill/>
                    </a:lnT>
                    <a:lnB w="9525">
                      <a:solidFill>
                        <a:srgbClr val="E6ECF7"/>
                      </a:solidFill>
                    </a:lnB>
                    <a:solidFill>
                      <a:srgbClr val="FFFFFF"/>
                    </a:solidFill>
                  </a:tcPr>
                </a:tc>
                <a:tc>
                  <a:txBody>
                    <a:bodyPr/>
                    <a:lstStyle/>
                    <a:p>
                      <a:pPr algn="l"/>
                      <a:r>
                        <a:rPr sz="1500" b="0">
                          <a:solidFill>
                            <a:srgbClr val="1E2A4A"/>
                          </a:solidFill>
                          <a:latin typeface="Arial"/>
                        </a:rPr>
                        <a:t>Weight decay 0,01</a:t>
                      </a:r>
                    </a:p>
                  </a:txBody>
                  <a:tcPr marL="128016" marR="128016" marT="27432" marB="27432" anchor="ctr">
                    <a:lnL w="9525">
                      <a:noFill/>
                    </a:lnL>
                    <a:lnR w="9525">
                      <a:noFill/>
                    </a:lnR>
                    <a:lnT w="9525">
                      <a:noFill/>
                    </a:lnT>
                    <a:lnB w="9525">
                      <a:solidFill>
                        <a:srgbClr val="E6ECF7"/>
                      </a:solidFill>
                    </a:lnB>
                    <a:solidFill>
                      <a:srgbClr val="FFFFFF"/>
                    </a:solidFill>
                  </a:tcPr>
                </a:tc>
                <a:tc>
                  <a:txBody>
                    <a:bodyPr/>
                    <a:lstStyle/>
                    <a:p>
                      <a:pPr algn="ctr"/>
                      <a:r>
                        <a:rPr sz="1500" b="0">
                          <a:solidFill>
                            <a:srgbClr val="1E2A4A"/>
                          </a:solidFill>
                          <a:latin typeface="Arial"/>
                        </a:rPr>
                        <a:t>0,741</a:t>
                      </a:r>
                    </a:p>
                  </a:txBody>
                  <a:tcPr marL="128016" marR="128016" marT="27432" marB="27432" anchor="ctr">
                    <a:lnL w="9525">
                      <a:noFill/>
                    </a:lnL>
                    <a:lnR w="9525">
                      <a:noFill/>
                    </a:lnR>
                    <a:lnT w="9525">
                      <a:noFill/>
                    </a:lnT>
                    <a:lnB w="9525">
                      <a:solidFill>
                        <a:srgbClr val="E6ECF7"/>
                      </a:solidFill>
                    </a:lnB>
                    <a:solidFill>
                      <a:srgbClr val="FFFFFF"/>
                    </a:solidFill>
                  </a:tcPr>
                </a:tc>
                <a:tc>
                  <a:txBody>
                    <a:bodyPr/>
                    <a:lstStyle/>
                    <a:p>
                      <a:pPr algn="ctr"/>
                      <a:r>
                        <a:rPr sz="1500" b="0">
                          <a:solidFill>
                            <a:srgbClr val="8E5CF0"/>
                          </a:solidFill>
                          <a:latin typeface="Arial"/>
                        </a:rPr>
                        <a:t>−0,011</a:t>
                      </a:r>
                    </a:p>
                  </a:txBody>
                  <a:tcPr marL="128016" marR="128016" marT="27432" marB="27432" anchor="ctr">
                    <a:lnL w="9525">
                      <a:noFill/>
                    </a:lnL>
                    <a:lnR w="9525">
                      <a:noFill/>
                    </a:lnR>
                    <a:lnT w="9525">
                      <a:noFill/>
                    </a:lnT>
                    <a:lnB w="9525">
                      <a:solidFill>
                        <a:srgbClr val="E6ECF7"/>
                      </a:solidFill>
                    </a:lnB>
                    <a:solidFill>
                      <a:srgbClr val="FFFFFF"/>
                    </a:solidFill>
                  </a:tcPr>
                </a:tc>
                <a:tc>
                  <a:txBody>
                    <a:bodyPr/>
                    <a:lstStyle/>
                    <a:p>
                      <a:pPr algn="ctr"/>
                      <a:r>
                        <a:rPr sz="1500" b="0">
                          <a:solidFill>
                            <a:srgbClr val="1E2A4A"/>
                          </a:solidFill>
                          <a:latin typeface="Arial"/>
                        </a:rPr>
                        <a:t>0,458</a:t>
                      </a:r>
                    </a:p>
                  </a:txBody>
                  <a:tcPr marL="128016" marR="128016" marT="27432" marB="27432" anchor="ctr">
                    <a:lnL w="9525">
                      <a:noFill/>
                    </a:lnL>
                    <a:lnR w="9525">
                      <a:noFill/>
                    </a:lnR>
                    <a:lnT w="9525">
                      <a:noFill/>
                    </a:lnT>
                    <a:lnB w="9525">
                      <a:solidFill>
                        <a:srgbClr val="E6ECF7"/>
                      </a:solidFill>
                    </a:lnB>
                    <a:solidFill>
                      <a:srgbClr val="FFFFFF"/>
                    </a:solidFill>
                  </a:tcPr>
                </a:tc>
              </a:tr>
              <a:tr h="493776">
                <a:tc>
                  <a:txBody>
                    <a:bodyPr/>
                    <a:lstStyle/>
                    <a:p>
                      <a:pPr algn="l"/>
                      <a:r>
                        <a:rPr sz="1500" b="1">
                          <a:solidFill>
                            <a:srgbClr val="1E2A4A"/>
                          </a:solidFill>
                          <a:latin typeface="Arial"/>
                        </a:rPr>
                        <a:t/>
                      </a:r>
                    </a:p>
                  </a:txBody>
                  <a:tcPr marL="128016" marR="128016" marT="27432" marB="27432" anchor="ctr">
                    <a:lnL w="9525">
                      <a:noFill/>
                    </a:lnL>
                    <a:lnR w="9525">
                      <a:noFill/>
                    </a:lnR>
                    <a:lnT w="9525">
                      <a:noFill/>
                    </a:lnT>
                    <a:lnB w="9525">
                      <a:solidFill>
                        <a:srgbClr val="E6ECF7"/>
                      </a:solidFill>
                    </a:lnB>
                    <a:solidFill>
                      <a:srgbClr val="FFFFFF"/>
                    </a:solidFill>
                  </a:tcPr>
                </a:tc>
                <a:tc>
                  <a:txBody>
                    <a:bodyPr/>
                    <a:lstStyle/>
                    <a:p>
                      <a:pPr algn="l"/>
                      <a:r>
                        <a:rPr sz="1500" b="0">
                          <a:solidFill>
                            <a:srgbClr val="1E2A4A"/>
                          </a:solidFill>
                          <a:latin typeface="Arial"/>
                        </a:rPr>
                        <a:t>Train 20 epoch thay vì 10</a:t>
                      </a:r>
                    </a:p>
                  </a:txBody>
                  <a:tcPr marL="128016" marR="128016" marT="27432" marB="27432" anchor="ctr">
                    <a:lnL w="9525">
                      <a:noFill/>
                    </a:lnL>
                    <a:lnR w="9525">
                      <a:noFill/>
                    </a:lnR>
                    <a:lnT w="9525">
                      <a:noFill/>
                    </a:lnT>
                    <a:lnB w="9525">
                      <a:solidFill>
                        <a:srgbClr val="E6ECF7"/>
                      </a:solidFill>
                    </a:lnB>
                    <a:solidFill>
                      <a:srgbClr val="FFFFFF"/>
                    </a:solidFill>
                  </a:tcPr>
                </a:tc>
                <a:tc>
                  <a:txBody>
                    <a:bodyPr/>
                    <a:lstStyle/>
                    <a:p>
                      <a:pPr algn="ctr"/>
                      <a:r>
                        <a:rPr sz="1500" b="0">
                          <a:solidFill>
                            <a:srgbClr val="1E2A4A"/>
                          </a:solidFill>
                          <a:latin typeface="Arial"/>
                        </a:rPr>
                        <a:t>0,768</a:t>
                      </a:r>
                    </a:p>
                  </a:txBody>
                  <a:tcPr marL="128016" marR="128016" marT="27432" marB="27432" anchor="ctr">
                    <a:lnL w="9525">
                      <a:noFill/>
                    </a:lnL>
                    <a:lnR w="9525">
                      <a:noFill/>
                    </a:lnR>
                    <a:lnT w="9525">
                      <a:noFill/>
                    </a:lnT>
                    <a:lnB w="9525">
                      <a:solidFill>
                        <a:srgbClr val="E6ECF7"/>
                      </a:solidFill>
                    </a:lnB>
                    <a:solidFill>
                      <a:srgbClr val="FFFFFF"/>
                    </a:solidFill>
                  </a:tcPr>
                </a:tc>
                <a:tc>
                  <a:txBody>
                    <a:bodyPr/>
                    <a:lstStyle/>
                    <a:p>
                      <a:pPr algn="ctr"/>
                      <a:r>
                        <a:rPr sz="1500" b="0">
                          <a:solidFill>
                            <a:srgbClr val="3B6FF0"/>
                          </a:solidFill>
                          <a:latin typeface="Arial"/>
                        </a:rPr>
                        <a:t>+0,016</a:t>
                      </a:r>
                    </a:p>
                  </a:txBody>
                  <a:tcPr marL="128016" marR="128016" marT="27432" marB="27432" anchor="ctr">
                    <a:lnL w="9525">
                      <a:noFill/>
                    </a:lnL>
                    <a:lnR w="9525">
                      <a:noFill/>
                    </a:lnR>
                    <a:lnT w="9525">
                      <a:noFill/>
                    </a:lnT>
                    <a:lnB w="9525">
                      <a:solidFill>
                        <a:srgbClr val="E6ECF7"/>
                      </a:solidFill>
                    </a:lnB>
                    <a:solidFill>
                      <a:srgbClr val="FFFFFF"/>
                    </a:solidFill>
                  </a:tcPr>
                </a:tc>
                <a:tc>
                  <a:txBody>
                    <a:bodyPr/>
                    <a:lstStyle/>
                    <a:p>
                      <a:pPr algn="ctr"/>
                      <a:r>
                        <a:rPr sz="1500" b="0">
                          <a:solidFill>
                            <a:srgbClr val="1E2A4A"/>
                          </a:solidFill>
                          <a:latin typeface="Arial"/>
                        </a:rPr>
                        <a:t>0,402</a:t>
                      </a:r>
                    </a:p>
                  </a:txBody>
                  <a:tcPr marL="128016" marR="128016" marT="27432" marB="27432" anchor="ctr">
                    <a:lnL w="9525">
                      <a:noFill/>
                    </a:lnL>
                    <a:lnR w="9525">
                      <a:noFill/>
                    </a:lnR>
                    <a:lnT w="9525">
                      <a:noFill/>
                    </a:lnT>
                    <a:lnB w="9525">
                      <a:solidFill>
                        <a:srgbClr val="E6ECF7"/>
                      </a:solidFill>
                    </a:lnB>
                    <a:solidFill>
                      <a:srgbClr val="FFFF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EDF2FA"/>
        </a:solidFill>
        <a:effectLst/>
      </p:bgPr>
    </p:bg>
    <p:spTree>
      <p:nvGrpSpPr>
        <p:cNvPr id="1" name=""/>
        <p:cNvGrpSpPr/>
        <p:nvPr/>
      </p:nvGrpSpPr>
      <p:grpSpPr/>
      <p:sp>
        <p:nvSpPr>
          <p:cNvPr id="2" name="TextBox 1"/>
          <p:cNvSpPr txBox="1"/>
          <p:nvPr/>
        </p:nvSpPr>
        <p:spPr>
          <a:xfrm>
            <a:off x="822960" y="502920"/>
            <a:ext cx="10058400" cy="731520"/>
          </a:xfrm>
          <a:prstGeom prst="rect">
            <a:avLst/>
          </a:prstGeom>
          <a:noFill/>
        </p:spPr>
        <p:txBody>
          <a:bodyPr wrap="square" lIns="0" rIns="0" tIns="0" bIns="0" anchor="ctr">
            <a:spAutoFit/>
          </a:bodyPr>
          <a:lstStyle/>
          <a:p>
            <a:pPr algn="l">
              <a:spcAft>
                <a:spcPts val="600"/>
              </a:spcAft>
            </a:pPr>
            <a:r>
              <a:rPr sz="3200" b="1" i="0">
                <a:solidFill>
                  <a:srgbClr val="1E2A4A"/>
                </a:solidFill>
                <a:latin typeface="Arial"/>
              </a:rPr>
              <a:t>Từ mô hình huấn luyện đến mô hình edge</a:t>
            </a:r>
          </a:p>
        </p:txBody>
      </p:sp>
      <p:sp>
        <p:nvSpPr>
          <p:cNvPr id="3" name="TextBox 2"/>
          <p:cNvSpPr txBox="1"/>
          <p:nvPr/>
        </p:nvSpPr>
        <p:spPr>
          <a:xfrm>
            <a:off x="11064240" y="6400800"/>
            <a:ext cx="457200" cy="274320"/>
          </a:xfrm>
          <a:prstGeom prst="rect">
            <a:avLst/>
          </a:prstGeom>
          <a:noFill/>
        </p:spPr>
        <p:txBody>
          <a:bodyPr wrap="none" lIns="0" rIns="0" tIns="0" bIns="0">
            <a:spAutoFit/>
          </a:bodyPr>
          <a:lstStyle/>
          <a:p>
            <a:pPr algn="r"/>
            <a:fld id="{B6F15528-21DE-4FAA-801E-634DDDAF4B2B}" type="slidenum">
              <a:rPr lang="en-US" sz="1200">
                <a:solidFill>
                  <a:srgbClr val="8D99B8"/>
                </a:solidFill>
                <a:latin typeface="Arial"/>
              </a:rPr>
              <a:t>‹#›</a:t>
            </a:fld>
          </a:p>
        </p:txBody>
      </p:sp>
      <p:sp>
        <p:nvSpPr>
          <p:cNvPr id="4" name="Rounded Rectangle 3"/>
          <p:cNvSpPr/>
          <p:nvPr/>
        </p:nvSpPr>
        <p:spPr>
          <a:xfrm>
            <a:off x="822960" y="1828800"/>
            <a:ext cx="2423160" cy="3291840"/>
          </a:xfrm>
          <a:prstGeom prst="roundRect">
            <a:avLst>
              <a:gd name="adj" fmla="val 5000"/>
            </a:avLst>
          </a:prstGeom>
          <a:solidFill>
            <a:srgbClr val="FFFFFF"/>
          </a:solidFill>
          <a:ln>
            <a:noFill/>
          </a:ln>
          <a:effectLst>
            <a:outerShdw blurRad="203200" dist="38100" dir="5400000" algn="t" rotWithShape="0">
              <a:srgbClr val="2A4B9B">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103120"/>
            <a:ext cx="822960" cy="548640"/>
          </a:xfrm>
          <a:prstGeom prst="rect">
            <a:avLst/>
          </a:prstGeom>
          <a:noFill/>
        </p:spPr>
        <p:txBody>
          <a:bodyPr wrap="square" lIns="0" rIns="0" tIns="0" bIns="0" anchor="t">
            <a:spAutoFit/>
          </a:bodyPr>
          <a:lstStyle/>
          <a:p>
            <a:pPr algn="l">
              <a:spcAft>
                <a:spcPts val="600"/>
              </a:spcAft>
            </a:pPr>
            <a:r>
              <a:rPr sz="3600" b="1" i="0">
                <a:solidFill>
                  <a:srgbClr val="3B6FF0"/>
                </a:solidFill>
                <a:latin typeface="Arial"/>
              </a:rPr>
              <a:t>01</a:t>
            </a:r>
          </a:p>
        </p:txBody>
      </p:sp>
      <p:sp>
        <p:nvSpPr>
          <p:cNvPr id="6" name="TextBox 5"/>
          <p:cNvSpPr txBox="1"/>
          <p:nvPr/>
        </p:nvSpPr>
        <p:spPr>
          <a:xfrm>
            <a:off x="1143000" y="3017520"/>
            <a:ext cx="1828800" cy="822960"/>
          </a:xfrm>
          <a:prstGeom prst="rect">
            <a:avLst/>
          </a:prstGeom>
          <a:noFill/>
        </p:spPr>
        <p:txBody>
          <a:bodyPr wrap="square" lIns="0" rIns="0" tIns="0" bIns="0" anchor="t">
            <a:spAutoFit/>
          </a:bodyPr>
          <a:lstStyle/>
          <a:p>
            <a:pPr algn="l">
              <a:spcAft>
                <a:spcPts val="600"/>
              </a:spcAft>
            </a:pPr>
            <a:r>
              <a:rPr sz="1900" b="1" i="0">
                <a:solidFill>
                  <a:srgbClr val="1E2A4A"/>
                </a:solidFill>
                <a:latin typeface="Arial"/>
              </a:rPr>
              <a:t>Mô hình huấn luyện</a:t>
            </a:r>
          </a:p>
        </p:txBody>
      </p:sp>
      <p:sp>
        <p:nvSpPr>
          <p:cNvPr id="7" name="TextBox 6"/>
          <p:cNvSpPr txBox="1"/>
          <p:nvPr/>
        </p:nvSpPr>
        <p:spPr>
          <a:xfrm>
            <a:off x="1143000" y="3931920"/>
            <a:ext cx="1828800" cy="1005840"/>
          </a:xfrm>
          <a:prstGeom prst="rect">
            <a:avLst/>
          </a:prstGeom>
          <a:noFill/>
        </p:spPr>
        <p:txBody>
          <a:bodyPr wrap="square" lIns="0" rIns="0" tIns="0" bIns="0" anchor="t">
            <a:spAutoFit/>
          </a:bodyPr>
          <a:lstStyle/>
          <a:p>
            <a:pPr algn="l">
              <a:spcAft>
                <a:spcPts val="600"/>
              </a:spcAft>
            </a:pPr>
            <a:r>
              <a:rPr sz="1500" b="0" i="0">
                <a:solidFill>
                  <a:srgbClr val="56648A"/>
                </a:solidFill>
                <a:latin typeface="Arial"/>
              </a:rPr>
              <a:t>FP32, chạy trên GPU</a:t>
            </a:r>
          </a:p>
        </p:txBody>
      </p:sp>
      <p:sp>
        <p:nvSpPr>
          <p:cNvPr id="8" name="Chevron 7"/>
          <p:cNvSpPr/>
          <p:nvPr/>
        </p:nvSpPr>
        <p:spPr>
          <a:xfrm>
            <a:off x="3310128" y="3291840"/>
            <a:ext cx="182880" cy="411480"/>
          </a:xfrm>
          <a:prstGeom prst="chevron">
            <a:avLst/>
          </a:prstGeom>
          <a:solidFill>
            <a:srgbClr val="3B6F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566160" y="1828800"/>
            <a:ext cx="2423160" cy="3291840"/>
          </a:xfrm>
          <a:prstGeom prst="roundRect">
            <a:avLst>
              <a:gd name="adj" fmla="val 5000"/>
            </a:avLst>
          </a:prstGeom>
          <a:solidFill>
            <a:srgbClr val="FFFFFF"/>
          </a:solidFill>
          <a:ln>
            <a:noFill/>
          </a:ln>
          <a:effectLst>
            <a:outerShdw blurRad="203200" dist="38100" dir="5400000" algn="t" rotWithShape="0">
              <a:srgbClr val="2A4B9B">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86200" y="2103120"/>
            <a:ext cx="822960" cy="548640"/>
          </a:xfrm>
          <a:prstGeom prst="rect">
            <a:avLst/>
          </a:prstGeom>
          <a:noFill/>
        </p:spPr>
        <p:txBody>
          <a:bodyPr wrap="square" lIns="0" rIns="0" tIns="0" bIns="0" anchor="t">
            <a:spAutoFit/>
          </a:bodyPr>
          <a:lstStyle/>
          <a:p>
            <a:pPr algn="l">
              <a:spcAft>
                <a:spcPts val="600"/>
              </a:spcAft>
            </a:pPr>
            <a:r>
              <a:rPr sz="3600" b="1" i="0">
                <a:solidFill>
                  <a:srgbClr val="0E9AC4"/>
                </a:solidFill>
                <a:latin typeface="Arial"/>
              </a:rPr>
              <a:t>02</a:t>
            </a:r>
          </a:p>
        </p:txBody>
      </p:sp>
      <p:sp>
        <p:nvSpPr>
          <p:cNvPr id="11" name="TextBox 10"/>
          <p:cNvSpPr txBox="1"/>
          <p:nvPr/>
        </p:nvSpPr>
        <p:spPr>
          <a:xfrm>
            <a:off x="3886200" y="3017520"/>
            <a:ext cx="1828800" cy="822960"/>
          </a:xfrm>
          <a:prstGeom prst="rect">
            <a:avLst/>
          </a:prstGeom>
          <a:noFill/>
        </p:spPr>
        <p:txBody>
          <a:bodyPr wrap="square" lIns="0" rIns="0" tIns="0" bIns="0" anchor="t">
            <a:spAutoFit/>
          </a:bodyPr>
          <a:lstStyle/>
          <a:p>
            <a:pPr algn="l">
              <a:spcAft>
                <a:spcPts val="600"/>
              </a:spcAft>
            </a:pPr>
            <a:r>
              <a:rPr sz="1900" b="1" i="0">
                <a:solidFill>
                  <a:srgbClr val="1E2A4A"/>
                </a:solidFill>
                <a:latin typeface="Arial"/>
              </a:rPr>
              <a:t>Chọn mô hình nhỏ</a:t>
            </a:r>
          </a:p>
        </p:txBody>
      </p:sp>
      <p:sp>
        <p:nvSpPr>
          <p:cNvPr id="12" name="TextBox 11"/>
          <p:cNvSpPr txBox="1"/>
          <p:nvPr/>
        </p:nvSpPr>
        <p:spPr>
          <a:xfrm>
            <a:off x="3886200" y="3931920"/>
            <a:ext cx="1828800" cy="1005840"/>
          </a:xfrm>
          <a:prstGeom prst="rect">
            <a:avLst/>
          </a:prstGeom>
          <a:noFill/>
        </p:spPr>
        <p:txBody>
          <a:bodyPr wrap="square" lIns="0" rIns="0" tIns="0" bIns="0" anchor="t">
            <a:spAutoFit/>
          </a:bodyPr>
          <a:lstStyle/>
          <a:p>
            <a:pPr algn="l">
              <a:spcAft>
                <a:spcPts val="600"/>
              </a:spcAft>
            </a:pPr>
            <a:r>
              <a:rPr sz="1500" b="0" i="0">
                <a:solidFill>
                  <a:srgbClr val="56648A"/>
                </a:solidFill>
                <a:latin typeface="Arial"/>
              </a:rPr>
              <a:t>Ít tham số, ít phép tính</a:t>
            </a:r>
          </a:p>
        </p:txBody>
      </p:sp>
      <p:sp>
        <p:nvSpPr>
          <p:cNvPr id="13" name="Chevron 12"/>
          <p:cNvSpPr/>
          <p:nvPr/>
        </p:nvSpPr>
        <p:spPr>
          <a:xfrm>
            <a:off x="6053328" y="3291840"/>
            <a:ext cx="182880" cy="411480"/>
          </a:xfrm>
          <a:prstGeom prst="chevron">
            <a:avLst/>
          </a:prstGeom>
          <a:solidFill>
            <a:srgbClr val="0E9A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309360" y="1828800"/>
            <a:ext cx="2423160" cy="3291840"/>
          </a:xfrm>
          <a:prstGeom prst="roundRect">
            <a:avLst>
              <a:gd name="adj" fmla="val 5000"/>
            </a:avLst>
          </a:prstGeom>
          <a:solidFill>
            <a:srgbClr val="FFFFFF"/>
          </a:solidFill>
          <a:ln>
            <a:noFill/>
          </a:ln>
          <a:effectLst>
            <a:outerShdw blurRad="203200" dist="38100" dir="5400000" algn="t" rotWithShape="0">
              <a:srgbClr val="2A4B9B">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29400" y="2103120"/>
            <a:ext cx="822960" cy="548640"/>
          </a:xfrm>
          <a:prstGeom prst="rect">
            <a:avLst/>
          </a:prstGeom>
          <a:noFill/>
        </p:spPr>
        <p:txBody>
          <a:bodyPr wrap="square" lIns="0" rIns="0" tIns="0" bIns="0" anchor="t">
            <a:spAutoFit/>
          </a:bodyPr>
          <a:lstStyle/>
          <a:p>
            <a:pPr algn="l">
              <a:spcAft>
                <a:spcPts val="600"/>
              </a:spcAft>
            </a:pPr>
            <a:r>
              <a:rPr sz="3600" b="1" i="0">
                <a:solidFill>
                  <a:srgbClr val="5B5CE0"/>
                </a:solidFill>
                <a:latin typeface="Arial"/>
              </a:rPr>
              <a:t>03</a:t>
            </a:r>
          </a:p>
        </p:txBody>
      </p:sp>
      <p:sp>
        <p:nvSpPr>
          <p:cNvPr id="16" name="TextBox 15"/>
          <p:cNvSpPr txBox="1"/>
          <p:nvPr/>
        </p:nvSpPr>
        <p:spPr>
          <a:xfrm>
            <a:off x="6629400" y="3017520"/>
            <a:ext cx="1828800" cy="822960"/>
          </a:xfrm>
          <a:prstGeom prst="rect">
            <a:avLst/>
          </a:prstGeom>
          <a:noFill/>
        </p:spPr>
        <p:txBody>
          <a:bodyPr wrap="square" lIns="0" rIns="0" tIns="0" bIns="0" anchor="t">
            <a:spAutoFit/>
          </a:bodyPr>
          <a:lstStyle/>
          <a:p>
            <a:pPr algn="l">
              <a:spcAft>
                <a:spcPts val="600"/>
              </a:spcAft>
            </a:pPr>
            <a:r>
              <a:rPr sz="1900" b="1" i="0">
                <a:solidFill>
                  <a:srgbClr val="1E2A4A"/>
                </a:solidFill>
                <a:latin typeface="Arial"/>
              </a:rPr>
              <a:t>Lượng tử hoá INT8</a:t>
            </a:r>
          </a:p>
        </p:txBody>
      </p:sp>
      <p:sp>
        <p:nvSpPr>
          <p:cNvPr id="17" name="TextBox 16"/>
          <p:cNvSpPr txBox="1"/>
          <p:nvPr/>
        </p:nvSpPr>
        <p:spPr>
          <a:xfrm>
            <a:off x="6629400" y="3931920"/>
            <a:ext cx="1828800" cy="1005840"/>
          </a:xfrm>
          <a:prstGeom prst="rect">
            <a:avLst/>
          </a:prstGeom>
          <a:noFill/>
        </p:spPr>
        <p:txBody>
          <a:bodyPr wrap="square" lIns="0" rIns="0" tIns="0" bIns="0" anchor="t">
            <a:spAutoFit/>
          </a:bodyPr>
          <a:lstStyle/>
          <a:p>
            <a:pPr algn="l">
              <a:spcAft>
                <a:spcPts val="600"/>
              </a:spcAft>
            </a:pPr>
            <a:r>
              <a:rPr sz="1500" b="0" i="0">
                <a:solidFill>
                  <a:srgbClr val="56648A"/>
                </a:solidFill>
                <a:latin typeface="Arial"/>
              </a:rPr>
              <a:t>Số nguyên 8 bit, nhỏ hơn khoảng 4 lần</a:t>
            </a:r>
          </a:p>
        </p:txBody>
      </p:sp>
      <p:sp>
        <p:nvSpPr>
          <p:cNvPr id="18" name="Chevron 17"/>
          <p:cNvSpPr/>
          <p:nvPr/>
        </p:nvSpPr>
        <p:spPr>
          <a:xfrm>
            <a:off x="8796528" y="3291840"/>
            <a:ext cx="182880" cy="411480"/>
          </a:xfrm>
          <a:prstGeom prst="chevron">
            <a:avLst/>
          </a:prstGeom>
          <a:solidFill>
            <a:srgbClr val="5B5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052560" y="1828800"/>
            <a:ext cx="2423160" cy="3291840"/>
          </a:xfrm>
          <a:prstGeom prst="roundRect">
            <a:avLst>
              <a:gd name="adj" fmla="val 5000"/>
            </a:avLst>
          </a:prstGeom>
          <a:solidFill>
            <a:srgbClr val="FFFFFF"/>
          </a:solidFill>
          <a:ln>
            <a:noFill/>
          </a:ln>
          <a:effectLst>
            <a:outerShdw blurRad="203200" dist="38100" dir="5400000" algn="t" rotWithShape="0">
              <a:srgbClr val="2A4B9B">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72600" y="2103120"/>
            <a:ext cx="822960" cy="548640"/>
          </a:xfrm>
          <a:prstGeom prst="rect">
            <a:avLst/>
          </a:prstGeom>
          <a:noFill/>
        </p:spPr>
        <p:txBody>
          <a:bodyPr wrap="square" lIns="0" rIns="0" tIns="0" bIns="0" anchor="t">
            <a:spAutoFit/>
          </a:bodyPr>
          <a:lstStyle/>
          <a:p>
            <a:pPr algn="l">
              <a:spcAft>
                <a:spcPts val="600"/>
              </a:spcAft>
            </a:pPr>
            <a:r>
              <a:rPr sz="3600" b="1" i="0">
                <a:solidFill>
                  <a:srgbClr val="8E5CF0"/>
                </a:solidFill>
                <a:latin typeface="Arial"/>
              </a:rPr>
              <a:t>04</a:t>
            </a:r>
          </a:p>
        </p:txBody>
      </p:sp>
      <p:sp>
        <p:nvSpPr>
          <p:cNvPr id="21" name="TextBox 20"/>
          <p:cNvSpPr txBox="1"/>
          <p:nvPr/>
        </p:nvSpPr>
        <p:spPr>
          <a:xfrm>
            <a:off x="9372600" y="3017520"/>
            <a:ext cx="1828800" cy="822960"/>
          </a:xfrm>
          <a:prstGeom prst="rect">
            <a:avLst/>
          </a:prstGeom>
          <a:noFill/>
        </p:spPr>
        <p:txBody>
          <a:bodyPr wrap="square" lIns="0" rIns="0" tIns="0" bIns="0" anchor="t">
            <a:spAutoFit/>
          </a:bodyPr>
          <a:lstStyle/>
          <a:p>
            <a:pPr algn="l">
              <a:spcAft>
                <a:spcPts val="600"/>
              </a:spcAft>
            </a:pPr>
            <a:r>
              <a:rPr sz="1900" b="1" i="0">
                <a:solidFill>
                  <a:srgbClr val="1E2A4A"/>
                </a:solidFill>
                <a:latin typeface="Arial"/>
              </a:rPr>
              <a:t>Chạy trên chip edge</a:t>
            </a:r>
          </a:p>
        </p:txBody>
      </p:sp>
      <p:sp>
        <p:nvSpPr>
          <p:cNvPr id="22" name="TextBox 21"/>
          <p:cNvSpPr txBox="1"/>
          <p:nvPr/>
        </p:nvSpPr>
        <p:spPr>
          <a:xfrm>
            <a:off x="9372600" y="3931920"/>
            <a:ext cx="1828800" cy="1005840"/>
          </a:xfrm>
          <a:prstGeom prst="rect">
            <a:avLst/>
          </a:prstGeom>
          <a:noFill/>
        </p:spPr>
        <p:txBody>
          <a:bodyPr wrap="square" lIns="0" rIns="0" tIns="0" bIns="0" anchor="t">
            <a:spAutoFit/>
          </a:bodyPr>
          <a:lstStyle/>
          <a:p>
            <a:pPr algn="l">
              <a:spcAft>
                <a:spcPts val="600"/>
              </a:spcAft>
            </a:pPr>
            <a:r>
              <a:rPr sz="1500" b="0" i="0">
                <a:solidFill>
                  <a:srgbClr val="56648A"/>
                </a:solidFill>
                <a:latin typeface="Arial"/>
              </a:rPr>
              <a:t>Phép toán và kích thước ảnh bị giới hạn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EDF2FA"/>
        </a:solidFill>
        <a:effectLst/>
      </p:bgPr>
    </p:bg>
    <p:spTree>
      <p:nvGrpSpPr>
        <p:cNvPr id="1" name=""/>
        <p:cNvGrpSpPr/>
        <p:nvPr/>
      </p:nvGrpSpPr>
      <p:grpSpPr/>
      <p:sp>
        <p:nvSpPr>
          <p:cNvPr id="2" name="TextBox 1"/>
          <p:cNvSpPr txBox="1"/>
          <p:nvPr/>
        </p:nvSpPr>
        <p:spPr>
          <a:xfrm>
            <a:off x="822960" y="502920"/>
            <a:ext cx="10058400" cy="731520"/>
          </a:xfrm>
          <a:prstGeom prst="rect">
            <a:avLst/>
          </a:prstGeom>
          <a:noFill/>
        </p:spPr>
        <p:txBody>
          <a:bodyPr wrap="square" lIns="0" rIns="0" tIns="0" bIns="0" anchor="ctr">
            <a:spAutoFit/>
          </a:bodyPr>
          <a:lstStyle/>
          <a:p>
            <a:pPr algn="l">
              <a:spcAft>
                <a:spcPts val="600"/>
              </a:spcAft>
            </a:pPr>
            <a:r>
              <a:rPr sz="3200" b="1" i="0">
                <a:solidFill>
                  <a:srgbClr val="1E2A4A"/>
                </a:solidFill>
                <a:latin typeface="Arial"/>
              </a:rPr>
              <a:t>Kết quả INT8</a:t>
            </a:r>
          </a:p>
        </p:txBody>
      </p:sp>
      <p:sp>
        <p:nvSpPr>
          <p:cNvPr id="3" name="TextBox 2"/>
          <p:cNvSpPr txBox="1"/>
          <p:nvPr/>
        </p:nvSpPr>
        <p:spPr>
          <a:xfrm>
            <a:off x="11064240" y="6400800"/>
            <a:ext cx="457200" cy="274320"/>
          </a:xfrm>
          <a:prstGeom prst="rect">
            <a:avLst/>
          </a:prstGeom>
          <a:noFill/>
        </p:spPr>
        <p:txBody>
          <a:bodyPr wrap="none" lIns="0" rIns="0" tIns="0" bIns="0">
            <a:spAutoFit/>
          </a:bodyPr>
          <a:lstStyle/>
          <a:p>
            <a:pPr algn="r"/>
            <a:fld id="{B6F15528-21DE-4FAA-801E-634DDDAF4B2B}" type="slidenum">
              <a:rPr lang="en-US" sz="1200">
                <a:solidFill>
                  <a:srgbClr val="8D99B8"/>
                </a:solidFill>
                <a:latin typeface="Arial"/>
              </a:rPr>
              <a:t>‹#›</a:t>
            </a:fld>
          </a:p>
        </p:txBody>
      </p:sp>
      <p:sp>
        <p:nvSpPr>
          <p:cNvPr id="4" name="Rounded Rectangle 3"/>
          <p:cNvSpPr/>
          <p:nvPr/>
        </p:nvSpPr>
        <p:spPr>
          <a:xfrm>
            <a:off x="822960" y="1463040"/>
            <a:ext cx="10543032" cy="4343400"/>
          </a:xfrm>
          <a:prstGeom prst="roundRect">
            <a:avLst>
              <a:gd name="adj" fmla="val 5000"/>
            </a:avLst>
          </a:prstGeom>
          <a:solidFill>
            <a:srgbClr val="FFFFFF"/>
          </a:solidFill>
          <a:ln>
            <a:noFill/>
          </a:ln>
          <a:effectLst>
            <a:outerShdw blurRad="203200" dist="38100" dir="5400000" algn="t" rotWithShape="0">
              <a:srgbClr val="2A4B9B">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Chart 4"/>
          <p:cNvGraphicFramePr>
            <a:graphicFrameLocks noGrp="1"/>
          </p:cNvGraphicFramePr>
          <p:nvPr/>
        </p:nvGraphicFramePr>
        <p:xfrm>
          <a:off x="1005840" y="1600200"/>
          <a:ext cx="10149840" cy="4114800"/>
        </p:xfrm>
        <a:graphic>
          <a:graphicData uri="http://schemas.openxmlformats.org/drawingml/2006/chart">
            <c:chart xmlns:c="http://schemas.openxmlformats.org/drawingml/2006/chart" r:id="rId3"/>
          </a:graphicData>
        </a:graphic>
      </p:graphicFrame>
      <p:sp>
        <p:nvSpPr>
          <p:cNvPr id="6" name="TextBox 5"/>
          <p:cNvSpPr txBox="1"/>
          <p:nvPr/>
        </p:nvSpPr>
        <p:spPr>
          <a:xfrm>
            <a:off x="822960" y="5989320"/>
            <a:ext cx="10058400" cy="365760"/>
          </a:xfrm>
          <a:prstGeom prst="rect">
            <a:avLst/>
          </a:prstGeom>
          <a:noFill/>
        </p:spPr>
        <p:txBody>
          <a:bodyPr wrap="square" lIns="0" rIns="0" tIns="0" bIns="0" anchor="t">
            <a:spAutoFit/>
          </a:bodyPr>
          <a:lstStyle/>
          <a:p>
            <a:pPr algn="l">
              <a:spcAft>
                <a:spcPts val="600"/>
              </a:spcAft>
            </a:pPr>
            <a:r>
              <a:rPr sz="1200" b="0" i="1">
                <a:solidFill>
                  <a:srgbClr val="8D99B8"/>
                </a:solidFill>
                <a:latin typeface="Arial"/>
              </a:rPr>
              <a:t>Test 2.581 ảnh, ONNX Runtime, CPU máy tính 1 luồng. MobileNetV3-S đo trên run mnv3_lr3e-3.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EDF2FA"/>
        </a:solidFill>
        <a:effectLst/>
      </p:bgPr>
    </p:bg>
    <p:spTree>
      <p:nvGrpSpPr>
        <p:cNvPr id="1" name=""/>
        <p:cNvGrpSpPr/>
        <p:nvPr/>
      </p:nvGrpSpPr>
      <p:grpSpPr/>
      <p:sp>
        <p:nvSpPr>
          <p:cNvPr id="2" name="TextBox 1"/>
          <p:cNvSpPr txBox="1"/>
          <p:nvPr/>
        </p:nvSpPr>
        <p:spPr>
          <a:xfrm>
            <a:off x="822960" y="502920"/>
            <a:ext cx="10058400" cy="731520"/>
          </a:xfrm>
          <a:prstGeom prst="rect">
            <a:avLst/>
          </a:prstGeom>
          <a:noFill/>
        </p:spPr>
        <p:txBody>
          <a:bodyPr wrap="square" lIns="0" rIns="0" tIns="0" bIns="0" anchor="ctr">
            <a:spAutoFit/>
          </a:bodyPr>
          <a:lstStyle/>
          <a:p>
            <a:pPr algn="l">
              <a:spcAft>
                <a:spcPts val="600"/>
              </a:spcAft>
            </a:pPr>
            <a:r>
              <a:rPr sz="3200" b="1" i="0">
                <a:solidFill>
                  <a:srgbClr val="1E2A4A"/>
                </a:solidFill>
                <a:latin typeface="Arial"/>
              </a:rPr>
              <a:t>Chọn mô hình cho edge</a:t>
            </a:r>
          </a:p>
        </p:txBody>
      </p:sp>
      <p:sp>
        <p:nvSpPr>
          <p:cNvPr id="3" name="TextBox 2"/>
          <p:cNvSpPr txBox="1"/>
          <p:nvPr/>
        </p:nvSpPr>
        <p:spPr>
          <a:xfrm>
            <a:off x="11064240" y="6400800"/>
            <a:ext cx="457200" cy="274320"/>
          </a:xfrm>
          <a:prstGeom prst="rect">
            <a:avLst/>
          </a:prstGeom>
          <a:noFill/>
        </p:spPr>
        <p:txBody>
          <a:bodyPr wrap="none" lIns="0" rIns="0" tIns="0" bIns="0">
            <a:spAutoFit/>
          </a:bodyPr>
          <a:lstStyle/>
          <a:p>
            <a:pPr algn="r"/>
            <a:fld id="{B6F15528-21DE-4FAA-801E-634DDDAF4B2B}" type="slidenum">
              <a:rPr lang="en-US" sz="1200">
                <a:solidFill>
                  <a:srgbClr val="8D99B8"/>
                </a:solidFill>
                <a:latin typeface="Arial"/>
              </a:rPr>
              <a:t>‹#›</a:t>
            </a:fld>
          </a:p>
        </p:txBody>
      </p:sp>
      <p:sp>
        <p:nvSpPr>
          <p:cNvPr id="4" name="Rounded Rectangle 3"/>
          <p:cNvSpPr/>
          <p:nvPr/>
        </p:nvSpPr>
        <p:spPr>
          <a:xfrm>
            <a:off x="822960" y="1463040"/>
            <a:ext cx="7498079" cy="4434840"/>
          </a:xfrm>
          <a:prstGeom prst="roundRect">
            <a:avLst>
              <a:gd name="adj" fmla="val 5000"/>
            </a:avLst>
          </a:prstGeom>
          <a:solidFill>
            <a:srgbClr val="FFFFFF"/>
          </a:solidFill>
          <a:ln>
            <a:noFill/>
          </a:ln>
          <a:effectLst>
            <a:outerShdw blurRad="203200" dist="38100" dir="5400000" algn="t" rotWithShape="0">
              <a:srgbClr val="2A4B9B">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Chart 4"/>
          <p:cNvGraphicFramePr>
            <a:graphicFrameLocks noGrp="1"/>
          </p:cNvGraphicFramePr>
          <p:nvPr/>
        </p:nvGraphicFramePr>
        <p:xfrm>
          <a:off x="960120" y="1554480"/>
          <a:ext cx="7223760" cy="4251960"/>
        </p:xfrm>
        <a:graphic>
          <a:graphicData uri="http://schemas.openxmlformats.org/drawingml/2006/chart">
            <c:chart xmlns:c="http://schemas.openxmlformats.org/drawingml/2006/chart" r:id="rId3"/>
          </a:graphicData>
        </a:graphic>
      </p:graphicFrame>
      <p:sp>
        <p:nvSpPr>
          <p:cNvPr id="6" name="Rounded Rectangle 5"/>
          <p:cNvSpPr/>
          <p:nvPr/>
        </p:nvSpPr>
        <p:spPr>
          <a:xfrm>
            <a:off x="8595360" y="1463040"/>
            <a:ext cx="2770632" cy="4434840"/>
          </a:xfrm>
          <a:prstGeom prst="roundRect">
            <a:avLst>
              <a:gd name="adj" fmla="val 8000"/>
            </a:avLst>
          </a:prstGeom>
          <a:solidFill>
            <a:srgbClr val="E3E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0" y="1737360"/>
            <a:ext cx="2286000" cy="365760"/>
          </a:xfrm>
          <a:prstGeom prst="rect">
            <a:avLst/>
          </a:prstGeom>
          <a:noFill/>
        </p:spPr>
        <p:txBody>
          <a:bodyPr wrap="square" lIns="0" rIns="0" tIns="0" bIns="0" anchor="t">
            <a:spAutoFit/>
          </a:bodyPr>
          <a:lstStyle/>
          <a:p>
            <a:pPr algn="l">
              <a:spcAft>
                <a:spcPts val="600"/>
              </a:spcAft>
            </a:pPr>
            <a:r>
              <a:rPr sz="1700" b="1" i="0">
                <a:solidFill>
                  <a:srgbClr val="3B6FF0"/>
                </a:solidFill>
                <a:latin typeface="Arial"/>
              </a:rPr>
              <a:t>INT8 trên CPU</a:t>
            </a:r>
          </a:p>
        </p:txBody>
      </p:sp>
      <p:sp>
        <p:nvSpPr>
          <p:cNvPr id="8" name="TextBox 7"/>
          <p:cNvSpPr txBox="1"/>
          <p:nvPr/>
        </p:nvSpPr>
        <p:spPr>
          <a:xfrm>
            <a:off x="8869680" y="2377440"/>
            <a:ext cx="2377440" cy="365760"/>
          </a:xfrm>
          <a:prstGeom prst="rect">
            <a:avLst/>
          </a:prstGeom>
          <a:noFill/>
        </p:spPr>
        <p:txBody>
          <a:bodyPr wrap="square" lIns="0" rIns="0" tIns="0" bIns="0" anchor="t">
            <a:spAutoFit/>
          </a:bodyPr>
          <a:lstStyle/>
          <a:p>
            <a:pPr algn="l">
              <a:spcAft>
                <a:spcPts val="600"/>
              </a:spcAft>
            </a:pPr>
            <a:r>
              <a:rPr sz="1500" b="1" i="0">
                <a:solidFill>
                  <a:srgbClr val="3B6FF0"/>
                </a:solidFill>
                <a:latin typeface="Arial"/>
              </a:rPr>
              <a:t>EfficientNet-Lite0</a:t>
            </a:r>
          </a:p>
        </p:txBody>
      </p:sp>
      <p:sp>
        <p:nvSpPr>
          <p:cNvPr id="9" name="TextBox 8"/>
          <p:cNvSpPr txBox="1"/>
          <p:nvPr/>
        </p:nvSpPr>
        <p:spPr>
          <a:xfrm>
            <a:off x="8869680" y="2743200"/>
            <a:ext cx="2377440" cy="640080"/>
          </a:xfrm>
          <a:prstGeom prst="rect">
            <a:avLst/>
          </a:prstGeom>
          <a:noFill/>
        </p:spPr>
        <p:txBody>
          <a:bodyPr wrap="square" lIns="0" rIns="0" tIns="0" bIns="0" anchor="t">
            <a:spAutoFit/>
          </a:bodyPr>
          <a:lstStyle/>
          <a:p>
            <a:pPr algn="l">
              <a:spcAft>
                <a:spcPts val="600"/>
              </a:spcAft>
            </a:pPr>
            <a:r>
              <a:rPr sz="1300" b="0" i="0">
                <a:solidFill>
                  <a:srgbClr val="56648A"/>
                </a:solidFill>
                <a:latin typeface="Arial"/>
              </a:rPr>
              <a:t>195 FPS · 3,8 MB · F1 0,814</a:t>
            </a:r>
          </a:p>
        </p:txBody>
      </p:sp>
      <p:sp>
        <p:nvSpPr>
          <p:cNvPr id="10" name="TextBox 9"/>
          <p:cNvSpPr txBox="1"/>
          <p:nvPr/>
        </p:nvSpPr>
        <p:spPr>
          <a:xfrm>
            <a:off x="8869680" y="3474720"/>
            <a:ext cx="2377440" cy="365760"/>
          </a:xfrm>
          <a:prstGeom prst="rect">
            <a:avLst/>
          </a:prstGeom>
          <a:noFill/>
        </p:spPr>
        <p:txBody>
          <a:bodyPr wrap="square" lIns="0" rIns="0" tIns="0" bIns="0" anchor="t">
            <a:spAutoFit/>
          </a:bodyPr>
          <a:lstStyle/>
          <a:p>
            <a:pPr algn="l">
              <a:spcAft>
                <a:spcPts val="600"/>
              </a:spcAft>
            </a:pPr>
            <a:r>
              <a:rPr sz="1500" b="1" i="0">
                <a:solidFill>
                  <a:srgbClr val="0E9AC4"/>
                </a:solidFill>
                <a:latin typeface="Arial"/>
              </a:rPr>
              <a:t>ResNet18</a:t>
            </a:r>
          </a:p>
        </p:txBody>
      </p:sp>
      <p:sp>
        <p:nvSpPr>
          <p:cNvPr id="11" name="TextBox 10"/>
          <p:cNvSpPr txBox="1"/>
          <p:nvPr/>
        </p:nvSpPr>
        <p:spPr>
          <a:xfrm>
            <a:off x="8869680" y="3840480"/>
            <a:ext cx="2377440" cy="640080"/>
          </a:xfrm>
          <a:prstGeom prst="rect">
            <a:avLst/>
          </a:prstGeom>
          <a:noFill/>
        </p:spPr>
        <p:txBody>
          <a:bodyPr wrap="square" lIns="0" rIns="0" tIns="0" bIns="0" anchor="t">
            <a:spAutoFit/>
          </a:bodyPr>
          <a:lstStyle/>
          <a:p>
            <a:pPr algn="l">
              <a:spcAft>
                <a:spcPts val="600"/>
              </a:spcAft>
            </a:pPr>
            <a:r>
              <a:rPr sz="1300" b="0" i="0">
                <a:solidFill>
                  <a:srgbClr val="56648A"/>
                </a:solidFill>
                <a:latin typeface="Arial"/>
              </a:rPr>
              <a:t>108 FPS · 11,3 MB · F1 0,772</a:t>
            </a:r>
          </a:p>
        </p:txBody>
      </p:sp>
      <p:sp>
        <p:nvSpPr>
          <p:cNvPr id="12" name="TextBox 11"/>
          <p:cNvSpPr txBox="1"/>
          <p:nvPr/>
        </p:nvSpPr>
        <p:spPr>
          <a:xfrm>
            <a:off x="8869680" y="4572000"/>
            <a:ext cx="2377440" cy="365760"/>
          </a:xfrm>
          <a:prstGeom prst="rect">
            <a:avLst/>
          </a:prstGeom>
          <a:noFill/>
        </p:spPr>
        <p:txBody>
          <a:bodyPr wrap="square" lIns="0" rIns="0" tIns="0" bIns="0" anchor="t">
            <a:spAutoFit/>
          </a:bodyPr>
          <a:lstStyle/>
          <a:p>
            <a:pPr algn="l">
              <a:spcAft>
                <a:spcPts val="600"/>
              </a:spcAft>
            </a:pPr>
            <a:r>
              <a:rPr sz="1500" b="1" i="0">
                <a:solidFill>
                  <a:srgbClr val="8E5CF0"/>
                </a:solidFill>
                <a:latin typeface="Arial"/>
              </a:rPr>
              <a:t>MobileNetV3-Small</a:t>
            </a:r>
          </a:p>
        </p:txBody>
      </p:sp>
      <p:sp>
        <p:nvSpPr>
          <p:cNvPr id="13" name="TextBox 12"/>
          <p:cNvSpPr txBox="1"/>
          <p:nvPr/>
        </p:nvSpPr>
        <p:spPr>
          <a:xfrm>
            <a:off x="8869680" y="4937760"/>
            <a:ext cx="2377440" cy="640080"/>
          </a:xfrm>
          <a:prstGeom prst="rect">
            <a:avLst/>
          </a:prstGeom>
          <a:noFill/>
        </p:spPr>
        <p:txBody>
          <a:bodyPr wrap="square" lIns="0" rIns="0" tIns="0" bIns="0" anchor="t">
            <a:spAutoFit/>
          </a:bodyPr>
          <a:lstStyle/>
          <a:p>
            <a:pPr algn="l">
              <a:spcAft>
                <a:spcPts val="600"/>
              </a:spcAft>
            </a:pPr>
            <a:r>
              <a:rPr sz="1300" b="0" i="0">
                <a:solidFill>
                  <a:srgbClr val="56648A"/>
                </a:solidFill>
                <a:latin typeface="Arial"/>
              </a:rPr>
              <a:t>F1 0,144, không dùng được</a:t>
            </a:r>
          </a:p>
        </p:txBody>
      </p:sp>
      <p:sp>
        <p:nvSpPr>
          <p:cNvPr id="14" name="TextBox 13"/>
          <p:cNvSpPr txBox="1"/>
          <p:nvPr/>
        </p:nvSpPr>
        <p:spPr>
          <a:xfrm>
            <a:off x="822960" y="6035040"/>
            <a:ext cx="10058400" cy="365760"/>
          </a:xfrm>
          <a:prstGeom prst="rect">
            <a:avLst/>
          </a:prstGeom>
          <a:noFill/>
        </p:spPr>
        <p:txBody>
          <a:bodyPr wrap="square" lIns="0" rIns="0" tIns="0" bIns="0" anchor="t">
            <a:spAutoFit/>
          </a:bodyPr>
          <a:lstStyle/>
          <a:p>
            <a:pPr algn="l">
              <a:spcAft>
                <a:spcPts val="600"/>
              </a:spcAft>
            </a:pPr>
            <a:r>
              <a:rPr sz="1200" b="0" i="1">
                <a:solidFill>
                  <a:srgbClr val="8D99B8"/>
                </a:solidFill>
                <a:latin typeface="Arial"/>
              </a:rPr>
              <a:t>FPS = 1000 / độ trễ. Đo trên CPU máy tính, chỉ để so sánh tương đối; FPS thật phải đo trên chip edge.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EDF2FA"/>
        </a:solidFill>
        <a:effectLst/>
      </p:bgPr>
    </p:bg>
    <p:spTree>
      <p:nvGrpSpPr>
        <p:cNvPr id="1" name=""/>
        <p:cNvGrpSpPr/>
        <p:nvPr/>
      </p:nvGrpSpPr>
      <p:grpSpPr/>
      <p:sp>
        <p:nvSpPr>
          <p:cNvPr id="2" name="TextBox 1"/>
          <p:cNvSpPr txBox="1"/>
          <p:nvPr/>
        </p:nvSpPr>
        <p:spPr>
          <a:xfrm>
            <a:off x="822960" y="502920"/>
            <a:ext cx="10058400" cy="731520"/>
          </a:xfrm>
          <a:prstGeom prst="rect">
            <a:avLst/>
          </a:prstGeom>
          <a:noFill/>
        </p:spPr>
        <p:txBody>
          <a:bodyPr wrap="square" lIns="0" rIns="0" tIns="0" bIns="0" anchor="ctr">
            <a:spAutoFit/>
          </a:bodyPr>
          <a:lstStyle/>
          <a:p>
            <a:pPr algn="l">
              <a:spcAft>
                <a:spcPts val="600"/>
              </a:spcAft>
            </a:pPr>
            <a:r>
              <a:rPr sz="3200" b="1" i="0">
                <a:solidFill>
                  <a:srgbClr val="1E2A4A"/>
                </a:solidFill>
                <a:latin typeface="Arial"/>
              </a:rPr>
              <a:t>Tổng kết</a:t>
            </a:r>
          </a:p>
        </p:txBody>
      </p:sp>
      <p:sp>
        <p:nvSpPr>
          <p:cNvPr id="3" name="TextBox 2"/>
          <p:cNvSpPr txBox="1"/>
          <p:nvPr/>
        </p:nvSpPr>
        <p:spPr>
          <a:xfrm>
            <a:off x="11064240" y="6400800"/>
            <a:ext cx="457200" cy="274320"/>
          </a:xfrm>
          <a:prstGeom prst="rect">
            <a:avLst/>
          </a:prstGeom>
          <a:noFill/>
        </p:spPr>
        <p:txBody>
          <a:bodyPr wrap="none" lIns="0" rIns="0" tIns="0" bIns="0">
            <a:spAutoFit/>
          </a:bodyPr>
          <a:lstStyle/>
          <a:p>
            <a:pPr algn="r"/>
            <a:fld id="{B6F15528-21DE-4FAA-801E-634DDDAF4B2B}" type="slidenum">
              <a:rPr lang="en-US" sz="1200">
                <a:solidFill>
                  <a:srgbClr val="8D99B8"/>
                </a:solidFill>
                <a:latin typeface="Arial"/>
              </a:rPr>
              <a:t>‹#›</a:t>
            </a:fld>
          </a:p>
        </p:txBody>
      </p:sp>
      <p:sp>
        <p:nvSpPr>
          <p:cNvPr id="4" name="Rounded Rectangle 3"/>
          <p:cNvSpPr/>
          <p:nvPr/>
        </p:nvSpPr>
        <p:spPr>
          <a:xfrm>
            <a:off x="822960" y="1508760"/>
            <a:ext cx="3337560" cy="4526280"/>
          </a:xfrm>
          <a:prstGeom prst="roundRect">
            <a:avLst>
              <a:gd name="adj" fmla="val 5000"/>
            </a:avLst>
          </a:prstGeom>
          <a:solidFill>
            <a:srgbClr val="FFFFFF"/>
          </a:solidFill>
          <a:ln>
            <a:noFill/>
          </a:ln>
          <a:effectLst>
            <a:outerShdw blurRad="203200" dist="38100" dir="5400000" algn="t" rotWithShape="0">
              <a:srgbClr val="2A4B9B">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51560" y="1737360"/>
            <a:ext cx="2880360" cy="594360"/>
          </a:xfrm>
          <a:prstGeom prst="roundRect">
            <a:avLst>
              <a:gd name="adj" fmla="val 30000"/>
            </a:avLst>
          </a:prstGeom>
          <a:solidFill>
            <a:srgbClr val="E3E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1737360"/>
            <a:ext cx="2880360" cy="594360"/>
          </a:xfrm>
          <a:prstGeom prst="rect">
            <a:avLst/>
          </a:prstGeom>
          <a:noFill/>
        </p:spPr>
        <p:txBody>
          <a:bodyPr wrap="square" lIns="0" rIns="0" tIns="0" bIns="0" anchor="ctr">
            <a:spAutoFit/>
          </a:bodyPr>
          <a:lstStyle/>
          <a:p>
            <a:pPr algn="ctr">
              <a:spcAft>
                <a:spcPts val="600"/>
              </a:spcAft>
            </a:pPr>
            <a:r>
              <a:rPr sz="1800" b="1" i="0">
                <a:solidFill>
                  <a:srgbClr val="3B6FF0"/>
                </a:solidFill>
                <a:latin typeface="Arial"/>
              </a:rPr>
              <a:t>Đạt được</a:t>
            </a:r>
          </a:p>
        </p:txBody>
      </p:sp>
      <p:sp>
        <p:nvSpPr>
          <p:cNvPr id="7" name="TextBox 6"/>
          <p:cNvSpPr txBox="1"/>
          <p:nvPr/>
        </p:nvSpPr>
        <p:spPr>
          <a:xfrm>
            <a:off x="1188720" y="2697480"/>
            <a:ext cx="2697480" cy="3200400"/>
          </a:xfrm>
          <a:prstGeom prst="rect">
            <a:avLst/>
          </a:prstGeom>
          <a:noFill/>
        </p:spPr>
        <p:txBody>
          <a:bodyPr wrap="square" lIns="0" rIns="0" tIns="0" bIns="0" anchor="t">
            <a:spAutoFit/>
          </a:bodyPr>
          <a:lstStyle/>
          <a:p>
            <a:pPr algn="l" marL="274320" indent="-219456">
              <a:spcAft>
                <a:spcPts val="1400"/>
              </a:spcAft>
              <a:buChar char="•"/>
            </a:pPr>
            <a:r>
              <a:rPr sz="1500" b="0" i="0">
                <a:solidFill>
                  <a:srgbClr val="1E2A4A"/>
                </a:solidFill>
                <a:latin typeface="Arial"/>
              </a:rPr>
              <a:t>Chia theo tài xế, bỏ ảnh trùng</a:t>
            </a:r>
          </a:p>
          <a:p>
            <a:pPr algn="l" marL="274320" indent="-219456">
              <a:spcAft>
                <a:spcPts val="1400"/>
              </a:spcAft>
              <a:buChar char="•"/>
            </a:pPr>
            <a:r>
              <a:rPr sz="1500" b="0" i="0">
                <a:solidFill>
                  <a:srgbClr val="1E2A4A"/>
                </a:solidFill>
                <a:latin typeface="Arial"/>
              </a:rPr>
              <a:t>EfficientNet-Lite0 chính xác nhất (F1 0,815)</a:t>
            </a:r>
          </a:p>
          <a:p>
            <a:pPr algn="l" marL="274320" indent="-219456">
              <a:spcAft>
                <a:spcPts val="1400"/>
              </a:spcAft>
              <a:buChar char="•"/>
            </a:pPr>
            <a:r>
              <a:rPr sz="1500" b="0" i="0">
                <a:solidFill>
                  <a:srgbClr val="1E2A4A"/>
                </a:solidFill>
                <a:latin typeface="Arial"/>
              </a:rPr>
              <a:t>INT8: nhỏ hơn 3,5×, nhanh hơn 1,6×</a:t>
            </a:r>
          </a:p>
          <a:p>
            <a:pPr algn="l" marL="274320" indent="-219456">
              <a:spcAft>
                <a:spcPts val="1400"/>
              </a:spcAft>
              <a:buChar char="•"/>
            </a:pPr>
            <a:r>
              <a:rPr sz="1500" b="0" i="0">
                <a:solidFill>
                  <a:srgbClr val="1E2A4A"/>
                </a:solidFill>
                <a:latin typeface="Arial"/>
              </a:rPr>
              <a:t>Mô hình nhẹ không thua mô hình nặng</a:t>
            </a:r>
          </a:p>
        </p:txBody>
      </p:sp>
      <p:sp>
        <p:nvSpPr>
          <p:cNvPr id="8" name="Rounded Rectangle 7"/>
          <p:cNvSpPr/>
          <p:nvPr/>
        </p:nvSpPr>
        <p:spPr>
          <a:xfrm>
            <a:off x="4434840" y="1508760"/>
            <a:ext cx="3337560" cy="4526280"/>
          </a:xfrm>
          <a:prstGeom prst="roundRect">
            <a:avLst>
              <a:gd name="adj" fmla="val 5000"/>
            </a:avLst>
          </a:prstGeom>
          <a:solidFill>
            <a:srgbClr val="FFFFFF"/>
          </a:solidFill>
          <a:ln>
            <a:noFill/>
          </a:ln>
          <a:effectLst>
            <a:outerShdw blurRad="203200" dist="38100" dir="5400000" algn="t" rotWithShape="0">
              <a:srgbClr val="2A4B9B">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663440" y="1737360"/>
            <a:ext cx="2880360" cy="594360"/>
          </a:xfrm>
          <a:prstGeom prst="roundRect">
            <a:avLst>
              <a:gd name="adj" fmla="val 30000"/>
            </a:avLst>
          </a:prstGeom>
          <a:solidFill>
            <a:srgbClr val="E8E9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63440" y="1737360"/>
            <a:ext cx="2880360" cy="594360"/>
          </a:xfrm>
          <a:prstGeom prst="rect">
            <a:avLst/>
          </a:prstGeom>
          <a:noFill/>
        </p:spPr>
        <p:txBody>
          <a:bodyPr wrap="square" lIns="0" rIns="0" tIns="0" bIns="0" anchor="ctr">
            <a:spAutoFit/>
          </a:bodyPr>
          <a:lstStyle/>
          <a:p>
            <a:pPr algn="ctr">
              <a:spcAft>
                <a:spcPts val="600"/>
              </a:spcAft>
            </a:pPr>
            <a:r>
              <a:rPr sz="1800" b="1" i="0">
                <a:solidFill>
                  <a:srgbClr val="5B5CE0"/>
                </a:solidFill>
                <a:latin typeface="Arial"/>
              </a:rPr>
              <a:t>Hạn chế</a:t>
            </a:r>
          </a:p>
        </p:txBody>
      </p:sp>
      <p:sp>
        <p:nvSpPr>
          <p:cNvPr id="11" name="TextBox 10"/>
          <p:cNvSpPr txBox="1"/>
          <p:nvPr/>
        </p:nvSpPr>
        <p:spPr>
          <a:xfrm>
            <a:off x="4800600" y="2697480"/>
            <a:ext cx="2697480" cy="3200400"/>
          </a:xfrm>
          <a:prstGeom prst="rect">
            <a:avLst/>
          </a:prstGeom>
          <a:noFill/>
        </p:spPr>
        <p:txBody>
          <a:bodyPr wrap="square" lIns="0" rIns="0" tIns="0" bIns="0" anchor="t">
            <a:spAutoFit/>
          </a:bodyPr>
          <a:lstStyle/>
          <a:p>
            <a:pPr algn="l" marL="274320" indent="-219456">
              <a:spcAft>
                <a:spcPts val="1400"/>
              </a:spcAft>
              <a:buChar char="•"/>
            </a:pPr>
            <a:r>
              <a:rPr sz="1500" b="0" i="0">
                <a:solidFill>
                  <a:srgbClr val="1E2A4A"/>
                </a:solidFill>
                <a:latin typeface="Arial"/>
              </a:rPr>
              <a:t>Test chỉ 4 tài xế, điểm lệch khoảng 0,03</a:t>
            </a:r>
          </a:p>
          <a:p>
            <a:pPr algn="l" marL="274320" indent="-219456">
              <a:spcAft>
                <a:spcPts val="1400"/>
              </a:spcAft>
              <a:buChar char="•"/>
            </a:pPr>
            <a:r>
              <a:rPr sz="1500" b="0" i="0">
                <a:solidFill>
                  <a:srgbClr val="1E2A4A"/>
                </a:solidFill>
                <a:latin typeface="Arial"/>
              </a:rPr>
              <a:t>Chưa đo trên chip edge</a:t>
            </a:r>
          </a:p>
          <a:p>
            <a:pPr algn="l" marL="274320" indent="-219456">
              <a:spcAft>
                <a:spcPts val="1400"/>
              </a:spcAft>
              <a:buChar char="•"/>
            </a:pPr>
            <a:r>
              <a:rPr sz="1500" b="0" i="0">
                <a:solidFill>
                  <a:srgbClr val="1E2A4A"/>
                </a:solidFill>
                <a:latin typeface="Arial"/>
              </a:rPr>
              <a:t>MobileNetV3-Small không chịu được INT8</a:t>
            </a:r>
          </a:p>
          <a:p>
            <a:pPr algn="l" marL="274320" indent="-219456">
              <a:spcAft>
                <a:spcPts val="1400"/>
              </a:spcAft>
              <a:buChar char="•"/>
            </a:pPr>
            <a:r>
              <a:rPr sz="1500" b="0" i="0">
                <a:solidFill>
                  <a:srgbClr val="1E2A4A"/>
                </a:solidFill>
                <a:latin typeface="Arial"/>
              </a:rPr>
              <a:t>talk_passenger còn yếu</a:t>
            </a:r>
          </a:p>
        </p:txBody>
      </p:sp>
      <p:sp>
        <p:nvSpPr>
          <p:cNvPr id="12" name="Rounded Rectangle 11"/>
          <p:cNvSpPr/>
          <p:nvPr/>
        </p:nvSpPr>
        <p:spPr>
          <a:xfrm>
            <a:off x="8046720" y="1508760"/>
            <a:ext cx="3337560" cy="4526280"/>
          </a:xfrm>
          <a:prstGeom prst="roundRect">
            <a:avLst>
              <a:gd name="adj" fmla="val 5000"/>
            </a:avLst>
          </a:prstGeom>
          <a:solidFill>
            <a:srgbClr val="FFFFFF"/>
          </a:solidFill>
          <a:ln>
            <a:noFill/>
          </a:ln>
          <a:effectLst>
            <a:outerShdw blurRad="203200" dist="38100" dir="5400000" algn="t" rotWithShape="0">
              <a:srgbClr val="2A4B9B">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275320" y="1737360"/>
            <a:ext cx="2880360" cy="594360"/>
          </a:xfrm>
          <a:prstGeom prst="roundRect">
            <a:avLst>
              <a:gd name="adj" fmla="val 30000"/>
            </a:avLst>
          </a:prstGeom>
          <a:solidFill>
            <a:srgbClr val="EFE8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5320" y="1737360"/>
            <a:ext cx="2880360" cy="594360"/>
          </a:xfrm>
          <a:prstGeom prst="rect">
            <a:avLst/>
          </a:prstGeom>
          <a:noFill/>
        </p:spPr>
        <p:txBody>
          <a:bodyPr wrap="square" lIns="0" rIns="0" tIns="0" bIns="0" anchor="ctr">
            <a:spAutoFit/>
          </a:bodyPr>
          <a:lstStyle/>
          <a:p>
            <a:pPr algn="ctr">
              <a:spcAft>
                <a:spcPts val="600"/>
              </a:spcAft>
            </a:pPr>
            <a:r>
              <a:rPr sz="1800" b="1" i="0">
                <a:solidFill>
                  <a:srgbClr val="8E5CF0"/>
                </a:solidFill>
                <a:latin typeface="Arial"/>
              </a:rPr>
              <a:t>Hướng phát triển</a:t>
            </a:r>
          </a:p>
        </p:txBody>
      </p:sp>
      <p:sp>
        <p:nvSpPr>
          <p:cNvPr id="15" name="TextBox 14"/>
          <p:cNvSpPr txBox="1"/>
          <p:nvPr/>
        </p:nvSpPr>
        <p:spPr>
          <a:xfrm>
            <a:off x="8412480" y="2697480"/>
            <a:ext cx="2697480" cy="3200400"/>
          </a:xfrm>
          <a:prstGeom prst="rect">
            <a:avLst/>
          </a:prstGeom>
          <a:noFill/>
        </p:spPr>
        <p:txBody>
          <a:bodyPr wrap="square" lIns="0" rIns="0" tIns="0" bIns="0" anchor="t">
            <a:spAutoFit/>
          </a:bodyPr>
          <a:lstStyle/>
          <a:p>
            <a:pPr algn="l" marL="274320" indent="-219456">
              <a:spcAft>
                <a:spcPts val="1400"/>
              </a:spcAft>
              <a:buChar char="•"/>
            </a:pPr>
            <a:r>
              <a:rPr sz="1500" b="0" i="0">
                <a:solidFill>
                  <a:srgbClr val="1E2A4A"/>
                </a:solidFill>
                <a:latin typeface="Arial"/>
              </a:rPr>
              <a:t>Cross-validation theo tài xế</a:t>
            </a:r>
          </a:p>
          <a:p>
            <a:pPr algn="l" marL="274320" indent="-219456">
              <a:spcAft>
                <a:spcPts val="1400"/>
              </a:spcAft>
              <a:buChar char="•"/>
            </a:pPr>
            <a:r>
              <a:rPr sz="1500" b="0" i="0">
                <a:solidFill>
                  <a:srgbClr val="1E2A4A"/>
                </a:solidFill>
                <a:latin typeface="Arial"/>
              </a:rPr>
              <a:t>Lượng tử hoá có huấn luyện (QAT)</a:t>
            </a:r>
          </a:p>
          <a:p>
            <a:pPr algn="l" marL="274320" indent="-219456">
              <a:spcAft>
                <a:spcPts val="1400"/>
              </a:spcAft>
              <a:buChar char="•"/>
            </a:pPr>
            <a:r>
              <a:rPr sz="1500" b="0" i="0">
                <a:solidFill>
                  <a:srgbClr val="1E2A4A"/>
                </a:solidFill>
                <a:latin typeface="Arial"/>
              </a:rPr>
              <a:t>Đo trên chip edge thật</a:t>
            </a:r>
          </a:p>
          <a:p>
            <a:pPr algn="l" marL="274320" indent="-219456">
              <a:spcAft>
                <a:spcPts val="1400"/>
              </a:spcAft>
              <a:buChar char="•"/>
            </a:pPr>
            <a:r>
              <a:rPr sz="1500" b="0" i="0">
                <a:solidFill>
                  <a:srgbClr val="1E2A4A"/>
                </a:solidFill>
                <a:latin typeface="Arial"/>
              </a:rPr>
              <a:t>Xem lại nhãn talk_passenger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