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Id id="256" r:id="rId2"/>
    <p:sldId id="257" r:id="rId3"/>
    <p:sldId id="258" r:id="rId4"/>
    <p:sldId id="259" r:id="rId5"/>
    <p:sldId id="260" r:id="rId6"/>
    <p:sldId id="261" r:id="rId7"/>
    <p:sldId id="262" r:id="rId8"/>
    <p:sldId id="268" r:id="rId9"/>
    <p:sldId id="269" r:id="rId10"/>
    <p:sldId id="271" r:id="rId11"/>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7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showGuides="1">
      <p:cViewPr varScale="1">
        <p:scale>
          <a:sx n="111" d="100"/>
          <a:sy n="111" d="100"/>
        </p:scale>
        <p:origin x="642" y="96"/>
      </p:cViewPr>
      <p:guideLst>
        <p:guide orient="horz" pos="2160"/>
        <p:guide pos="3870"/>
      </p:guideLst>
    </p:cSldViewPr>
  </p:slideViewPr>
  <p:notesTextViewPr>
    <p:cViewPr>
      <p:scale>
        <a:sx n="1" d="1"/>
        <a:sy n="1" d="1"/>
      </p:scale>
      <p:origin x="0" y="0"/>
    </p:cViewPr>
  </p:notesTextViewPr>
  <p:notesViewPr>
    <p:cSldViewPr snapToGrid="0">
      <p:cViewPr varScale="1">
        <p:scale>
          <a:sx n="60" d="100"/>
          <a:sy n="60" d="100"/>
        </p:scale>
        <p:origin x="3274"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Test macro-F1, lần chạy 1 (Kaggle)</c:v>
                </c:pt>
              </c:strCache>
            </c:strRef>
          </c:tx>
          <c:spPr>
            <a:solidFill>
              <a:srgbClr val="C9CED6"/>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Sheet1!$B$2:$B$5</c:f>
              <c:numCache>
                <c:formatCode>General</c:formatCode>
                <c:ptCount val="4"/>
                <c:pt idx="0">
                  <c:v>0.752</c:v>
                </c:pt>
                <c:pt idx="1">
                  <c:v>0.78600000000000003</c:v>
                </c:pt>
                <c:pt idx="2">
                  <c:v>0.752</c:v>
                </c:pt>
                <c:pt idx="3">
                  <c:v>0.746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3B8-4E59-9ACB-871ADCAC7EDB}"/>
            </c:ext>
          </c:extLst>
        </c:ser>
        <c:ser>
          <c:idx val="1"/>
          <c:order val="1"/>
          <c:tx>
            <c:strRef>
              <c:f>Sheet1!$C$1</c:f>
              <c:strCache>
                <c:ptCount val="1"/>
                <c:pt idx="0">
                  <c:v>Test macro-F1, chạy lại (Colab)</c:v>
                </c:pt>
              </c:strCache>
            </c:strRef>
          </c:tx>
          <c:spPr>
            <a:solidFill>
              <a:srgbClr val="00A95C"/>
            </a:solidFill>
          </c:spPr>
          <c:invertIfNegative val="1"/>
          <c:dLbls>
            <c:numFmt formatCode="0.000" sourceLinked="0"/>
            <c:spPr>
              <a:noFill/>
              <a:ln>
                <a:noFill/>
              </a:ln>
              <a:effectLst/>
            </c:spPr>
            <c:txPr>
              <a:bodyPr/>
              <a:lstStyle/>
              <a:p>
                <a:pPr>
                  <a:defRPr sz="1200">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MobileNetV3-S</c:v>
                </c:pt>
                <c:pt idx="1">
                  <c:v>EfficientNet-Lite0</c:v>
                </c:pt>
                <c:pt idx="2">
                  <c:v>ResNet18</c:v>
                </c:pt>
                <c:pt idx="3">
                  <c:v>ResNet50</c:v>
                </c:pt>
              </c:strCache>
            </c:strRef>
          </c:cat>
          <c:val>
            <c:numRef>
              <c:f>Sheet1!$C$2:$C$5</c:f>
              <c:numCache>
                <c:formatCode>General</c:formatCode>
                <c:ptCount val="4"/>
                <c:pt idx="0">
                  <c:v>0.79200000000000004</c:v>
                </c:pt>
                <c:pt idx="1">
                  <c:v>0.81499999999999995</c:v>
                </c:pt>
                <c:pt idx="2">
                  <c:v>0.77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3B8-4E59-9ACB-871ADCAC7EDB}"/>
            </c:ext>
          </c:extLst>
        </c:ser>
        <c:dLbls>
          <c:dLblPos val="outEnd"/>
          <c:showLegendKey val="0"/>
          <c:showVal val="1"/>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0.9"/>
          <c:min val="0.6"/>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1"/>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FP32</c:v>
                </c:pt>
              </c:strCache>
            </c:strRef>
          </c:tx>
          <c:spPr>
            <a:solidFill>
              <a:srgbClr val="C9CED6"/>
            </a:solidFill>
          </c:spPr>
          <c:invertIfNegative val="1"/>
          <c:dLbls>
            <c:numFmt formatCode="0.000" sourceLinked="0"/>
            <c:spPr>
              <a:noFill/>
              <a:ln>
                <a:noFill/>
              </a:ln>
              <a:effectLst/>
            </c:spPr>
            <c:txPr>
              <a:bodyPr/>
              <a:lstStyle/>
              <a:p>
                <a:pPr>
                  <a:defRPr sz="1200" b="1">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EfficientNet-Lite0</c:v>
                </c:pt>
                <c:pt idx="1">
                  <c:v>ResNet18</c:v>
                </c:pt>
                <c:pt idx="2">
                  <c:v>MobileNetV3-S</c:v>
                </c:pt>
              </c:strCache>
            </c:strRef>
          </c:cat>
          <c:val>
            <c:numRef>
              <c:f>Sheet1!$B$2:$B$4</c:f>
              <c:numCache>
                <c:formatCode>General</c:formatCode>
                <c:ptCount val="3"/>
                <c:pt idx="0">
                  <c:v>0.81399999999999995</c:v>
                </c:pt>
                <c:pt idx="1">
                  <c:v>0.77100000000000002</c:v>
                </c:pt>
                <c:pt idx="2">
                  <c:v>0.74399999999999999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E98-4C91-B87F-44E9C3185971}"/>
            </c:ext>
          </c:extLst>
        </c:ser>
        <c:ser>
          <c:idx val="1"/>
          <c:order val="1"/>
          <c:tx>
            <c:strRef>
              <c:f>Sheet1!$C$1</c:f>
              <c:strCache>
                <c:ptCount val="1"/>
                <c:pt idx="0">
                  <c:v>INT8</c:v>
                </c:pt>
              </c:strCache>
            </c:strRef>
          </c:tx>
          <c:spPr>
            <a:solidFill>
              <a:srgbClr val="00A95C"/>
            </a:solidFill>
          </c:spPr>
          <c:invertIfNegative val="1"/>
          <c:dPt>
            <c:idx val="2"/>
            <c:invertIfNegative val="1"/>
            <c:bubble3D val="0"/>
            <c:spPr>
              <a:solidFill>
                <a:srgbClr val="F56776"/>
              </a:solidFill>
            </c:spPr>
            <c:extLst>
              <c:ext xmlns:c16="http://schemas.microsoft.com/office/drawing/2014/chart" uri="{C3380CC4-5D6E-409C-BE32-E72D297353CC}">
                <c16:uniqueId val="{00000002-2E98-4C91-B87F-44E9C3185971}"/>
              </c:ext>
            </c:extLst>
          </c:dPt>
          <c:dLbls>
            <c:numFmt formatCode="0.000" sourceLinked="0"/>
            <c:spPr>
              <a:noFill/>
              <a:ln>
                <a:noFill/>
              </a:ln>
              <a:effectLst/>
            </c:spPr>
            <c:txPr>
              <a:bodyPr/>
              <a:lstStyle/>
              <a:p>
                <a:pPr>
                  <a:defRPr sz="1200" b="1">
                    <a:solidFill>
                      <a:srgbClr val="1D2939"/>
                    </a:solidFill>
                    <a:latin typeface="Arial"/>
                  </a:defRPr>
                </a:pPr>
                <a:endParaRPr lang="vi-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EfficientNet-Lite0</c:v>
                </c:pt>
                <c:pt idx="1">
                  <c:v>ResNet18</c:v>
                </c:pt>
                <c:pt idx="2">
                  <c:v>MobileNetV3-S</c:v>
                </c:pt>
              </c:strCache>
            </c:strRef>
          </c:cat>
          <c:val>
            <c:numRef>
              <c:f>Sheet1!$C$2:$C$4</c:f>
              <c:numCache>
                <c:formatCode>General</c:formatCode>
                <c:ptCount val="3"/>
                <c:pt idx="0">
                  <c:v>0.81399999999999995</c:v>
                </c:pt>
                <c:pt idx="1">
                  <c:v>0.77200000000000002</c:v>
                </c:pt>
                <c:pt idx="2">
                  <c:v>0.14399999999999999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2E98-4C91-B87F-44E9C3185971}"/>
            </c:ext>
          </c:extLst>
        </c:ser>
        <c:dLbls>
          <c:dLblPos val="outEnd"/>
          <c:showLegendKey val="0"/>
          <c:showVal val="1"/>
          <c:showCatName val="0"/>
          <c:showSerName val="0"/>
          <c:showPercent val="0"/>
          <c:showBubbleSize val="0"/>
        </c:dLbls>
        <c:gapWidth val="60"/>
        <c:overlap val="-8"/>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3D7DD"/>
            </a:solidFill>
          </a:ln>
        </c:spPr>
        <c:txPr>
          <a:bodyPr/>
          <a:lstStyle/>
          <a:p>
            <a:pPr>
              <a:defRPr sz="1300">
                <a:solidFill>
                  <a:srgbClr val="1D2939"/>
                </a:solidFill>
                <a:latin typeface="Arial"/>
              </a:defRPr>
            </a:pPr>
            <a:endParaRPr lang="vi-VN"/>
          </a:p>
        </c:tx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E3E6EA"/>
              </a:solidFill>
            </a:ln>
          </c:spPr>
        </c:majorGridlines>
        <c:numFmt formatCode="0.0" sourceLinked="0"/>
        <c:majorTickMark val="out"/>
        <c:minorTickMark val="none"/>
        <c:tickLblPos val="nextTo"/>
        <c:spPr>
          <a:ln>
            <a:noFill/>
          </a:ln>
        </c:spPr>
        <c:txPr>
          <a:bodyPr/>
          <a:lstStyle/>
          <a:p>
            <a:pPr>
              <a:defRPr sz="1200">
                <a:solidFill>
                  <a:srgbClr val="474F67"/>
                </a:solidFill>
                <a:latin typeface="Arial"/>
              </a:defRPr>
            </a:pPr>
            <a:endParaRPr lang="vi-VN"/>
          </a:p>
        </c:txPr>
        <c:crossAx val="-2068027336"/>
        <c:crosses val="autoZero"/>
        <c:crossBetween val="between"/>
        <c:majorUnit val="0.2"/>
      </c:valAx>
    </c:plotArea>
    <c:legend>
      <c:legendPos val="b"/>
      <c:overlay val="0"/>
      <c:txPr>
        <a:bodyPr/>
        <a:lstStyle/>
        <a:p>
          <a:pPr>
            <a:defRPr sz="1300">
              <a:solidFill>
                <a:srgbClr val="474F67"/>
              </a:solidFill>
              <a:latin typeface="Arial"/>
            </a:defRPr>
          </a:pPr>
          <a:endParaRPr lang="vi-VN"/>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strRef>
              <c:f>Sheet1!$B$1</c:f>
              <c:strCache>
                <c:ptCount val="1"/>
                <c:pt idx="0">
                  <c:v>FP32</c:v>
                </c:pt>
              </c:strCache>
            </c:strRef>
          </c:tx>
          <c:spPr>
            <a:ln w="47625">
              <a:noFill/>
            </a:ln>
          </c:spPr>
          <c:marker>
            <c:symbol val="circle"/>
            <c:size val="12"/>
            <c:spPr>
              <a:solidFill>
                <a:srgbClr val="8A93A6"/>
              </a:solidFill>
              <a:ln>
                <a:solidFill>
                  <a:srgbClr val="FFFFFF"/>
                </a:solidFill>
              </a:ln>
            </c:spPr>
          </c:marker>
          <c:dLbls>
            <c:dLbl>
              <c:idx val="0"/>
              <c:tx>
                <c:rich>
                  <a:bodyPr/>
                  <a:lstStyle/>
                  <a:p>
                    <a:r>
                      <a:rPr lang="en-US" sz="1100">
                        <a:solidFill>
                          <a:srgbClr val="1D2939"/>
                        </a:solidFill>
                        <a:latin typeface="Arial"/>
                      </a:rPr>
                      <a:t>EfficientNet-Lite0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171C-42D7-8FB8-29C2CF4AFFC6}"/>
                </c:ext>
              </c:extLst>
            </c:dLbl>
            <c:dLbl>
              <c:idx val="1"/>
              <c:tx>
                <c:rich>
                  <a:bodyPr/>
                  <a:lstStyle/>
                  <a:p>
                    <a:r>
                      <a:rPr lang="en-US" sz="1100">
                        <a:solidFill>
                          <a:srgbClr val="1D2939"/>
                        </a:solidFill>
                        <a:latin typeface="Arial"/>
                      </a:rPr>
                      <a:t>ResNet18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171C-42D7-8FB8-29C2CF4AFFC6}"/>
                </c:ext>
              </c:extLst>
            </c:dLbl>
            <c:dLbl>
              <c:idx val="2"/>
              <c:tx>
                <c:rich>
                  <a:bodyPr/>
                  <a:lstStyle/>
                  <a:p>
                    <a:r>
                      <a:rPr lang="en-US" sz="1100">
                        <a:solidFill>
                          <a:srgbClr val="1D2939"/>
                        </a:solidFill>
                        <a:latin typeface="Arial"/>
                      </a:rPr>
                      <a:t>MobileNetV3-S</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171C-42D7-8FB8-29C2CF4AFF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Sheet1!$A$2:$A$4</c:f>
              <c:numCache>
                <c:formatCode>General</c:formatCode>
                <c:ptCount val="3"/>
                <c:pt idx="0">
                  <c:v>8.16</c:v>
                </c:pt>
                <c:pt idx="1">
                  <c:v>29.05</c:v>
                </c:pt>
                <c:pt idx="2">
                  <c:v>1.65</c:v>
                </c:pt>
              </c:numCache>
            </c:numRef>
          </c:xVal>
          <c:yVal>
            <c:numRef>
              <c:f>Sheet1!$B$2:$B$4</c:f>
              <c:numCache>
                <c:formatCode>General</c:formatCode>
                <c:ptCount val="3"/>
                <c:pt idx="0">
                  <c:v>0.81399999999999995</c:v>
                </c:pt>
                <c:pt idx="1">
                  <c:v>0.77100000000000002</c:v>
                </c:pt>
                <c:pt idx="2">
                  <c:v>0.74399999999999999</c:v>
                </c:pt>
              </c:numCache>
            </c:numRef>
          </c:yVal>
          <c:smooth val="0"/>
          <c:extLst>
            <c:ext xmlns:c16="http://schemas.microsoft.com/office/drawing/2014/chart" uri="{C3380CC4-5D6E-409C-BE32-E72D297353CC}">
              <c16:uniqueId val="{00000003-171C-42D7-8FB8-29C2CF4AFFC6}"/>
            </c:ext>
          </c:extLst>
        </c:ser>
        <c:ser>
          <c:idx val="1"/>
          <c:order val="1"/>
          <c:tx>
            <c:strRef>
              <c:f>Sheet1!$B$6</c:f>
              <c:strCache>
                <c:ptCount val="1"/>
                <c:pt idx="0">
                  <c:v>INT8</c:v>
                </c:pt>
              </c:strCache>
            </c:strRef>
          </c:tx>
          <c:spPr>
            <a:ln w="47625">
              <a:noFill/>
            </a:ln>
          </c:spPr>
          <c:marker>
            <c:symbol val="circle"/>
            <c:size val="12"/>
            <c:spPr>
              <a:solidFill>
                <a:srgbClr val="00A95C"/>
              </a:solidFill>
              <a:ln>
                <a:solidFill>
                  <a:srgbClr val="FFFFFF"/>
                </a:solidFill>
              </a:ln>
            </c:spPr>
          </c:marker>
          <c:dLbls>
            <c:dLbl>
              <c:idx val="0"/>
              <c:tx>
                <c:rich>
                  <a:bodyPr/>
                  <a:lstStyle/>
                  <a:p>
                    <a:r>
                      <a:rPr lang="en-US" sz="1100">
                        <a:solidFill>
                          <a:srgbClr val="1D2939"/>
                        </a:solidFill>
                        <a:latin typeface="Arial"/>
                      </a:rPr>
                      <a:t>EfficientNet-Lite0</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171C-42D7-8FB8-29C2CF4AFFC6}"/>
                </c:ext>
              </c:extLst>
            </c:dLbl>
            <c:dLbl>
              <c:idx val="1"/>
              <c:tx>
                <c:rich>
                  <a:bodyPr/>
                  <a:lstStyle/>
                  <a:p>
                    <a:r>
                      <a:rPr lang="en-US" sz="1100">
                        <a:solidFill>
                          <a:srgbClr val="1D2939"/>
                        </a:solidFill>
                        <a:latin typeface="Arial"/>
                      </a:rPr>
                      <a:t>ResNet18</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171C-42D7-8FB8-29C2CF4AFFC6}"/>
                </c:ext>
              </c:extLst>
            </c:dLbl>
            <c:dLbl>
              <c:idx val="2"/>
              <c:tx>
                <c:rich>
                  <a:bodyPr/>
                  <a:lstStyle/>
                  <a:p>
                    <a:r>
                      <a:rPr lang="en-US" sz="1100">
                        <a:solidFill>
                          <a:srgbClr val="1D2939"/>
                        </a:solidFill>
                        <a:latin typeface="Arial"/>
                      </a:rPr>
                      <a:t>MobileNetV3-S</a:t>
                    </a:r>
                  </a:p>
                </c:rich>
              </c:tx>
              <c:dLblPos val="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171C-42D7-8FB8-29C2CF4AFFC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Sheet1!$A$7:$A$9</c:f>
              <c:numCache>
                <c:formatCode>General</c:formatCode>
                <c:ptCount val="3"/>
                <c:pt idx="0">
                  <c:v>5.12</c:v>
                </c:pt>
                <c:pt idx="1">
                  <c:v>9.25</c:v>
                </c:pt>
                <c:pt idx="2">
                  <c:v>2.2999999999999998</c:v>
                </c:pt>
              </c:numCache>
            </c:numRef>
          </c:xVal>
          <c:yVal>
            <c:numRef>
              <c:f>Sheet1!$B$7:$B$9</c:f>
              <c:numCache>
                <c:formatCode>General</c:formatCode>
                <c:ptCount val="3"/>
                <c:pt idx="0">
                  <c:v>0.81399999999999995</c:v>
                </c:pt>
                <c:pt idx="1">
                  <c:v>0.77200000000000002</c:v>
                </c:pt>
                <c:pt idx="2">
                  <c:v>0.14399999999999999</c:v>
                </c:pt>
              </c:numCache>
            </c:numRef>
          </c:yVal>
          <c:smooth val="0"/>
          <c:extLst>
            <c:ext xmlns:c16="http://schemas.microsoft.com/office/drawing/2014/chart" uri="{C3380CC4-5D6E-409C-BE32-E72D297353CC}">
              <c16:uniqueId val="{00000007-171C-42D7-8FB8-29C2CF4AFFC6}"/>
            </c:ext>
          </c:extLst>
        </c:ser>
        <c:dLbls>
          <c:showLegendKey val="0"/>
          <c:showVal val="0"/>
          <c:showCatName val="0"/>
          <c:showSerName val="0"/>
          <c:showPercent val="0"/>
          <c:showBubbleSize val="0"/>
        </c:dLbls>
        <c:axId val="-2128940872"/>
        <c:axId val="-2129643912"/>
      </c:scatterChart>
      <c:valAx>
        <c:axId val="-2128940872"/>
        <c:scaling>
          <c:orientation val="minMax"/>
          <c:max val="32"/>
          <c:min val="0"/>
        </c:scaling>
        <c:delete val="0"/>
        <c:axPos val="b"/>
        <c:majorGridlines>
          <c:spPr>
            <a:ln>
              <a:solidFill>
                <a:srgbClr val="E3E6EA"/>
              </a:solidFill>
            </a:ln>
          </c:spPr>
        </c:majorGridlines>
        <c:title>
          <c:tx>
            <c:rich>
              <a:bodyPr/>
              <a:lstStyle/>
              <a:p>
                <a:r>
                  <a:rPr lang="vi-VN" sz="1300" b="0">
                    <a:solidFill>
                      <a:srgbClr val="474F67"/>
                    </a:solidFill>
                    <a:latin typeface="Arial"/>
                  </a:rPr>
                  <a:t>Độ trễ một ảnh trên CPU (ms), càng thấp càng nhanh</a:t>
                </a:r>
              </a:p>
            </c:rich>
          </c:tx>
          <c:overlay val="0"/>
        </c:title>
        <c:numFmt formatCode="General" sourceLinked="1"/>
        <c:majorTickMark val="out"/>
        <c:minorTickMark val="none"/>
        <c:tickLblPos val="nextTo"/>
        <c:spPr>
          <a:ln>
            <a:solidFill>
              <a:srgbClr val="D3D7DD"/>
            </a:solidFill>
          </a:ln>
        </c:spPr>
        <c:txPr>
          <a:bodyPr/>
          <a:lstStyle/>
          <a:p>
            <a:pPr>
              <a:defRPr sz="1200">
                <a:solidFill>
                  <a:srgbClr val="474F67"/>
                </a:solidFill>
                <a:latin typeface="Arial"/>
              </a:defRPr>
            </a:pPr>
            <a:endParaRPr lang="vi-VN"/>
          </a:p>
        </c:txPr>
        <c:crossAx val="-2129643912"/>
        <c:crosses val="autoZero"/>
        <c:crossBetween val="midCat"/>
        <c:majorUnit val="4"/>
      </c:valAx>
      <c:valAx>
        <c:axId val="-2129643912"/>
        <c:scaling>
          <c:orientation val="minMax"/>
          <c:max val="1"/>
          <c:min val="0"/>
        </c:scaling>
        <c:delete val="0"/>
        <c:axPos val="l"/>
        <c:majorGridlines>
          <c:spPr>
            <a:ln>
              <a:solidFill>
                <a:srgbClr val="E3E6EA"/>
              </a:solidFill>
            </a:ln>
          </c:spPr>
        </c:majorGridlines>
        <c:title>
          <c:tx>
            <c:rich>
              <a:bodyPr/>
              <a:lstStyle/>
              <a:p>
                <a:r>
                  <a:rPr lang="vi-VN" sz="1300" b="0">
                    <a:solidFill>
                      <a:srgbClr val="474F67"/>
                    </a:solidFill>
                    <a:latin typeface="Arial"/>
                  </a:rPr>
                  <a:t>Test macro-F1</a:t>
                </a:r>
              </a:p>
            </c:rich>
          </c:tx>
          <c:overlay val="0"/>
        </c:title>
        <c:numFmt formatCode="0.0" sourceLinked="0"/>
        <c:majorTickMark val="out"/>
        <c:minorTickMark val="none"/>
        <c:tickLblPos val="nextTo"/>
        <c:spPr>
          <a:ln>
            <a:solidFill>
              <a:srgbClr val="D3D7DD"/>
            </a:solidFill>
          </a:ln>
        </c:spPr>
        <c:txPr>
          <a:bodyPr/>
          <a:lstStyle/>
          <a:p>
            <a:pPr>
              <a:defRPr sz="1200">
                <a:solidFill>
                  <a:srgbClr val="474F67"/>
                </a:solidFill>
                <a:latin typeface="Arial"/>
              </a:defRPr>
            </a:pPr>
            <a:endParaRPr lang="vi-VN"/>
          </a:p>
        </c:txPr>
        <c:crossAx val="-2128940872"/>
        <c:crosses val="autoZero"/>
        <c:crossBetween val="midCat"/>
        <c:majorUnit val="0.2"/>
      </c:valAx>
    </c:plotArea>
    <c:legend>
      <c:legendPos val="b"/>
      <c:overlay val="0"/>
      <c:txPr>
        <a:bodyPr/>
        <a:lstStyle/>
        <a:p>
          <a:pPr>
            <a:defRPr sz="1300">
              <a:solidFill>
                <a:srgbClr val="474F67"/>
              </a:solidFill>
              <a:latin typeface="Arial"/>
            </a:defRPr>
          </a:pPr>
          <a:endParaRPr lang="vi-VN"/>
        </a:p>
      </c:txPr>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8475"/>
          </a:xfrm>
          <a:prstGeom prst="rect">
            <a:avLst/>
          </a:prstGeom>
        </p:spPr>
        <p:txBody>
          <a:bodyPr vert="horz" lIns="91440" tIns="45720" rIns="91440" bIns="45720" rtlCol="0"/>
          <a:lstStyle>
            <a:lvl1pPr algn="r">
              <a:defRPr sz="1200"/>
            </a:lvl1pPr>
          </a:lstStyle>
          <a:p>
            <a:fld id="{4703510E-2DD8-44D2-8140-5CCCAF97B4E9}" type="datetimeFigureOut">
              <a:rPr lang="en-US" smtClean="0"/>
              <a:t>10/13/2026</a:t>
            </a:fld>
            <a:endParaRPr lang="en-US"/>
          </a:p>
        </p:txBody>
      </p:sp>
      <p:sp>
        <p:nvSpPr>
          <p:cNvPr id="4" name="Footer Placeholder 3"/>
          <p:cNvSpPr>
            <a:spLocks noGrp="1"/>
          </p:cNvSpPr>
          <p:nvPr>
            <p:ph type="ftr" sz="quarter" idx="2"/>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8475"/>
          </a:xfrm>
          <a:prstGeom prst="rect">
            <a:avLst/>
          </a:prstGeom>
        </p:spPr>
        <p:txBody>
          <a:bodyPr vert="horz" lIns="91440" tIns="45720" rIns="91440" bIns="45720" rtlCol="0" anchor="b"/>
          <a:lstStyle>
            <a:lvl1pPr algn="r">
              <a:defRPr sz="1200"/>
            </a:lvl1pPr>
          </a:lstStyle>
          <a:p>
            <a:fld id="{EAA54B8A-DE42-4955-AB74-C41E4CB4D3F6}"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84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8475"/>
          </a:xfrm>
          <a:prstGeom prst="rect">
            <a:avLst/>
          </a:prstGeom>
        </p:spPr>
        <p:txBody>
          <a:bodyPr vert="horz" lIns="91440" tIns="45720" rIns="91440" bIns="45720" rtlCol="0"/>
          <a:lstStyle>
            <a:lvl1pPr algn="r">
              <a:defRPr sz="1200"/>
            </a:lvl1pPr>
          </a:lstStyle>
          <a:p>
            <a:fld id="{28ED40D3-4564-40BF-B8A4-5D7EEBD71B30}" type="datetimeFigureOut">
              <a:rPr lang="en-US" smtClean="0"/>
              <a:t>10/13/2026</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8375"/>
            <a:ext cx="5438775" cy="390842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9750"/>
            <a:ext cx="2946400" cy="4984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8475"/>
          </a:xfrm>
          <a:prstGeom prst="rect">
            <a:avLst/>
          </a:prstGeom>
        </p:spPr>
        <p:txBody>
          <a:bodyPr vert="horz" lIns="91440" tIns="45720" rIns="91440" bIns="45720" rtlCol="0" anchor="b"/>
          <a:lstStyle>
            <a:lvl1pPr algn="r">
              <a:defRPr sz="1200"/>
            </a:lvl1pPr>
          </a:lstStyle>
          <a:p>
            <a:fld id="{C1936BE8-C6B9-419E-9D56-FD3E701AF11E}"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Giới thiệu đề tài: nhận diện hành vi mất tập trung của tài xế từ camera trong xe, với ràng buộc chạy trên thiết bị edge (ít bộ nhớ, ít tính toán). Câu hỏi chính là đánh đổi giữa độ chính xác và tài nguyên.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thường (cloud): thiết bị gửi ảnh lên máy chủ mạnh, máy chủ chạy mô hình rồi trả kết quả. Edge AI: mô hình chạy ngay trên thiết bị trong xe. Với bài toán này edge hợp lý vì cảnh báo cần kịp thời (không chờ mạng), video mặt tài xế nhạy cảm nên ở lại thiết bị, và xe có lúc mất sóng. Cái giá phải trả: chip trong xe có rất ít bộ nhớ, tính toán và điện, nên mô hình phải nhỏ và nhanh. Đây là lập luận chung về edge AI, không phải kết quả em đo.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Mọi ảnh 640x480, 26 tài xế, mỗi tài xế có đủ 10 lớp. Gộp 4 lớp điện thoại thành 1 làm lớp phone chiếm khoảng 41,6% ảnh train: đây chính là nguồn của mất cân bằng lớp.</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Quy trình nằm trong code: prepare_data tạo manifest và chia theo tài xế, preprocess bỏ ảnh gần trùng và resize. 2.417 ảnh bị loại, áp dụng cho cả train, val và test.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Giao thức giữ cố định cho mọi mô hình để so sánh công bằng. Epoch được chọn theo val macro-F1, còn test chỉ chạy một lần với checkpoint đã chọn.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MACs là số phép nhân cộng cho một ảnh, đo bằng bộ đếm FLOP của PyTorch. Hai mô hình nhẹ là ứng viên đưa lên edge, hai ResNet là mốc để xem mất bao nhiêu độ chính xác khi thu nhỏ mô hình.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Hai lần chạy cùng cấu hình, seed 42, chỉ khác máy (Kaggle P100 và Colab T4). Điểm lệch khoảng 0,02 đến 0,03, nên chênh lệch dưới mức này giữa hai mô hình chưa chắc là thật. EfficientNet-Lite0 cao nhất ở cả hai lần.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Mô hình huấn luyện thường quá lớn cho chip edge nên phải thu nhỏ qua hai bước: chọn kiến trúc nhỏ hơn, rồi lượng tử hoá từ số thực 32 bit sang số nguyên 8 bit. Bước đầu mất khả năng biểu diễn; bước sau gây sai số làm tròn, nhỏ ở từng lớp nhưng cộng dồn. Một số lớp như hard-swish và khối squeeze-excite của MobileNetV3 đặc biệt nhạy với làm tròn (đây là giải thích em đưa ra, chưa kiểm chứng riêng). Cách khắc phục: chọn kiến trúc thân thiện lượng tử hoá (EfficientNet-Lite dùng ReLU6), hiệu chỉnh bằng ảnh mẫu, hoặc huấn luyện có tính đến lượng tử hoá (QAT, hướng phát triển).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Bản FP32 xuất qua ONNX cho điểm giống lúc huấn luyện, nên đường ống đúng. Sau INT8 static, EfficientNet-Lite0 và ResNet18 gần như không đổi điểm; MobileNetV3-Small sập, dù thử minmax, entropy, percentile, qoperator, dynamic. Nguyên nhân em nghi là hard-swish và khối squeeze-excite nhạy với làm tròn; EfficientNet-Lite dùng ReLU6 vốn thiết kế cho lượng tử hoá. Đây là giả thuyết, chưa kiểm chứng riêng.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biểu đồ trả lời trực tiếp câu hỏi nghiên cứu: mỗi điểm là một mô hình ở một độ chính xác số học. Càng lên cao càng chính xác, càng sang trái càng nhanh. EfficientNet-Lite0 INT8 nằm ở góc trên bên trái trong các mô hình qua được INT8. MobileNetV3-Small INT8 rất nhanh nhưng độ chính xác sập nên nằm sát đáy.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GiaBa-UTEHY">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1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8" name="Picture 16" descr="A collage of buildings&#10;&#10;Description automatically generated"/>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RUONG">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373209" y="331948"/>
            <a:ext cx="6464263" cy="69934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KHOA CƠ KHÍ">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7"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8" name="Picture 16" descr="A collage of buildings&#10;&#10;Description automatically generated"/>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pic>
        <p:nvPicPr>
          <p:cNvPr id="9" name="Picture 6"/>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KHOA CKDL">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2" y="329805"/>
            <a:ext cx="6048826"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CN May &amp;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6"/>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CNT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5" y="329805"/>
            <a:ext cx="6048819"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KHCB">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5"/>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DĐ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29805"/>
            <a:ext cx="6048812" cy="831024"/>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CNHH &amp;M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8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33178" y="334428"/>
            <a:ext cx="6048812"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NN">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3289" y="334428"/>
            <a:ext cx="5988589"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428"/>
            <a:ext cx="5981505" cy="821778"/>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PK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6831" y="334833"/>
            <a:ext cx="5981505"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LLCT">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4833"/>
            <a:ext cx="5975602" cy="820967"/>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GDTC&amp;QP">
    <p:spTree>
      <p:nvGrpSpPr>
        <p:cNvPr id="1" name=""/>
        <p:cNvGrpSpPr/>
        <p:nvPr/>
      </p:nvGrpSpPr>
      <p:grpSpPr>
        <a:xfrm>
          <a:off x="0" y="0"/>
          <a:ext cx="0" cy="0"/>
          <a:chOff x="0" y="0"/>
          <a:chExt cx="0" cy="0"/>
        </a:xfrm>
      </p:grpSpPr>
      <p:pic>
        <p:nvPicPr>
          <p:cNvPr id="20" name="Picture 19" descr="A black background with lines&#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0"/>
            <a:ext cx="13719239" cy="6858000"/>
          </a:xfrm>
          <a:prstGeom prst="rect">
            <a:avLst/>
          </a:prstGeom>
        </p:spPr>
      </p:pic>
      <p:sp>
        <p:nvSpPr>
          <p:cNvPr id="2" name="Title 1"/>
          <p:cNvSpPr>
            <a:spLocks noGrp="1"/>
          </p:cNvSpPr>
          <p:nvPr>
            <p:ph type="ctrTitle"/>
          </p:nvPr>
        </p:nvSpPr>
        <p:spPr>
          <a:xfrm>
            <a:off x="240481" y="1782501"/>
            <a:ext cx="6596991" cy="1405577"/>
          </a:xfrm>
        </p:spPr>
        <p:txBody>
          <a:bodyPr anchor="ctr">
            <a:noAutofit/>
          </a:bodyPr>
          <a:lstStyle>
            <a:lvl1pPr algn="ctr">
              <a:defRPr sz="4000">
                <a:solidFill>
                  <a:schemeClr val="tx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217087" y="3582634"/>
            <a:ext cx="6620386" cy="1655762"/>
          </a:xfrm>
        </p:spPr>
        <p:txBody>
          <a:bodyPr anchor="ctr">
            <a:normAutofit/>
          </a:bodyPr>
          <a:lstStyle>
            <a:lvl1pPr marL="0" indent="0" algn="ctr">
              <a:buNone/>
              <a:defRPr sz="28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endParaRPr lang="en-US"/>
          </a:p>
        </p:txBody>
      </p:sp>
      <p:sp>
        <p:nvSpPr>
          <p:cNvPr id="6" name="Slide Number Placeholder 5"/>
          <p:cNvSpPr>
            <a:spLocks noGrp="1"/>
          </p:cNvSpPr>
          <p:nvPr>
            <p:ph type="sldNum" sz="quarter" idx="12"/>
          </p:nvPr>
        </p:nvSpPr>
        <p:spPr>
          <a:xfrm>
            <a:off x="8861164" y="6275903"/>
            <a:ext cx="2743200" cy="365125"/>
          </a:xfrm>
        </p:spPr>
        <p:txBody>
          <a:bodyPr/>
          <a:lstStyle>
            <a:lvl1pPr>
              <a:defRPr sz="1400">
                <a:solidFill>
                  <a:schemeClr val="tx1"/>
                </a:solidFill>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18" name="Picture 17"/>
          <p:cNvPicPr>
            <a:picLocks noChangeAspect="1"/>
          </p:cNvPicPr>
          <p:nvPr userDrawn="1"/>
        </p:nvPicPr>
        <p:blipFill>
          <a:blip cstate="print">
            <a:extLst>
              <a:ext uri="{28A0092B-C50C-407E-A947-70E740481C1C}">
                <a14:useLocalDpi xmlns:a14="http://schemas.microsoft.com/office/drawing/2010/main" val="0"/>
              </a:ext>
            </a:extLst>
          </a:blip>
          <a:srcRect/>
          <a:stretch>
            <a:fillRect/>
          </a:stretch>
        </p:blipFill>
        <p:spPr>
          <a:xfrm>
            <a:off x="469782" y="338765"/>
            <a:ext cx="5975602" cy="813102"/>
          </a:xfrm>
          <a:prstGeom prst="rect">
            <a:avLst/>
          </a:prstGeom>
        </p:spPr>
      </p:pic>
      <p:pic>
        <p:nvPicPr>
          <p:cNvPr id="17" name="Picture 16" descr="A collage of buildings&#10;&#10;Description automatically generated"/>
          <p:cNvPicPr>
            <a:picLocks noChangeAspect="1"/>
          </p:cNvPicPr>
          <p:nvPr userDrawn="1"/>
        </p:nvPicPr>
        <p:blipFill>
          <a:blip cstate="print">
            <a:extLst>
              <a:ext uri="{28A0092B-C50C-407E-A947-70E740481C1C}">
                <a14:useLocalDpi xmlns:a14="http://schemas.microsoft.com/office/drawing/2010/main" val="0"/>
              </a:ext>
            </a:extLst>
          </a:blip>
          <a:stretch>
            <a:fillRect/>
          </a:stretch>
        </p:blipFill>
        <p:spPr>
          <a:xfrm>
            <a:off x="6696445" y="426461"/>
            <a:ext cx="5495555" cy="603200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a:off x="1229" y="0"/>
            <a:ext cx="12189542" cy="6857999"/>
          </a:xfrm>
          <a:prstGeom prst="rect">
            <a:avLst/>
          </a:prstGeom>
        </p:spPr>
      </p:pic>
      <p:sp>
        <p:nvSpPr>
          <p:cNvPr id="2" name="Title 1"/>
          <p:cNvSpPr>
            <a:spLocks noGrp="1"/>
          </p:cNvSpPr>
          <p:nvPr>
            <p:ph type="title"/>
          </p:nvPr>
        </p:nvSpPr>
        <p:spPr>
          <a:xfrm>
            <a:off x="230819" y="1"/>
            <a:ext cx="9619238" cy="681036"/>
          </a:xfrm>
        </p:spPr>
        <p:txBody>
          <a:bodyPr>
            <a:normAutofit/>
          </a:bodyPr>
          <a:lstStyle>
            <a:lvl1pPr>
              <a:defRPr sz="3200"/>
            </a:lvl1pPr>
          </a:lstStyle>
          <a:p>
            <a:r>
              <a:rPr lang="en-US"/>
              <a:t>Click to edit Master title style</a:t>
            </a:r>
          </a:p>
        </p:txBody>
      </p:sp>
      <p:sp>
        <p:nvSpPr>
          <p:cNvPr id="3" name="Content Placeholder 2"/>
          <p:cNvSpPr>
            <a:spLocks noGrp="1"/>
          </p:cNvSpPr>
          <p:nvPr>
            <p:ph idx="1"/>
          </p:nvPr>
        </p:nvSpPr>
        <p:spPr>
          <a:xfrm>
            <a:off x="230819" y="775504"/>
            <a:ext cx="11771791" cy="5401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230819" y="6334918"/>
            <a:ext cx="2743200" cy="365125"/>
          </a:xfrm>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a:xfrm>
            <a:off x="3734909" y="6356350"/>
            <a:ext cx="4114800" cy="365125"/>
          </a:xfrm>
        </p:spPr>
        <p:txBody>
          <a:bodyPr/>
          <a:lstStyle/>
          <a:p>
            <a:endParaRPr lang="en-US"/>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mtClean="0"/>
              <a:t>‹#›</a:t>
            </a:fld>
            <a:endParaRPr lang="en-US"/>
          </a:p>
        </p:txBody>
      </p:sp>
      <p:pic>
        <p:nvPicPr>
          <p:cNvPr id="9" name="Picture 8" descr="A person holding a card with a bouquet of flowers&#10;&#10;Description automatically generated"/>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77" y="707671"/>
            <a:ext cx="12189541" cy="6150054"/>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602975-B289-4314-8493-37304AB31C48}"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602975-B289-4314-8493-37304AB31C48}"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602975-B289-4314-8493-37304AB31C48}"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747C95-3AE6-4FC3-BEF5-3AF60B1E4490}" type="slidenum">
              <a:rPr lang="en-US" smtClean="0"/>
              <a:t>‹#›</a:t>
            </a:fld>
            <a:endParaRPr lang="en-US"/>
          </a:p>
        </p:txBody>
      </p:sp>
      <p:grpSp>
        <p:nvGrpSpPr>
          <p:cNvPr id="11" name="Group 10"/>
          <p:cNvGrpSpPr/>
          <p:nvPr userDrawn="1"/>
        </p:nvGrpSpPr>
        <p:grpSpPr>
          <a:xfrm>
            <a:off x="5562600" y="-212634"/>
            <a:ext cx="9723120" cy="6568984"/>
            <a:chOff x="5765711" y="766150"/>
            <a:chExt cx="6803076" cy="4596189"/>
          </a:xfrm>
        </p:grpSpPr>
        <p:sp>
          <p:nvSpPr>
            <p:cNvPr id="6" name="Rectangle 5"/>
            <p:cNvSpPr/>
            <p:nvPr userDrawn="1"/>
          </p:nvSpPr>
          <p:spPr>
            <a:xfrm rot="2700000">
              <a:off x="5765711" y="1908218"/>
              <a:ext cx="384721" cy="384721"/>
            </a:xfrm>
            <a:prstGeom prst="rect">
              <a:avLst/>
            </a:prstGeom>
            <a:solidFill>
              <a:srgbClr val="00B0F0"/>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7" name="Rectangle 6"/>
            <p:cNvSpPr/>
            <p:nvPr userDrawn="1"/>
          </p:nvSpPr>
          <p:spPr>
            <a:xfrm rot="2700000">
              <a:off x="6152172" y="2195720"/>
              <a:ext cx="1737049" cy="1737049"/>
            </a:xfrm>
            <a:prstGeom prst="rect">
              <a:avLst/>
            </a:prstGeom>
            <a:solidFill>
              <a:srgbClr val="00B05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9" name="Rectangle 8"/>
            <p:cNvSpPr/>
            <p:nvPr userDrawn="1"/>
          </p:nvSpPr>
          <p:spPr>
            <a:xfrm rot="2700000">
              <a:off x="7310581" y="3251267"/>
              <a:ext cx="1487359" cy="1487359"/>
            </a:xfrm>
            <a:prstGeom prst="rect">
              <a:avLst/>
            </a:prstGeom>
            <a:solidFill>
              <a:srgbClr val="00B0F0"/>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5" name="Rectangle 4"/>
            <p:cNvSpPr/>
            <p:nvPr userDrawn="1"/>
          </p:nvSpPr>
          <p:spPr>
            <a:xfrm rot="2700000">
              <a:off x="7972598" y="766150"/>
              <a:ext cx="4596189" cy="4596189"/>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8" name="Rectangle 7"/>
            <p:cNvSpPr/>
            <p:nvPr userDrawn="1"/>
          </p:nvSpPr>
          <p:spPr>
            <a:xfrm rot="2700000">
              <a:off x="6728295" y="2190471"/>
              <a:ext cx="1747549" cy="1747549"/>
            </a:xfrm>
            <a:prstGeom prst="rect">
              <a:avLst/>
            </a:prstGeom>
            <a:solidFill>
              <a:schemeClr val="bg1"/>
            </a:solidFill>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sp>
          <p:nvSpPr>
            <p:cNvPr id="10" name="Rectangle 9"/>
            <p:cNvSpPr/>
            <p:nvPr userDrawn="1"/>
          </p:nvSpPr>
          <p:spPr>
            <a:xfrm rot="2700000">
              <a:off x="6248428" y="4310369"/>
              <a:ext cx="544142" cy="544142"/>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en-US" b="0" cap="none" spc="0">
                <a:ln w="0"/>
                <a:solidFill>
                  <a:schemeClr val="accent1"/>
                </a:solidFill>
                <a:effectLst>
                  <a:outerShdw blurRad="38100" dist="25400" dir="5400000" algn="ctr" rotWithShape="0">
                    <a:srgbClr val="6E747A">
                      <a:alpha val="43000"/>
                    </a:srgbClr>
                  </a:outerShdw>
                </a:effectLst>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602975-B289-4314-8493-37304AB31C48}"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602975-B289-4314-8493-37304AB31C48}"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747C95-3AE6-4FC3-BEF5-3AF60B1E449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21803" y="1"/>
            <a:ext cx="9028253" cy="68103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775504"/>
            <a:ext cx="10515600" cy="54014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602975-B289-4314-8493-37304AB31C48}" type="datetimeFigureOut">
              <a:rPr lang="en-US" smtClean="0"/>
              <a:t>10/13/2026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747C95-3AE6-4FC3-BEF5-3AF60B1E449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txStyles>
    <p:titleStyle>
      <a:lvl1pPr algn="l" defTabSz="914400" rtl="0" eaLnBrk="1" latinLnBrk="0" hangingPunct="1">
        <a:lnSpc>
          <a:spcPct val="90000"/>
        </a:lnSpc>
        <a:spcBef>
          <a:spcPct val="0"/>
        </a:spcBef>
        <a:buNone/>
        <a:defRPr sz="4000" kern="1200">
          <a:solidFill>
            <a:schemeClr val="bg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a:t>
            </a:fld>
            <a:endParaRPr lang="en-US"/>
          </a:p>
        </p:txBody>
      </p:sp>
      <p:sp>
        <p:nvSpPr>
          <p:cNvPr id="7" name="DeckTitle"/>
          <p:cNvSpPr txBox="1"/>
          <p:nvPr/>
        </p:nvSpPr>
        <p:spPr>
          <a:xfrm>
            <a:off x="344538" y="2755910"/>
            <a:ext cx="7589520" cy="523220"/>
          </a:xfrm>
          <a:prstGeom prst="rect">
            <a:avLst/>
          </a:prstGeom>
          <a:noFill/>
        </p:spPr>
        <p:txBody>
          <a:bodyPr wrap="square" lIns="0" tIns="0" rIns="0" bIns="0" anchor="t">
            <a:spAutoFit/>
          </a:bodyPr>
          <a:lstStyle/>
          <a:p>
            <a:pPr algn="l">
              <a:spcAft>
                <a:spcPts val="1000"/>
              </a:spcAft>
            </a:pPr>
            <a:r>
              <a:rPr sz="3400" b="1" i="0" dirty="0" err="1">
                <a:solidFill>
                  <a:srgbClr val="000000"/>
                </a:solidFill>
                <a:latin typeface="Arial"/>
              </a:rPr>
              <a:t>Nhận</a:t>
            </a:r>
            <a:r>
              <a:rPr sz="3400" b="1" i="0" dirty="0">
                <a:solidFill>
                  <a:srgbClr val="000000"/>
                </a:solidFill>
                <a:latin typeface="Arial"/>
              </a:rPr>
              <a:t> </a:t>
            </a:r>
            <a:r>
              <a:rPr sz="3400" b="1" i="0" dirty="0" err="1">
                <a:solidFill>
                  <a:srgbClr val="000000"/>
                </a:solidFill>
                <a:latin typeface="Arial"/>
              </a:rPr>
              <a:t>diện</a:t>
            </a:r>
            <a:r>
              <a:rPr sz="3400" b="1" i="0" dirty="0">
                <a:solidFill>
                  <a:srgbClr val="000000"/>
                </a:solidFill>
                <a:latin typeface="Arial"/>
              </a:rPr>
              <a:t> </a:t>
            </a:r>
            <a:r>
              <a:rPr sz="3400" b="1" i="0" dirty="0" err="1">
                <a:solidFill>
                  <a:srgbClr val="000000"/>
                </a:solidFill>
                <a:latin typeface="Arial"/>
              </a:rPr>
              <a:t>tài</a:t>
            </a:r>
            <a:r>
              <a:rPr sz="3400" b="1" i="0" dirty="0">
                <a:solidFill>
                  <a:srgbClr val="000000"/>
                </a:solidFill>
                <a:latin typeface="Arial"/>
              </a:rPr>
              <a:t> </a:t>
            </a:r>
            <a:r>
              <a:rPr sz="3400" b="1" i="0" dirty="0" err="1">
                <a:solidFill>
                  <a:srgbClr val="000000"/>
                </a:solidFill>
                <a:latin typeface="Arial"/>
              </a:rPr>
              <a:t>xế</a:t>
            </a:r>
            <a:r>
              <a:rPr sz="3400" b="1" i="0" dirty="0">
                <a:solidFill>
                  <a:srgbClr val="000000"/>
                </a:solidFill>
                <a:latin typeface="Arial"/>
              </a:rPr>
              <a:t> </a:t>
            </a:r>
            <a:r>
              <a:rPr sz="3400" b="1" i="0" dirty="0" err="1">
                <a:solidFill>
                  <a:srgbClr val="000000"/>
                </a:solidFill>
                <a:latin typeface="Arial"/>
              </a:rPr>
              <a:t>mất</a:t>
            </a:r>
            <a:r>
              <a:rPr sz="3400" b="1" i="0" dirty="0">
                <a:solidFill>
                  <a:srgbClr val="000000"/>
                </a:solidFill>
                <a:latin typeface="Arial"/>
              </a:rPr>
              <a:t> </a:t>
            </a:r>
            <a:r>
              <a:rPr sz="3400" b="1" i="0" dirty="0" err="1">
                <a:solidFill>
                  <a:srgbClr val="000000"/>
                </a:solidFill>
                <a:latin typeface="Arial"/>
              </a:rPr>
              <a:t>tập</a:t>
            </a:r>
            <a:r>
              <a:rPr sz="3400" b="1" i="0" dirty="0">
                <a:solidFill>
                  <a:srgbClr val="000000"/>
                </a:solidFill>
                <a:latin typeface="Arial"/>
              </a:rPr>
              <a:t> </a:t>
            </a:r>
            <a:r>
              <a:rPr sz="3400" b="1" i="0" dirty="0" err="1">
                <a:solidFill>
                  <a:srgbClr val="000000"/>
                </a:solidFill>
                <a:latin typeface="Arial"/>
              </a:rPr>
              <a:t>trung</a:t>
            </a:r>
            <a:endParaRPr sz="2600" b="0" i="0" dirty="0">
              <a:solidFill>
                <a:srgbClr val="474F67"/>
              </a:solidFill>
              <a:latin typeface="Arial"/>
            </a:endParaRPr>
          </a:p>
        </p:txBody>
      </p:sp>
      <p:sp>
        <p:nvSpPr>
          <p:cNvPr id="9" name="TextBox 8"/>
          <p:cNvSpPr txBox="1"/>
          <p:nvPr/>
        </p:nvSpPr>
        <p:spPr>
          <a:xfrm>
            <a:off x="756537" y="4050101"/>
            <a:ext cx="6035040" cy="502920"/>
          </a:xfrm>
          <a:prstGeom prst="rect">
            <a:avLst/>
          </a:prstGeom>
          <a:noFill/>
        </p:spPr>
        <p:txBody>
          <a:bodyPr wrap="square" lIns="0" tIns="0" rIns="0" bIns="0" anchor="t">
            <a:spAutoFit/>
          </a:bodyPr>
          <a:lstStyle/>
          <a:p>
            <a:pPr algn="l">
              <a:spcAft>
                <a:spcPts val="600"/>
              </a:spcAft>
            </a:pPr>
            <a:r>
              <a:rPr sz="2800" b="0" i="0" dirty="0">
                <a:solidFill>
                  <a:srgbClr val="000000"/>
                </a:solidFill>
                <a:latin typeface="Arial"/>
              </a:rPr>
              <a:t>Presenter: Huy Tran Gia</a:t>
            </a:r>
          </a:p>
        </p:txBody>
      </p:sp>
      <p:pic>
        <p:nvPicPr>
          <p:cNvPr id="3" name="Picture 2">
            <a:extLst>
              <a:ext uri="{FF2B5EF4-FFF2-40B4-BE49-F238E27FC236}">
                <a16:creationId xmlns:a16="http://schemas.microsoft.com/office/drawing/2014/main" id="{7AF56CD6-8D33-CEFC-5305-A30B007649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91577" y="1577915"/>
            <a:ext cx="5057775" cy="3581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err="1">
                <a:solidFill>
                  <a:srgbClr val="FFFFFF"/>
                </a:solidFill>
                <a:latin typeface="Arial"/>
              </a:rPr>
              <a:t>Bài</a:t>
            </a:r>
            <a:r>
              <a:rPr sz="2400" b="1" dirty="0">
                <a:solidFill>
                  <a:srgbClr val="FFFFFF"/>
                </a:solidFill>
                <a:latin typeface="Arial"/>
              </a:rPr>
              <a:t> </a:t>
            </a:r>
            <a:r>
              <a:rPr sz="2400" b="1" dirty="0" err="1">
                <a:solidFill>
                  <a:srgbClr val="FFFFFF"/>
                </a:solidFill>
                <a:latin typeface="Arial"/>
              </a:rPr>
              <a:t>toán</a:t>
            </a:r>
            <a:r>
              <a:rPr sz="2400" b="1" dirty="0">
                <a:solidFill>
                  <a:srgbClr val="FFFFFF"/>
                </a:solidFill>
                <a:latin typeface="Arial"/>
              </a:rPr>
              <a:t> </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2</a:t>
            </a:fld>
            <a:endParaRPr lang="en-US"/>
          </a:p>
        </p:txBody>
      </p:sp>
      <p:sp>
        <p:nvSpPr>
          <p:cNvPr id="7" name="TextBox 6"/>
          <p:cNvSpPr txBox="1"/>
          <p:nvPr/>
        </p:nvSpPr>
        <p:spPr>
          <a:xfrm>
            <a:off x="576072" y="914400"/>
            <a:ext cx="11064240" cy="553998"/>
          </a:xfrm>
          <a:prstGeom prst="rect">
            <a:avLst/>
          </a:prstGeom>
          <a:noFill/>
        </p:spPr>
        <p:txBody>
          <a:bodyPr wrap="square" lIns="0" tIns="0" rIns="0" bIns="0" anchor="t">
            <a:spAutoFit/>
          </a:bodyPr>
          <a:lstStyle/>
          <a:p>
            <a:pPr algn="l">
              <a:spcAft>
                <a:spcPts val="600"/>
              </a:spcAft>
            </a:pPr>
            <a:r>
              <a:rPr sz="1800" b="1" i="0" dirty="0" err="1">
                <a:solidFill>
                  <a:srgbClr val="1D2939"/>
                </a:solidFill>
                <a:latin typeface="Arial"/>
              </a:rPr>
              <a:t>Bài</a:t>
            </a:r>
            <a:r>
              <a:rPr sz="1800" b="1" i="0" dirty="0">
                <a:solidFill>
                  <a:srgbClr val="1D2939"/>
                </a:solidFill>
                <a:latin typeface="Arial"/>
              </a:rPr>
              <a:t> </a:t>
            </a:r>
            <a:r>
              <a:rPr sz="1800" b="1" i="0" dirty="0" err="1">
                <a:solidFill>
                  <a:srgbClr val="1D2939"/>
                </a:solidFill>
                <a:latin typeface="Arial"/>
              </a:rPr>
              <a:t>toán</a:t>
            </a:r>
            <a:r>
              <a:rPr sz="1800" b="1" i="0" dirty="0">
                <a:solidFill>
                  <a:srgbClr val="1D2939"/>
                </a:solidFill>
                <a:latin typeface="Arial"/>
              </a:rPr>
              <a:t>: </a:t>
            </a:r>
            <a:r>
              <a:rPr sz="1800" b="0" i="0" dirty="0" err="1">
                <a:solidFill>
                  <a:srgbClr val="474F67"/>
                </a:solidFill>
                <a:latin typeface="Arial"/>
              </a:rPr>
              <a:t>từ</a:t>
            </a:r>
            <a:r>
              <a:rPr sz="1800" b="0" i="0" dirty="0">
                <a:solidFill>
                  <a:srgbClr val="474F67"/>
                </a:solidFill>
                <a:latin typeface="Arial"/>
              </a:rPr>
              <a:t> </a:t>
            </a:r>
            <a:r>
              <a:rPr sz="1800" b="0" i="0" dirty="0" err="1">
                <a:solidFill>
                  <a:srgbClr val="474F67"/>
                </a:solidFill>
                <a:latin typeface="Arial"/>
              </a:rPr>
              <a:t>một</a:t>
            </a:r>
            <a:r>
              <a:rPr sz="1800" b="0" i="0" dirty="0">
                <a:solidFill>
                  <a:srgbClr val="474F67"/>
                </a:solidFill>
                <a:latin typeface="Arial"/>
              </a:rPr>
              <a:t> </a:t>
            </a:r>
            <a:r>
              <a:rPr sz="1800" b="0" i="0" dirty="0" err="1">
                <a:solidFill>
                  <a:srgbClr val="474F67"/>
                </a:solidFill>
                <a:latin typeface="Arial"/>
              </a:rPr>
              <a:t>ảnh</a:t>
            </a:r>
            <a:r>
              <a:rPr sz="1800" b="0" i="0" dirty="0">
                <a:solidFill>
                  <a:srgbClr val="474F67"/>
                </a:solidFill>
                <a:latin typeface="Arial"/>
              </a:rPr>
              <a:t> camera </a:t>
            </a:r>
            <a:r>
              <a:rPr sz="1800" b="0" i="0" dirty="0" err="1">
                <a:solidFill>
                  <a:srgbClr val="474F67"/>
                </a:solidFill>
                <a:latin typeface="Arial"/>
              </a:rPr>
              <a:t>trong</a:t>
            </a:r>
            <a:r>
              <a:rPr sz="1800" b="0" i="0" dirty="0">
                <a:solidFill>
                  <a:srgbClr val="474F67"/>
                </a:solidFill>
                <a:latin typeface="Arial"/>
              </a:rPr>
              <a:t> </a:t>
            </a:r>
            <a:r>
              <a:rPr sz="1800" b="0" i="0" dirty="0" err="1">
                <a:solidFill>
                  <a:srgbClr val="474F67"/>
                </a:solidFill>
                <a:latin typeface="Arial"/>
              </a:rPr>
              <a:t>xe</a:t>
            </a:r>
            <a:r>
              <a:rPr sz="1800" b="0" i="0" dirty="0">
                <a:solidFill>
                  <a:srgbClr val="474F67"/>
                </a:solidFill>
                <a:latin typeface="Arial"/>
              </a:rPr>
              <a:t>, </a:t>
            </a:r>
            <a:r>
              <a:rPr sz="1800" b="0" i="0" dirty="0" err="1">
                <a:solidFill>
                  <a:srgbClr val="474F67"/>
                </a:solidFill>
                <a:latin typeface="Arial"/>
              </a:rPr>
              <a:t>phân</a:t>
            </a:r>
            <a:r>
              <a:rPr sz="1800" b="0" i="0" dirty="0">
                <a:solidFill>
                  <a:srgbClr val="474F67"/>
                </a:solidFill>
                <a:latin typeface="Arial"/>
              </a:rPr>
              <a:t> </a:t>
            </a:r>
            <a:r>
              <a:rPr sz="1800" b="0" i="0" dirty="0" err="1">
                <a:solidFill>
                  <a:srgbClr val="474F67"/>
                </a:solidFill>
                <a:latin typeface="Arial"/>
              </a:rPr>
              <a:t>loại</a:t>
            </a:r>
            <a:r>
              <a:rPr sz="1800" b="0" i="0" dirty="0">
                <a:solidFill>
                  <a:srgbClr val="474F67"/>
                </a:solidFill>
                <a:latin typeface="Arial"/>
              </a:rPr>
              <a:t> </a:t>
            </a:r>
            <a:r>
              <a:rPr sz="1800" b="0" i="0" dirty="0" err="1">
                <a:solidFill>
                  <a:srgbClr val="474F67"/>
                </a:solidFill>
                <a:latin typeface="Arial"/>
              </a:rPr>
              <a:t>tài</a:t>
            </a:r>
            <a:r>
              <a:rPr sz="1800" b="0" i="0" dirty="0">
                <a:solidFill>
                  <a:srgbClr val="474F67"/>
                </a:solidFill>
                <a:latin typeface="Arial"/>
              </a:rPr>
              <a:t> </a:t>
            </a:r>
            <a:r>
              <a:rPr sz="1800" b="0" i="0" dirty="0" err="1">
                <a:solidFill>
                  <a:srgbClr val="474F67"/>
                </a:solidFill>
                <a:latin typeface="Arial"/>
              </a:rPr>
              <a:t>xế</a:t>
            </a:r>
            <a:r>
              <a:rPr sz="1800" b="0" i="0" dirty="0">
                <a:solidFill>
                  <a:srgbClr val="474F67"/>
                </a:solidFill>
                <a:latin typeface="Arial"/>
              </a:rPr>
              <a:t> </a:t>
            </a:r>
            <a:r>
              <a:rPr sz="1800" b="0" i="0" dirty="0" err="1">
                <a:solidFill>
                  <a:srgbClr val="474F67"/>
                </a:solidFill>
                <a:latin typeface="Arial"/>
              </a:rPr>
              <a:t>đang</a:t>
            </a:r>
            <a:r>
              <a:rPr sz="1800" b="0" i="0" dirty="0">
                <a:solidFill>
                  <a:srgbClr val="474F67"/>
                </a:solidFill>
                <a:latin typeface="Arial"/>
              </a:rPr>
              <a:t> </a:t>
            </a:r>
            <a:r>
              <a:rPr sz="1800" b="0" i="0" dirty="0" err="1">
                <a:solidFill>
                  <a:srgbClr val="474F67"/>
                </a:solidFill>
                <a:latin typeface="Arial"/>
              </a:rPr>
              <a:t>làm</a:t>
            </a:r>
            <a:r>
              <a:rPr sz="1800" b="0" i="0" dirty="0">
                <a:solidFill>
                  <a:srgbClr val="474F67"/>
                </a:solidFill>
                <a:latin typeface="Arial"/>
              </a:rPr>
              <a:t> </a:t>
            </a:r>
            <a:r>
              <a:rPr sz="1800" b="0" i="0" dirty="0" err="1">
                <a:solidFill>
                  <a:srgbClr val="474F67"/>
                </a:solidFill>
                <a:latin typeface="Arial"/>
              </a:rPr>
              <a:t>gì</a:t>
            </a:r>
            <a:r>
              <a:rPr lang="en-US" dirty="0" err="1">
                <a:solidFill>
                  <a:srgbClr val="474F67"/>
                </a:solidFill>
                <a:latin typeface="Arial"/>
              </a:rPr>
              <a:t>. </a:t>
            </a:r>
            <a:r>
              <a:rPr sz="1800" b="0" i="0" dirty="0" err="1">
                <a:solidFill>
                  <a:srgbClr val="474F67"/>
                </a:solidFill>
                <a:latin typeface="Arial"/>
              </a:rPr>
              <a:t>Mô</a:t>
            </a:r>
            <a:r>
              <a:rPr sz="1800" b="0" i="0" dirty="0">
                <a:solidFill>
                  <a:srgbClr val="474F67"/>
                </a:solidFill>
                <a:latin typeface="Arial"/>
              </a:rPr>
              <a:t> </a:t>
            </a:r>
            <a:r>
              <a:rPr sz="1800" b="0" i="0" dirty="0" err="1">
                <a:solidFill>
                  <a:srgbClr val="474F67"/>
                </a:solidFill>
                <a:latin typeface="Arial"/>
              </a:rPr>
              <a:t>hình</a:t>
            </a:r>
            <a:r>
              <a:rPr sz="1800" b="0" i="0" dirty="0">
                <a:solidFill>
                  <a:srgbClr val="474F67"/>
                </a:solidFill>
                <a:latin typeface="Arial"/>
              </a:rPr>
              <a:t> </a:t>
            </a:r>
            <a:r>
              <a:rPr sz="1800" b="0" i="0" dirty="0" err="1">
                <a:solidFill>
                  <a:srgbClr val="474F67"/>
                </a:solidFill>
                <a:latin typeface="Arial"/>
              </a:rPr>
              <a:t>phải</a:t>
            </a:r>
            <a:r>
              <a:rPr sz="1800" b="0" i="0" dirty="0">
                <a:solidFill>
                  <a:srgbClr val="474F67"/>
                </a:solidFill>
                <a:latin typeface="Arial"/>
              </a:rPr>
              <a:t> </a:t>
            </a:r>
            <a:r>
              <a:rPr sz="1800" b="0" i="0" dirty="0" err="1">
                <a:solidFill>
                  <a:srgbClr val="474F67"/>
                </a:solidFill>
                <a:latin typeface="Arial"/>
              </a:rPr>
              <a:t>chạy</a:t>
            </a:r>
            <a:r>
              <a:rPr sz="1800" b="0" i="0" dirty="0">
                <a:solidFill>
                  <a:srgbClr val="474F67"/>
                </a:solidFill>
                <a:latin typeface="Arial"/>
              </a:rPr>
              <a:t> </a:t>
            </a:r>
            <a:r>
              <a:rPr sz="1800" b="0" i="0" dirty="0" err="1">
                <a:solidFill>
                  <a:srgbClr val="474F67"/>
                </a:solidFill>
                <a:latin typeface="Arial"/>
              </a:rPr>
              <a:t>được</a:t>
            </a:r>
            <a:r>
              <a:rPr sz="1800" b="0" i="0" dirty="0">
                <a:solidFill>
                  <a:srgbClr val="474F67"/>
                </a:solidFill>
                <a:latin typeface="Arial"/>
              </a:rPr>
              <a:t> </a:t>
            </a:r>
            <a:r>
              <a:rPr sz="1800" b="0" i="0" dirty="0" err="1">
                <a:solidFill>
                  <a:srgbClr val="474F67"/>
                </a:solidFill>
                <a:latin typeface="Arial"/>
              </a:rPr>
              <a:t>trên</a:t>
            </a:r>
            <a:r>
              <a:rPr sz="1800" b="0" i="0" dirty="0">
                <a:solidFill>
                  <a:srgbClr val="474F67"/>
                </a:solidFill>
                <a:latin typeface="Arial"/>
              </a:rPr>
              <a:t> </a:t>
            </a:r>
            <a:r>
              <a:rPr sz="1800" b="0" i="0" dirty="0" err="1">
                <a:solidFill>
                  <a:srgbClr val="474F67"/>
                </a:solidFill>
                <a:latin typeface="Arial"/>
              </a:rPr>
              <a:t>thiết</a:t>
            </a:r>
            <a:r>
              <a:rPr sz="1800" b="0" i="0" dirty="0">
                <a:solidFill>
                  <a:srgbClr val="474F67"/>
                </a:solidFill>
                <a:latin typeface="Arial"/>
              </a:rPr>
              <a:t> </a:t>
            </a:r>
            <a:r>
              <a:rPr sz="1800" b="0" i="0" dirty="0" err="1">
                <a:solidFill>
                  <a:srgbClr val="474F67"/>
                </a:solidFill>
                <a:latin typeface="Arial"/>
              </a:rPr>
              <a:t>bị</a:t>
            </a:r>
            <a:r>
              <a:rPr sz="1800" b="0" i="0" dirty="0">
                <a:solidFill>
                  <a:srgbClr val="474F67"/>
                </a:solidFill>
                <a:latin typeface="Arial"/>
              </a:rPr>
              <a:t> edge: </a:t>
            </a:r>
            <a:r>
              <a:rPr sz="1800" b="0" i="0" dirty="0" err="1">
                <a:solidFill>
                  <a:srgbClr val="474F67"/>
                </a:solidFill>
                <a:latin typeface="Arial"/>
              </a:rPr>
              <a:t>nhỏ</a:t>
            </a:r>
            <a:r>
              <a:rPr sz="1800" b="0" i="0" dirty="0">
                <a:solidFill>
                  <a:srgbClr val="474F67"/>
                </a:solidFill>
                <a:latin typeface="Arial"/>
              </a:rPr>
              <a:t>, </a:t>
            </a:r>
            <a:r>
              <a:rPr sz="1800" b="0" i="0" dirty="0" err="1">
                <a:solidFill>
                  <a:srgbClr val="474F67"/>
                </a:solidFill>
                <a:latin typeface="Arial"/>
              </a:rPr>
              <a:t>nhanh</a:t>
            </a:r>
            <a:r>
              <a:rPr sz="1800" b="0" i="0" dirty="0">
                <a:solidFill>
                  <a:srgbClr val="474F67"/>
                </a:solidFill>
                <a:latin typeface="Arial"/>
              </a:rPr>
              <a:t>, </a:t>
            </a:r>
            <a:r>
              <a:rPr sz="1800" b="0" i="0" dirty="0" err="1">
                <a:solidFill>
                  <a:srgbClr val="474F67"/>
                </a:solidFill>
                <a:latin typeface="Arial"/>
              </a:rPr>
              <a:t>tiết</a:t>
            </a:r>
            <a:r>
              <a:rPr sz="1800" b="0" i="0" dirty="0">
                <a:solidFill>
                  <a:srgbClr val="474F67"/>
                </a:solidFill>
                <a:latin typeface="Arial"/>
              </a:rPr>
              <a:t> </a:t>
            </a:r>
            <a:r>
              <a:rPr sz="1800" b="0" i="0" dirty="0" err="1">
                <a:solidFill>
                  <a:srgbClr val="474F67"/>
                </a:solidFill>
                <a:latin typeface="Arial"/>
              </a:rPr>
              <a:t>kiệm</a:t>
            </a:r>
            <a:r>
              <a:rPr sz="1800" b="0" i="0" dirty="0">
                <a:solidFill>
                  <a:srgbClr val="474F67"/>
                </a:solidFill>
                <a:latin typeface="Arial"/>
              </a:rPr>
              <a:t> </a:t>
            </a:r>
            <a:r>
              <a:rPr sz="1800" b="0" i="0" dirty="0" err="1">
                <a:solidFill>
                  <a:srgbClr val="474F67"/>
                </a:solidFill>
                <a:latin typeface="Arial"/>
              </a:rPr>
              <a:t>bộ</a:t>
            </a:r>
            <a:r>
              <a:rPr sz="1800" b="0" i="0" dirty="0">
                <a:solidFill>
                  <a:srgbClr val="474F67"/>
                </a:solidFill>
                <a:latin typeface="Arial"/>
              </a:rPr>
              <a:t> </a:t>
            </a:r>
            <a:r>
              <a:rPr sz="1800" b="0" i="0" dirty="0" err="1">
                <a:solidFill>
                  <a:srgbClr val="474F67"/>
                </a:solidFill>
                <a:latin typeface="Arial"/>
              </a:rPr>
              <a:t>nhớ</a:t>
            </a:r>
            <a:r>
              <a:rPr sz="1800" b="0" i="0" dirty="0">
                <a:solidFill>
                  <a:srgbClr val="474F67"/>
                </a:solidFill>
                <a:latin typeface="Arial"/>
              </a:rPr>
              <a:t>.</a:t>
            </a:r>
          </a:p>
        </p:txBody>
      </p:sp>
      <p:pic>
        <p:nvPicPr>
          <p:cNvPr id="8" name="CloudVsEdge" descr="edge_pic.jpg"/>
          <p:cNvPicPr>
            <a:picLocks noChangeAspect="1"/>
          </p:cNvPicPr>
          <p:nvPr/>
        </p:nvPicPr>
        <p:blipFill>
          <a:blip r:embed="rId3"/>
          <a:stretch>
            <a:fillRect/>
          </a:stretch>
        </p:blipFill>
        <p:spPr>
          <a:xfrm>
            <a:off x="1325880" y="1737360"/>
            <a:ext cx="9509760" cy="360074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Dữ liệu: State Farm Distracted Driver</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3</a:t>
            </a:fld>
            <a:endParaRPr lang="en-US"/>
          </a:p>
        </p:txBody>
      </p:sp>
      <p:sp>
        <p:nvSpPr>
          <p:cNvPr id="7" name="Rounded Rectangle 6"/>
          <p:cNvSpPr/>
          <p:nvPr/>
        </p:nvSpPr>
        <p:spPr>
          <a:xfrm>
            <a:off x="576072"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76072"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22.424</a:t>
            </a:r>
          </a:p>
        </p:txBody>
      </p:sp>
      <p:sp>
        <p:nvSpPr>
          <p:cNvPr id="9" name="TextBox 8"/>
          <p:cNvSpPr txBox="1"/>
          <p:nvPr/>
        </p:nvSpPr>
        <p:spPr>
          <a:xfrm>
            <a:off x="576072"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có nhãn</a:t>
            </a:r>
          </a:p>
        </p:txBody>
      </p:sp>
      <p:sp>
        <p:nvSpPr>
          <p:cNvPr id="10" name="Rounded Rectangle 9"/>
          <p:cNvSpPr/>
          <p:nvPr/>
        </p:nvSpPr>
        <p:spPr>
          <a:xfrm>
            <a:off x="3374136"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74136"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26</a:t>
            </a:r>
          </a:p>
        </p:txBody>
      </p:sp>
      <p:sp>
        <p:nvSpPr>
          <p:cNvPr id="12" name="TextBox 11"/>
          <p:cNvSpPr txBox="1"/>
          <p:nvPr/>
        </p:nvSpPr>
        <p:spPr>
          <a:xfrm>
            <a:off x="3374136"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tài xế</a:t>
            </a:r>
          </a:p>
        </p:txBody>
      </p:sp>
      <p:sp>
        <p:nvSpPr>
          <p:cNvPr id="13" name="Rounded Rectangle 12"/>
          <p:cNvSpPr/>
          <p:nvPr/>
        </p:nvSpPr>
        <p:spPr>
          <a:xfrm>
            <a:off x="6172200"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72200"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10 → 6</a:t>
            </a:r>
          </a:p>
        </p:txBody>
      </p:sp>
      <p:sp>
        <p:nvSpPr>
          <p:cNvPr id="15" name="TextBox 14"/>
          <p:cNvSpPr txBox="1"/>
          <p:nvPr/>
        </p:nvSpPr>
        <p:spPr>
          <a:xfrm>
            <a:off x="6172200"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lớp hành vi</a:t>
            </a:r>
          </a:p>
        </p:txBody>
      </p:sp>
      <p:sp>
        <p:nvSpPr>
          <p:cNvPr id="16" name="Rounded Rectangle 15"/>
          <p:cNvSpPr/>
          <p:nvPr/>
        </p:nvSpPr>
        <p:spPr>
          <a:xfrm>
            <a:off x="8970264" y="914400"/>
            <a:ext cx="2606040" cy="118872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70264" y="987552"/>
            <a:ext cx="2606040" cy="640080"/>
          </a:xfrm>
          <a:prstGeom prst="rect">
            <a:avLst/>
          </a:prstGeom>
          <a:noFill/>
        </p:spPr>
        <p:txBody>
          <a:bodyPr wrap="square" lIns="0" tIns="0" rIns="0" bIns="0" anchor="t">
            <a:spAutoFit/>
          </a:bodyPr>
          <a:lstStyle/>
          <a:p>
            <a:pPr algn="ctr">
              <a:spcAft>
                <a:spcPts val="600"/>
              </a:spcAft>
            </a:pPr>
            <a:r>
              <a:rPr sz="3400" b="1" i="0">
                <a:solidFill>
                  <a:srgbClr val="00A95C"/>
                </a:solidFill>
                <a:latin typeface="Arial"/>
              </a:rPr>
              <a:t>640×480</a:t>
            </a:r>
          </a:p>
        </p:txBody>
      </p:sp>
      <p:sp>
        <p:nvSpPr>
          <p:cNvPr id="18" name="TextBox 17"/>
          <p:cNvSpPr txBox="1"/>
          <p:nvPr/>
        </p:nvSpPr>
        <p:spPr>
          <a:xfrm>
            <a:off x="8970264" y="1645920"/>
            <a:ext cx="2606040" cy="365760"/>
          </a:xfrm>
          <a:prstGeom prst="rect">
            <a:avLst/>
          </a:prstGeom>
          <a:noFill/>
        </p:spPr>
        <p:txBody>
          <a:bodyPr wrap="square" lIns="0" tIns="0" rIns="0" bIns="0" anchor="t">
            <a:spAutoFit/>
          </a:bodyPr>
          <a:lstStyle/>
          <a:p>
            <a:pPr algn="ctr">
              <a:spcAft>
                <a:spcPts val="600"/>
              </a:spcAft>
            </a:pPr>
            <a:r>
              <a:rPr sz="1500" b="0" i="0">
                <a:solidFill>
                  <a:srgbClr val="474F67"/>
                </a:solidFill>
                <a:latin typeface="Arial"/>
              </a:rPr>
              <a:t>ảnh RGB, JPEG</a:t>
            </a:r>
          </a:p>
        </p:txBody>
      </p:sp>
      <p:pic>
        <p:nvPicPr>
          <p:cNvPr id="19" name="Picture 18" descr="classes.jpg"/>
          <p:cNvPicPr>
            <a:picLocks noChangeAspect="1"/>
          </p:cNvPicPr>
          <p:nvPr/>
        </p:nvPicPr>
        <p:blipFill>
          <a:blip r:embed="rId3"/>
          <a:stretch>
            <a:fillRect/>
          </a:stretch>
        </p:blipFill>
        <p:spPr>
          <a:xfrm>
            <a:off x="576072" y="2331720"/>
            <a:ext cx="7498079" cy="2249424"/>
          </a:xfrm>
          <a:prstGeom prst="rect">
            <a:avLst/>
          </a:prstGeom>
        </p:spPr>
      </p:pic>
      <p:sp>
        <p:nvSpPr>
          <p:cNvPr id="21" name="Rounded Rectangle 20"/>
          <p:cNvSpPr/>
          <p:nvPr/>
        </p:nvSpPr>
        <p:spPr>
          <a:xfrm>
            <a:off x="8321040" y="2331720"/>
            <a:ext cx="3319272" cy="3611880"/>
          </a:xfrm>
          <a:prstGeom prst="roundRect">
            <a:avLst>
              <a:gd name="adj" fmla="val 9641"/>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57031" y="2487168"/>
            <a:ext cx="91440" cy="33009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49640" y="2468880"/>
            <a:ext cx="2971800" cy="2046714"/>
          </a:xfrm>
          <a:prstGeom prst="rect">
            <a:avLst/>
          </a:prstGeom>
          <a:noFill/>
        </p:spPr>
        <p:txBody>
          <a:bodyPr wrap="square" lIns="0" tIns="0" rIns="0" bIns="0" anchor="t">
            <a:spAutoFit/>
          </a:bodyPr>
          <a:lstStyle/>
          <a:p>
            <a:pPr algn="l">
              <a:spcAft>
                <a:spcPts val="500"/>
              </a:spcAft>
            </a:pPr>
            <a:r>
              <a:rPr sz="1800" b="1" i="0" dirty="0" err="1">
                <a:solidFill>
                  <a:srgbClr val="1D2939"/>
                </a:solidFill>
                <a:latin typeface="Arial"/>
              </a:rPr>
              <a:t>Gộp</a:t>
            </a:r>
            <a:r>
              <a:rPr sz="1800" b="1" i="0" dirty="0">
                <a:solidFill>
                  <a:srgbClr val="1D2939"/>
                </a:solidFill>
                <a:latin typeface="Arial"/>
              </a:rPr>
              <a:t> 10 </a:t>
            </a:r>
            <a:r>
              <a:rPr sz="1800" b="1" i="0" dirty="0" err="1">
                <a:solidFill>
                  <a:srgbClr val="1D2939"/>
                </a:solidFill>
                <a:latin typeface="Arial"/>
              </a:rPr>
              <a:t>lớp</a:t>
            </a:r>
            <a:r>
              <a:rPr sz="1800" b="1" i="0" dirty="0">
                <a:solidFill>
                  <a:srgbClr val="1D2939"/>
                </a:solidFill>
                <a:latin typeface="Arial"/>
              </a:rPr>
              <a:t> </a:t>
            </a:r>
            <a:r>
              <a:rPr sz="1800" b="1" i="0" dirty="0" err="1">
                <a:solidFill>
                  <a:srgbClr val="1D2939"/>
                </a:solidFill>
                <a:latin typeface="Arial"/>
              </a:rPr>
              <a:t>thành</a:t>
            </a:r>
            <a:r>
              <a:rPr sz="1800" b="1" i="0" dirty="0">
                <a:solidFill>
                  <a:srgbClr val="1D2939"/>
                </a:solidFill>
                <a:latin typeface="Arial"/>
              </a:rPr>
              <a:t> 6 </a:t>
            </a:r>
            <a:r>
              <a:rPr sz="1800" b="1" i="0" dirty="0" err="1">
                <a:solidFill>
                  <a:srgbClr val="1D2939"/>
                </a:solidFill>
                <a:latin typeface="Arial"/>
              </a:rPr>
              <a:t>nhóm</a:t>
            </a:r>
            <a:endParaRPr sz="1800" b="1" i="0" dirty="0">
              <a:solidFill>
                <a:srgbClr val="1D2939"/>
              </a:solidFill>
              <a:latin typeface="Arial"/>
            </a:endParaRPr>
          </a:p>
          <a:p>
            <a:pPr marL="256032" indent="-201168" algn="l">
              <a:spcAft>
                <a:spcPts val="500"/>
              </a:spcAft>
              <a:buChar char="•"/>
            </a:pPr>
            <a:r>
              <a:rPr sz="1500" b="1" i="0" dirty="0">
                <a:solidFill>
                  <a:srgbClr val="1D2939"/>
                </a:solidFill>
                <a:latin typeface="Arial"/>
              </a:rPr>
              <a:t>normal </a:t>
            </a:r>
            <a:r>
              <a:rPr sz="1500" b="0" i="0" dirty="0">
                <a:solidFill>
                  <a:srgbClr val="474F67"/>
                </a:solidFill>
                <a:latin typeface="Arial"/>
              </a:rPr>
              <a:t>= c0</a:t>
            </a:r>
          </a:p>
          <a:p>
            <a:pPr marL="256032" indent="-201168" algn="l">
              <a:spcAft>
                <a:spcPts val="500"/>
              </a:spcAft>
              <a:buChar char="•"/>
            </a:pPr>
            <a:r>
              <a:rPr sz="1500" b="1" i="0" dirty="0">
                <a:solidFill>
                  <a:srgbClr val="1D2939"/>
                </a:solidFill>
                <a:latin typeface="Arial"/>
              </a:rPr>
              <a:t>phone </a:t>
            </a:r>
            <a:r>
              <a:rPr sz="1500" b="0" i="0" dirty="0">
                <a:solidFill>
                  <a:srgbClr val="474F67"/>
                </a:solidFill>
                <a:latin typeface="Arial"/>
              </a:rPr>
              <a:t>= c1–c4</a:t>
            </a:r>
          </a:p>
          <a:p>
            <a:pPr marL="256032" indent="-201168" algn="l">
              <a:spcAft>
                <a:spcPts val="500"/>
              </a:spcAft>
              <a:buChar char="•"/>
            </a:pPr>
            <a:r>
              <a:rPr sz="1500" b="1" i="0" dirty="0" err="1">
                <a:solidFill>
                  <a:srgbClr val="1D2939"/>
                </a:solidFill>
                <a:latin typeface="Arial"/>
              </a:rPr>
              <a:t>device_ops</a:t>
            </a:r>
            <a:r>
              <a:rPr sz="1500" b="1" i="0" dirty="0">
                <a:solidFill>
                  <a:srgbClr val="1D2939"/>
                </a:solidFill>
                <a:latin typeface="Arial"/>
              </a:rPr>
              <a:t> </a:t>
            </a:r>
            <a:r>
              <a:rPr sz="1500" b="0" i="0" dirty="0">
                <a:solidFill>
                  <a:srgbClr val="474F67"/>
                </a:solidFill>
                <a:latin typeface="Arial"/>
              </a:rPr>
              <a:t>= c5</a:t>
            </a:r>
          </a:p>
          <a:p>
            <a:pPr marL="256032" indent="-201168" algn="l">
              <a:spcAft>
                <a:spcPts val="500"/>
              </a:spcAft>
              <a:buChar char="•"/>
            </a:pPr>
            <a:r>
              <a:rPr sz="1500" b="1" i="0" dirty="0" err="1">
                <a:solidFill>
                  <a:srgbClr val="1D2939"/>
                </a:solidFill>
                <a:latin typeface="Arial"/>
              </a:rPr>
              <a:t>eat_drink</a:t>
            </a:r>
            <a:r>
              <a:rPr sz="1500" b="1" i="0" dirty="0">
                <a:solidFill>
                  <a:srgbClr val="1D2939"/>
                </a:solidFill>
                <a:latin typeface="Arial"/>
              </a:rPr>
              <a:t> </a:t>
            </a:r>
            <a:r>
              <a:rPr sz="1500" b="0" i="0" dirty="0">
                <a:solidFill>
                  <a:srgbClr val="474F67"/>
                </a:solidFill>
                <a:latin typeface="Arial"/>
              </a:rPr>
              <a:t>= c6</a:t>
            </a:r>
          </a:p>
          <a:p>
            <a:pPr marL="256032" indent="-201168" algn="l">
              <a:spcAft>
                <a:spcPts val="500"/>
              </a:spcAft>
              <a:buChar char="•"/>
            </a:pPr>
            <a:r>
              <a:rPr sz="1500" b="1" i="0" dirty="0" err="1">
                <a:solidFill>
                  <a:srgbClr val="1D2939"/>
                </a:solidFill>
                <a:latin typeface="Arial"/>
              </a:rPr>
              <a:t>reach_grooming</a:t>
            </a:r>
            <a:r>
              <a:rPr sz="1500" b="1" i="0" dirty="0">
                <a:solidFill>
                  <a:srgbClr val="1D2939"/>
                </a:solidFill>
                <a:latin typeface="Arial"/>
              </a:rPr>
              <a:t> </a:t>
            </a:r>
            <a:r>
              <a:rPr sz="1500" b="0" i="0" dirty="0">
                <a:solidFill>
                  <a:srgbClr val="474F67"/>
                </a:solidFill>
                <a:latin typeface="Arial"/>
              </a:rPr>
              <a:t>= c7, c8</a:t>
            </a:r>
          </a:p>
          <a:p>
            <a:pPr marL="256032" indent="-201168" algn="l">
              <a:spcAft>
                <a:spcPts val="500"/>
              </a:spcAft>
              <a:buChar char="•"/>
            </a:pPr>
            <a:r>
              <a:rPr sz="1500" b="1" i="0" dirty="0" err="1">
                <a:solidFill>
                  <a:srgbClr val="1D2939"/>
                </a:solidFill>
                <a:latin typeface="Arial"/>
              </a:rPr>
              <a:t>talk_passenger</a:t>
            </a:r>
            <a:r>
              <a:rPr sz="1500" b="1" i="0" dirty="0">
                <a:solidFill>
                  <a:srgbClr val="1D2939"/>
                </a:solidFill>
                <a:latin typeface="Arial"/>
              </a:rPr>
              <a:t> </a:t>
            </a:r>
            <a:r>
              <a:rPr sz="1500" b="0" i="0" dirty="0">
                <a:solidFill>
                  <a:srgbClr val="474F67"/>
                </a:solidFill>
                <a:latin typeface="Arial"/>
              </a:rPr>
              <a:t>= c9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Xử lý dữ liệu</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4</a:t>
            </a:fld>
            <a:endParaRPr lang="en-US"/>
          </a:p>
        </p:txBody>
      </p:sp>
      <p:sp>
        <p:nvSpPr>
          <p:cNvPr id="7" name="Rounded Rectangle 6"/>
          <p:cNvSpPr/>
          <p:nvPr/>
        </p:nvSpPr>
        <p:spPr>
          <a:xfrm>
            <a:off x="576072"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1. Manifest</a:t>
            </a:r>
          </a:p>
        </p:txBody>
      </p:sp>
      <p:sp>
        <p:nvSpPr>
          <p:cNvPr id="10" name="TextBox 9"/>
          <p:cNvSpPr txBox="1"/>
          <p:nvPr/>
        </p:nvSpPr>
        <p:spPr>
          <a:xfrm>
            <a:off x="777240" y="1572768"/>
            <a:ext cx="2194560" cy="646331"/>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Một</a:t>
            </a:r>
            <a:r>
              <a:rPr sz="1400" b="0" i="0" dirty="0">
                <a:solidFill>
                  <a:srgbClr val="474F67"/>
                </a:solidFill>
                <a:latin typeface="Arial"/>
              </a:rPr>
              <a:t> file CSV: </a:t>
            </a:r>
            <a:r>
              <a:rPr sz="1400" b="0" i="0" dirty="0" err="1">
                <a:solidFill>
                  <a:srgbClr val="474F67"/>
                </a:solidFill>
                <a:latin typeface="Arial"/>
              </a:rPr>
              <a:t>đường</a:t>
            </a:r>
            <a:r>
              <a:rPr sz="1400" b="0" i="0" dirty="0">
                <a:solidFill>
                  <a:srgbClr val="474F67"/>
                </a:solidFill>
                <a:latin typeface="Arial"/>
              </a:rPr>
              <a:t> </a:t>
            </a:r>
            <a:r>
              <a:rPr sz="1400" b="0" i="0" dirty="0" err="1">
                <a:solidFill>
                  <a:srgbClr val="474F67"/>
                </a:solidFill>
                <a:latin typeface="Arial"/>
              </a:rPr>
              <a:t>dẫn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tập</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nguồn</a:t>
            </a:r>
            <a:r>
              <a:rPr sz="1400" b="0" i="0" dirty="0">
                <a:solidFill>
                  <a:srgbClr val="474F67"/>
                </a:solidFill>
                <a:latin typeface="Arial"/>
              </a:rPr>
              <a:t>, </a:t>
            </a:r>
            <a:r>
              <a:rPr sz="1400" b="0" i="0" dirty="0" err="1">
                <a:solidFill>
                  <a:srgbClr val="474F67"/>
                </a:solidFill>
                <a:latin typeface="Arial"/>
              </a:rPr>
              <a:t>nhãn</a:t>
            </a:r>
            <a:r>
              <a:rPr sz="1400" b="0" i="0" dirty="0">
                <a:solidFill>
                  <a:srgbClr val="474F67"/>
                </a:solidFill>
                <a:latin typeface="Arial"/>
              </a:rPr>
              <a:t> </a:t>
            </a:r>
            <a:r>
              <a:rPr sz="1400" b="0" i="0" dirty="0" err="1">
                <a:solidFill>
                  <a:srgbClr val="474F67"/>
                </a:solidFill>
                <a:latin typeface="Arial"/>
              </a:rPr>
              <a:t>gốc</a:t>
            </a:r>
            <a:endParaRPr sz="1400" b="0" i="0" dirty="0">
              <a:solidFill>
                <a:srgbClr val="474F67"/>
              </a:solidFill>
              <a:latin typeface="Arial"/>
            </a:endParaRPr>
          </a:p>
        </p:txBody>
      </p:sp>
      <p:sp>
        <p:nvSpPr>
          <p:cNvPr id="11" name="Right Arrow 10"/>
          <p:cNvSpPr/>
          <p:nvPr/>
        </p:nvSpPr>
        <p:spPr>
          <a:xfrm>
            <a:off x="3145536"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438144"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74136" y="1115568"/>
            <a:ext cx="91440" cy="183794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2. Chia theo tài xế</a:t>
            </a:r>
          </a:p>
        </p:txBody>
      </p:sp>
      <p:sp>
        <p:nvSpPr>
          <p:cNvPr id="15" name="TextBox 14"/>
          <p:cNvSpPr txBox="1"/>
          <p:nvPr/>
        </p:nvSpPr>
        <p:spPr>
          <a:xfrm>
            <a:off x="3639312" y="1572768"/>
            <a:ext cx="2194560" cy="430887"/>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18 / 4 / 4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cho</a:t>
            </a:r>
            <a:r>
              <a:rPr sz="1400" b="0" i="0" dirty="0">
                <a:solidFill>
                  <a:srgbClr val="474F67"/>
                </a:solidFill>
                <a:latin typeface="Arial"/>
              </a:rPr>
              <a:t> train / </a:t>
            </a:r>
            <a:r>
              <a:rPr sz="1400" b="0" i="0" dirty="0" err="1">
                <a:solidFill>
                  <a:srgbClr val="474F67"/>
                </a:solidFill>
                <a:latin typeface="Arial"/>
              </a:rPr>
              <a:t>val</a:t>
            </a:r>
            <a:r>
              <a:rPr sz="1400" b="0" i="0" dirty="0">
                <a:solidFill>
                  <a:srgbClr val="474F67"/>
                </a:solidFill>
                <a:latin typeface="Arial"/>
              </a:rPr>
              <a:t> / test (seed 42).</a:t>
            </a:r>
          </a:p>
        </p:txBody>
      </p:sp>
      <p:sp>
        <p:nvSpPr>
          <p:cNvPr id="16" name="Right Arrow 15"/>
          <p:cNvSpPr/>
          <p:nvPr/>
        </p:nvSpPr>
        <p:spPr>
          <a:xfrm>
            <a:off x="6007608"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00216" y="960120"/>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36207" y="1115568"/>
            <a:ext cx="91440" cy="183794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1383" y="1097280"/>
            <a:ext cx="2194560" cy="4114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3. Bỏ ảnh gần trùng</a:t>
            </a:r>
          </a:p>
        </p:txBody>
      </p:sp>
      <p:sp>
        <p:nvSpPr>
          <p:cNvPr id="20" name="TextBox 19"/>
          <p:cNvSpPr txBox="1"/>
          <p:nvPr/>
        </p:nvSpPr>
        <p:spPr>
          <a:xfrm>
            <a:off x="6501383" y="1572768"/>
            <a:ext cx="2194560" cy="14630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22.424 → 20.007 </a:t>
            </a:r>
            <a:r>
              <a:rPr sz="1400" b="0" i="0" dirty="0" err="1">
                <a:solidFill>
                  <a:srgbClr val="474F67"/>
                </a:solidFill>
                <a:latin typeface="Arial"/>
              </a:rPr>
              <a:t>ảnh</a:t>
            </a:r>
            <a:r>
              <a:rPr sz="1400" b="0" i="0" dirty="0">
                <a:solidFill>
                  <a:srgbClr val="474F67"/>
                </a:solidFill>
                <a:latin typeface="Arial"/>
              </a:rPr>
              <a:t> (−10,8%). </a:t>
            </a:r>
            <a:r>
              <a:rPr sz="1400" b="0" i="0" dirty="0" err="1">
                <a:solidFill>
                  <a:srgbClr val="474F67"/>
                </a:solidFill>
                <a:latin typeface="Arial"/>
              </a:rPr>
              <a:t>Ngưỡng</a:t>
            </a:r>
            <a:r>
              <a:rPr sz="1400" b="0" i="0" dirty="0">
                <a:solidFill>
                  <a:srgbClr val="474F67"/>
                </a:solidFill>
                <a:latin typeface="Arial"/>
              </a:rPr>
              <a:t> </a:t>
            </a:r>
            <a:r>
              <a:rPr sz="1400" b="0" i="0" dirty="0" err="1">
                <a:solidFill>
                  <a:srgbClr val="474F67"/>
                </a:solidFill>
                <a:latin typeface="Arial"/>
              </a:rPr>
              <a:t>độ</a:t>
            </a:r>
            <a:r>
              <a:rPr sz="1400" b="0" i="0" dirty="0">
                <a:solidFill>
                  <a:srgbClr val="474F67"/>
                </a:solidFill>
                <a:latin typeface="Arial"/>
              </a:rPr>
              <a:t> </a:t>
            </a:r>
            <a:r>
              <a:rPr sz="1400" b="0" i="0" dirty="0" err="1">
                <a:solidFill>
                  <a:srgbClr val="474F67"/>
                </a:solidFill>
                <a:latin typeface="Arial"/>
              </a:rPr>
              <a:t>lệch</a:t>
            </a:r>
            <a:r>
              <a:rPr sz="1400" b="0" i="0" dirty="0">
                <a:solidFill>
                  <a:srgbClr val="474F67"/>
                </a:solidFill>
                <a:latin typeface="Arial"/>
              </a:rPr>
              <a:t> pixel &lt; 2, </a:t>
            </a:r>
            <a:r>
              <a:rPr sz="1400" b="0" i="0" dirty="0" err="1">
                <a:solidFill>
                  <a:srgbClr val="474F67"/>
                </a:solidFill>
                <a:latin typeface="Arial"/>
              </a:rPr>
              <a:t>trong</a:t>
            </a:r>
            <a:r>
              <a:rPr sz="1400" b="0" i="0" dirty="0">
                <a:solidFill>
                  <a:srgbClr val="474F67"/>
                </a:solidFill>
                <a:latin typeface="Arial"/>
              </a:rPr>
              <a:t> </a:t>
            </a:r>
            <a:r>
              <a:rPr sz="1400" b="0" i="0" dirty="0" err="1">
                <a:solidFill>
                  <a:srgbClr val="474F67"/>
                </a:solidFill>
                <a:latin typeface="Arial"/>
              </a:rPr>
              <a:t>cùng</a:t>
            </a:r>
            <a:r>
              <a:rPr sz="1400" b="0" i="0" dirty="0">
                <a:solidFill>
                  <a:srgbClr val="474F67"/>
                </a:solidFill>
                <a:latin typeface="Arial"/>
              </a:rPr>
              <a:t> </a:t>
            </a:r>
            <a:r>
              <a:rPr sz="1400" b="0" i="0" dirty="0" err="1">
                <a:solidFill>
                  <a:srgbClr val="474F67"/>
                </a:solidFill>
                <a:latin typeface="Arial"/>
              </a:rPr>
              <a:t>tài</a:t>
            </a:r>
            <a:r>
              <a:rPr sz="1400" b="0" i="0" dirty="0">
                <a:solidFill>
                  <a:srgbClr val="474F67"/>
                </a:solidFill>
                <a:latin typeface="Arial"/>
              </a:rPr>
              <a:t> </a:t>
            </a:r>
            <a:r>
              <a:rPr sz="1400" b="0" i="0" dirty="0" err="1">
                <a:solidFill>
                  <a:srgbClr val="474F67"/>
                </a:solidFill>
                <a:latin typeface="Arial"/>
              </a:rPr>
              <a:t>xế</a:t>
            </a:r>
            <a:r>
              <a:rPr sz="1400" b="0" i="0" dirty="0">
                <a:solidFill>
                  <a:srgbClr val="474F67"/>
                </a:solidFill>
                <a:latin typeface="Arial"/>
              </a:rPr>
              <a:t> </a:t>
            </a:r>
            <a:r>
              <a:rPr sz="1400" b="0" i="0" dirty="0" err="1">
                <a:solidFill>
                  <a:srgbClr val="474F67"/>
                </a:solidFill>
                <a:latin typeface="Arial"/>
              </a:rPr>
              <a:t>và</a:t>
            </a:r>
            <a:r>
              <a:rPr sz="1400" b="0" i="0" dirty="0">
                <a:solidFill>
                  <a:srgbClr val="474F67"/>
                </a:solidFill>
                <a:latin typeface="Arial"/>
              </a:rPr>
              <a:t> </a:t>
            </a:r>
            <a:r>
              <a:rPr sz="1400" b="0" i="0" dirty="0" err="1">
                <a:solidFill>
                  <a:srgbClr val="474F67"/>
                </a:solidFill>
                <a:latin typeface="Arial"/>
              </a:rPr>
              <a:t>lớp</a:t>
            </a:r>
            <a:r>
              <a:rPr sz="1400" b="0" i="0" dirty="0">
                <a:solidFill>
                  <a:srgbClr val="474F67"/>
                </a:solidFill>
                <a:latin typeface="Arial"/>
              </a:rPr>
              <a:t>.</a:t>
            </a:r>
          </a:p>
        </p:txBody>
      </p:sp>
      <p:sp>
        <p:nvSpPr>
          <p:cNvPr id="21" name="Right Arrow 20"/>
          <p:cNvSpPr/>
          <p:nvPr/>
        </p:nvSpPr>
        <p:spPr>
          <a:xfrm>
            <a:off x="8869680" y="1847088"/>
            <a:ext cx="265176" cy="347472"/>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62288" y="929235"/>
            <a:ext cx="2542032" cy="214884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115568"/>
            <a:ext cx="91440" cy="183794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63456" y="1097280"/>
            <a:ext cx="2194560" cy="411480"/>
          </a:xfrm>
          <a:prstGeom prst="rect">
            <a:avLst/>
          </a:prstGeom>
          <a:noFill/>
        </p:spPr>
        <p:txBody>
          <a:bodyPr wrap="square" lIns="0" tIns="0" rIns="0" bIns="0" anchor="t">
            <a:spAutoFit/>
          </a:bodyPr>
          <a:lstStyle/>
          <a:p>
            <a:pPr algn="l">
              <a:spcAft>
                <a:spcPts val="600"/>
              </a:spcAft>
            </a:pPr>
            <a:r>
              <a:rPr sz="1700" b="1" i="0" dirty="0">
                <a:solidFill>
                  <a:srgbClr val="1D2939"/>
                </a:solidFill>
                <a:latin typeface="Arial"/>
              </a:rPr>
              <a:t>4. Resize 320×240</a:t>
            </a:r>
          </a:p>
        </p:txBody>
      </p:sp>
      <p:sp>
        <p:nvSpPr>
          <p:cNvPr id="25" name="TextBox 24"/>
          <p:cNvSpPr txBox="1"/>
          <p:nvPr/>
        </p:nvSpPr>
        <p:spPr>
          <a:xfrm>
            <a:off x="9363456" y="1572768"/>
            <a:ext cx="2194560" cy="1463040"/>
          </a:xfrm>
          <a:prstGeom prst="rect">
            <a:avLst/>
          </a:prstGeom>
          <a:noFill/>
        </p:spPr>
        <p:txBody>
          <a:bodyPr wrap="square" lIns="0" tIns="0" rIns="0" bIns="0" anchor="t">
            <a:spAutoFit/>
          </a:bodyPr>
          <a:lstStyle/>
          <a:p>
            <a:pPr algn="l">
              <a:spcAft>
                <a:spcPts val="600"/>
              </a:spcAft>
            </a:pPr>
            <a:r>
              <a:rPr sz="1400" b="0" i="0" dirty="0" err="1">
                <a:solidFill>
                  <a:srgbClr val="474F67"/>
                </a:solidFill>
                <a:latin typeface="Arial"/>
              </a:rPr>
              <a:t>Giữ</a:t>
            </a:r>
            <a:r>
              <a:rPr sz="1400" b="0" i="0" dirty="0">
                <a:solidFill>
                  <a:srgbClr val="474F67"/>
                </a:solidFill>
                <a:latin typeface="Arial"/>
              </a:rPr>
              <a:t> </a:t>
            </a:r>
            <a:r>
              <a:rPr sz="1400" b="0" i="0" dirty="0" err="1">
                <a:solidFill>
                  <a:srgbClr val="474F67"/>
                </a:solidFill>
                <a:latin typeface="Arial"/>
              </a:rPr>
              <a:t>tỉ</a:t>
            </a:r>
            <a:r>
              <a:rPr sz="1400" b="0" i="0" dirty="0">
                <a:solidFill>
                  <a:srgbClr val="474F67"/>
                </a:solidFill>
                <a:latin typeface="Arial"/>
              </a:rPr>
              <a:t> </a:t>
            </a:r>
            <a:r>
              <a:rPr sz="1400" b="0" i="0" dirty="0" err="1">
                <a:solidFill>
                  <a:srgbClr val="474F67"/>
                </a:solidFill>
                <a:latin typeface="Arial"/>
              </a:rPr>
              <a:t>lệ</a:t>
            </a:r>
            <a:r>
              <a:rPr sz="1400" b="0" i="0" dirty="0">
                <a:solidFill>
                  <a:srgbClr val="474F67"/>
                </a:solidFill>
                <a:latin typeface="Arial"/>
              </a:rPr>
              <a:t> 4:3, JPEG 90, 496 MB. </a:t>
            </a:r>
            <a:r>
              <a:rPr sz="1400" b="0" i="0" dirty="0" err="1">
                <a:solidFill>
                  <a:srgbClr val="474F67"/>
                </a:solidFill>
                <a:latin typeface="Arial"/>
              </a:rPr>
              <a:t>Lúc</a:t>
            </a:r>
            <a:r>
              <a:rPr sz="1400" b="0" i="0" dirty="0">
                <a:solidFill>
                  <a:srgbClr val="474F67"/>
                </a:solidFill>
                <a:latin typeface="Arial"/>
              </a:rPr>
              <a:t> train </a:t>
            </a:r>
            <a:r>
              <a:rPr sz="1400" b="0" i="0" dirty="0" err="1">
                <a:solidFill>
                  <a:srgbClr val="474F67"/>
                </a:solidFill>
                <a:latin typeface="Arial"/>
              </a:rPr>
              <a:t>đưa</a:t>
            </a:r>
            <a:r>
              <a:rPr sz="1400" b="0" i="0" dirty="0">
                <a:solidFill>
                  <a:srgbClr val="474F67"/>
                </a:solidFill>
                <a:latin typeface="Arial"/>
              </a:rPr>
              <a:t> </a:t>
            </a:r>
            <a:r>
              <a:rPr sz="1400" b="0" i="0" dirty="0" err="1">
                <a:solidFill>
                  <a:srgbClr val="474F67"/>
                </a:solidFill>
                <a:latin typeface="Arial"/>
              </a:rPr>
              <a:t>về</a:t>
            </a:r>
            <a:r>
              <a:rPr sz="1400" b="0" i="0" dirty="0">
                <a:solidFill>
                  <a:srgbClr val="474F67"/>
                </a:solidFill>
                <a:latin typeface="Arial"/>
              </a:rPr>
              <a:t> 224×224, </a:t>
            </a:r>
            <a:r>
              <a:rPr sz="1400" b="0" i="0" dirty="0" err="1">
                <a:solidFill>
                  <a:srgbClr val="474F67"/>
                </a:solidFill>
                <a:latin typeface="Arial"/>
              </a:rPr>
              <a:t>chuẩn</a:t>
            </a:r>
            <a:r>
              <a:rPr sz="1400" b="0" i="0" dirty="0">
                <a:solidFill>
                  <a:srgbClr val="474F67"/>
                </a:solidFill>
                <a:latin typeface="Arial"/>
              </a:rPr>
              <a:t> </a:t>
            </a:r>
            <a:r>
              <a:rPr sz="1400" b="0" i="0" dirty="0" err="1">
                <a:solidFill>
                  <a:srgbClr val="474F67"/>
                </a:solidFill>
                <a:latin typeface="Arial"/>
              </a:rPr>
              <a:t>hoá</a:t>
            </a:r>
            <a:r>
              <a:rPr sz="1400" b="0" i="0" dirty="0">
                <a:solidFill>
                  <a:srgbClr val="474F67"/>
                </a:solidFill>
                <a:latin typeface="Arial"/>
              </a:rPr>
              <a:t> ImageNet.</a:t>
            </a:r>
          </a:p>
        </p:txBody>
      </p:sp>
      <p:pic>
        <p:nvPicPr>
          <p:cNvPr id="26" name="Picture 25" descr="pairs_top.jpg"/>
          <p:cNvPicPr>
            <a:picLocks noChangeAspect="1"/>
          </p:cNvPicPr>
          <p:nvPr/>
        </p:nvPicPr>
        <p:blipFill>
          <a:blip r:embed="rId3"/>
          <a:stretch>
            <a:fillRect/>
          </a:stretch>
        </p:blipFill>
        <p:spPr>
          <a:xfrm>
            <a:off x="576072" y="3383280"/>
            <a:ext cx="3291840" cy="2468880"/>
          </a:xfrm>
          <a:prstGeom prst="rect">
            <a:avLst/>
          </a:prstGeom>
        </p:spPr>
      </p:pic>
      <p:sp>
        <p:nvSpPr>
          <p:cNvPr id="28" name="Rounded Rectangle 27"/>
          <p:cNvSpPr/>
          <p:nvPr/>
        </p:nvSpPr>
        <p:spPr>
          <a:xfrm>
            <a:off x="4206240" y="3383280"/>
            <a:ext cx="7434072" cy="251460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34840" y="3520440"/>
            <a:ext cx="7040880" cy="1333698"/>
          </a:xfrm>
          <a:prstGeom prst="rect">
            <a:avLst/>
          </a:prstGeom>
          <a:noFill/>
        </p:spPr>
        <p:txBody>
          <a:bodyPr wrap="square" lIns="0" tIns="0" rIns="0" bIns="0" anchor="t">
            <a:spAutoFit/>
          </a:bodyPr>
          <a:lstStyle/>
          <a:p>
            <a:pPr marL="256032" indent="-201168" algn="l">
              <a:spcAft>
                <a:spcPts val="700"/>
              </a:spcAft>
              <a:buChar char="•"/>
            </a:pPr>
            <a:r>
              <a:rPr sz="1500" b="1" i="0" dirty="0">
                <a:solidFill>
                  <a:srgbClr val="1D2939"/>
                </a:solidFill>
                <a:latin typeface="Arial"/>
              </a:rPr>
              <a:t>Chia </a:t>
            </a:r>
            <a:r>
              <a:rPr sz="1500" b="1" i="0" dirty="0" err="1">
                <a:solidFill>
                  <a:srgbClr val="1D2939"/>
                </a:solidFill>
                <a:latin typeface="Arial"/>
              </a:rPr>
              <a:t>theo</a:t>
            </a:r>
            <a:r>
              <a:rPr sz="1500" b="1" i="0" dirty="0">
                <a:solidFill>
                  <a:srgbClr val="1D2939"/>
                </a:solidFill>
                <a:latin typeface="Arial"/>
              </a:rPr>
              <a:t> </a:t>
            </a:r>
            <a:r>
              <a:rPr sz="1500" b="1" i="0" dirty="0" err="1">
                <a:solidFill>
                  <a:srgbClr val="1D2939"/>
                </a:solidFill>
                <a:latin typeface="Arial"/>
              </a:rPr>
              <a:t>tài</a:t>
            </a:r>
            <a:r>
              <a:rPr sz="1500" b="1" i="0" dirty="0">
                <a:solidFill>
                  <a:srgbClr val="1D2939"/>
                </a:solidFill>
                <a:latin typeface="Arial"/>
              </a:rPr>
              <a:t> </a:t>
            </a:r>
            <a:r>
              <a:rPr sz="1500" b="1" i="0" dirty="0" err="1">
                <a:solidFill>
                  <a:srgbClr val="1D2939"/>
                </a:solidFill>
                <a:latin typeface="Arial"/>
              </a:rPr>
              <a:t>xế</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cùng</a:t>
            </a:r>
            <a:r>
              <a:rPr sz="1500" b="0" i="0" dirty="0">
                <a:solidFill>
                  <a:srgbClr val="474F67"/>
                </a:solidFill>
                <a:latin typeface="Arial"/>
              </a:rPr>
              <a:t> </a:t>
            </a:r>
            <a:r>
              <a:rPr sz="1500" b="0" i="0" dirty="0" err="1">
                <a:solidFill>
                  <a:srgbClr val="474F67"/>
                </a:solidFill>
                <a:latin typeface="Arial"/>
              </a:rPr>
              <a:t>một</a:t>
            </a:r>
            <a:r>
              <a:rPr sz="1500" b="0" i="0" dirty="0">
                <a:solidFill>
                  <a:srgbClr val="474F67"/>
                </a:solidFill>
                <a:latin typeface="Arial"/>
              </a:rPr>
              <a:t> </a:t>
            </a:r>
            <a:r>
              <a:rPr sz="1500" b="0" i="0" dirty="0" err="1">
                <a:solidFill>
                  <a:srgbClr val="474F67"/>
                </a:solidFill>
                <a:latin typeface="Arial"/>
              </a:rPr>
              <a:t>người</a:t>
            </a:r>
            <a:r>
              <a:rPr sz="1500" b="0" i="0" dirty="0">
                <a:solidFill>
                  <a:srgbClr val="474F67"/>
                </a:solidFill>
                <a:latin typeface="Arial"/>
              </a:rPr>
              <a:t> </a:t>
            </a:r>
            <a:r>
              <a:rPr sz="1500" b="0" i="0" dirty="0" err="1">
                <a:solidFill>
                  <a:srgbClr val="474F67"/>
                </a:solidFill>
                <a:latin typeface="Arial"/>
              </a:rPr>
              <a:t>gần</a:t>
            </a:r>
            <a:r>
              <a:rPr sz="1500" b="0" i="0" dirty="0">
                <a:solidFill>
                  <a:srgbClr val="474F67"/>
                </a:solidFill>
                <a:latin typeface="Arial"/>
              </a:rPr>
              <a:t> </a:t>
            </a:r>
            <a:r>
              <a:rPr sz="1500" b="0" i="0" dirty="0" err="1">
                <a:solidFill>
                  <a:srgbClr val="474F67"/>
                </a:solidFill>
                <a:latin typeface="Arial"/>
              </a:rPr>
              <a:t>như</a:t>
            </a:r>
            <a:r>
              <a:rPr sz="1500" b="0" i="0" dirty="0">
                <a:solidFill>
                  <a:srgbClr val="474F67"/>
                </a:solidFill>
                <a:latin typeface="Arial"/>
              </a:rPr>
              <a:t> </a:t>
            </a:r>
            <a:r>
              <a:rPr sz="1500" b="0" i="0" dirty="0" err="1">
                <a:solidFill>
                  <a:srgbClr val="474F67"/>
                </a:solidFill>
                <a:latin typeface="Arial"/>
              </a:rPr>
              <a:t>giống</a:t>
            </a:r>
            <a:r>
              <a:rPr sz="1500" b="0" i="0" dirty="0">
                <a:solidFill>
                  <a:srgbClr val="474F67"/>
                </a:solidFill>
                <a:latin typeface="Arial"/>
              </a:rPr>
              <a:t> </a:t>
            </a:r>
            <a:r>
              <a:rPr sz="1500" b="0" i="0" dirty="0" err="1">
                <a:solidFill>
                  <a:srgbClr val="474F67"/>
                </a:solidFill>
                <a:latin typeface="Arial"/>
              </a:rPr>
              <a:t>nhau</a:t>
            </a:r>
            <a:r>
              <a:rPr sz="1500" b="0" i="0" dirty="0">
                <a:solidFill>
                  <a:srgbClr val="474F67"/>
                </a:solidFill>
                <a:latin typeface="Arial"/>
              </a:rPr>
              <a:t>, chia </a:t>
            </a:r>
            <a:r>
              <a:rPr sz="1500" b="0" i="0" dirty="0" err="1">
                <a:solidFill>
                  <a:srgbClr val="474F67"/>
                </a:solidFill>
                <a:latin typeface="Arial"/>
              </a:rPr>
              <a:t>theo</a:t>
            </a:r>
            <a:r>
              <a:rPr sz="1500" b="0" i="0" dirty="0">
                <a:solidFill>
                  <a:srgbClr val="474F67"/>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sẽ</a:t>
            </a:r>
            <a:r>
              <a:rPr lang="en-US" sz="1500" b="0" i="0" dirty="0">
                <a:solidFill>
                  <a:srgbClr val="474F67"/>
                </a:solidFill>
                <a:latin typeface="Arial"/>
              </a:rPr>
              <a:t> </a:t>
            </a:r>
            <a:r>
              <a:rPr lang="en-US" sz="1500" b="0" i="0" dirty="0" err="1">
                <a:solidFill>
                  <a:srgbClr val="474F67"/>
                </a:solidFill>
                <a:latin typeface="Arial"/>
              </a:rPr>
              <a:t>bị</a:t>
            </a:r>
            <a:r>
              <a:rPr lang="en-US" sz="1500" b="0" i="0" dirty="0">
                <a:solidFill>
                  <a:srgbClr val="474F67"/>
                </a:solidFill>
                <a:latin typeface="Arial"/>
              </a:rPr>
              <a:t> overfitting</a:t>
            </a:r>
            <a:r>
              <a:rPr lang="en-US" sz="1500" dirty="0">
                <a:solidFill>
                  <a:srgbClr val="474F67"/>
                </a:solidFill>
                <a:latin typeface="Arial"/>
              </a:rPr>
              <a:t>.</a:t>
            </a:r>
            <a:endParaRPr sz="1500" b="0" i="0" dirty="0">
              <a:solidFill>
                <a:srgbClr val="474F67"/>
              </a:solidFill>
              <a:latin typeface="Arial"/>
            </a:endParaRPr>
          </a:p>
          <a:p>
            <a:pPr marL="256032" indent="-201168" algn="l">
              <a:spcAft>
                <a:spcPts val="700"/>
              </a:spcAft>
              <a:buChar char="•"/>
            </a:pPr>
            <a:r>
              <a:rPr sz="1500" b="1" i="0" dirty="0" err="1">
                <a:solidFill>
                  <a:srgbClr val="1D2939"/>
                </a:solidFill>
                <a:latin typeface="Arial"/>
              </a:rPr>
              <a:t>Bỏ</a:t>
            </a:r>
            <a:r>
              <a:rPr sz="1500" b="1" i="0" dirty="0">
                <a:solidFill>
                  <a:srgbClr val="1D2939"/>
                </a:solidFill>
                <a:latin typeface="Arial"/>
              </a:rPr>
              <a:t> </a:t>
            </a:r>
            <a:r>
              <a:rPr sz="1500" b="1" i="0" dirty="0" err="1">
                <a:solidFill>
                  <a:srgbClr val="1D2939"/>
                </a:solidFill>
                <a:latin typeface="Arial"/>
              </a:rPr>
              <a:t>ảnh</a:t>
            </a:r>
            <a:r>
              <a:rPr sz="1500" b="1" i="0" dirty="0">
                <a:solidFill>
                  <a:srgbClr val="1D2939"/>
                </a:solidFill>
                <a:latin typeface="Arial"/>
              </a:rPr>
              <a:t> </a:t>
            </a:r>
            <a:r>
              <a:rPr sz="1500" b="1" i="0" dirty="0" err="1">
                <a:solidFill>
                  <a:srgbClr val="1D2939"/>
                </a:solidFill>
                <a:latin typeface="Arial"/>
              </a:rPr>
              <a:t>trùng</a:t>
            </a:r>
            <a:r>
              <a:rPr sz="1500" b="1" i="0" dirty="0">
                <a:solidFill>
                  <a:srgbClr val="1D2939"/>
                </a:solidFill>
                <a:latin typeface="Arial"/>
              </a:rPr>
              <a:t>: </a:t>
            </a:r>
            <a:r>
              <a:rPr sz="1500" b="0" i="0" dirty="0" err="1">
                <a:solidFill>
                  <a:srgbClr val="474F67"/>
                </a:solidFill>
                <a:latin typeface="Arial"/>
              </a:rPr>
              <a:t>ảnh</a:t>
            </a:r>
            <a:r>
              <a:rPr sz="1500" b="0" i="0" dirty="0">
                <a:solidFill>
                  <a:srgbClr val="474F67"/>
                </a:solidFill>
                <a:latin typeface="Arial"/>
              </a:rPr>
              <a:t> </a:t>
            </a:r>
            <a:r>
              <a:rPr sz="1500" b="0" i="0" dirty="0" err="1">
                <a:solidFill>
                  <a:srgbClr val="474F67"/>
                </a:solidFill>
                <a:latin typeface="Arial"/>
              </a:rPr>
              <a:t>trùng</a:t>
            </a:r>
            <a:r>
              <a:rPr sz="1500" b="0" i="0" dirty="0">
                <a:solidFill>
                  <a:srgbClr val="474F67"/>
                </a:solidFill>
                <a:latin typeface="Arial"/>
              </a:rPr>
              <a:t> </a:t>
            </a:r>
            <a:r>
              <a:rPr sz="1500" b="0" i="0" dirty="0" err="1">
                <a:solidFill>
                  <a:srgbClr val="474F67"/>
                </a:solidFill>
                <a:latin typeface="Arial"/>
              </a:rPr>
              <a:t>làm</a:t>
            </a:r>
            <a:r>
              <a:rPr sz="1500" b="0" i="0" dirty="0">
                <a:solidFill>
                  <a:srgbClr val="474F67"/>
                </a:solidFill>
                <a:latin typeface="Arial"/>
              </a:rPr>
              <a:t> </a:t>
            </a:r>
            <a:r>
              <a:rPr sz="1500" b="0" i="0" dirty="0" err="1">
                <a:solidFill>
                  <a:srgbClr val="474F67"/>
                </a:solidFill>
                <a:latin typeface="Arial"/>
              </a:rPr>
              <a:t>điểm</a:t>
            </a:r>
            <a:r>
              <a:rPr sz="1500" b="0" i="0" dirty="0">
                <a:solidFill>
                  <a:srgbClr val="474F67"/>
                </a:solidFill>
                <a:latin typeface="Arial"/>
              </a:rPr>
              <a:t> </a:t>
            </a:r>
            <a:r>
              <a:rPr sz="1500" b="0" i="0" dirty="0" err="1">
                <a:solidFill>
                  <a:srgbClr val="474F67"/>
                </a:solidFill>
                <a:latin typeface="Arial"/>
              </a:rPr>
              <a:t>đánh</a:t>
            </a:r>
            <a:r>
              <a:rPr sz="1500" b="0" i="0" dirty="0">
                <a:solidFill>
                  <a:srgbClr val="474F67"/>
                </a:solidFill>
                <a:latin typeface="Arial"/>
              </a:rPr>
              <a:t> </a:t>
            </a:r>
            <a:r>
              <a:rPr sz="1500" b="0" i="0" dirty="0" err="1">
                <a:solidFill>
                  <a:srgbClr val="474F67"/>
                </a:solidFill>
                <a:latin typeface="Arial"/>
              </a:rPr>
              <a:t>giá</a:t>
            </a:r>
            <a:r>
              <a:rPr sz="1500" b="0" i="0" dirty="0">
                <a:solidFill>
                  <a:srgbClr val="474F67"/>
                </a:solidFill>
                <a:latin typeface="Arial"/>
              </a:rPr>
              <a:t> </a:t>
            </a:r>
            <a:r>
              <a:rPr sz="1500" b="0" i="0" dirty="0" err="1">
                <a:solidFill>
                  <a:srgbClr val="474F67"/>
                </a:solidFill>
                <a:latin typeface="Arial"/>
              </a:rPr>
              <a:t>lạc</a:t>
            </a:r>
            <a:r>
              <a:rPr sz="1500" b="0" i="0" dirty="0">
                <a:solidFill>
                  <a:srgbClr val="474F67"/>
                </a:solidFill>
                <a:latin typeface="Arial"/>
              </a:rPr>
              <a:t> </a:t>
            </a:r>
            <a:r>
              <a:rPr sz="1500" b="0" i="0" dirty="0" err="1">
                <a:solidFill>
                  <a:srgbClr val="474F67"/>
                </a:solidFill>
                <a:latin typeface="Arial"/>
              </a:rPr>
              <a:t>quan</a:t>
            </a:r>
            <a:r>
              <a:rPr sz="1500" b="0" i="0" dirty="0">
                <a:solidFill>
                  <a:srgbClr val="474F67"/>
                </a:solidFill>
                <a:latin typeface="Arial"/>
              </a:rPr>
              <a:t> </a:t>
            </a:r>
            <a:r>
              <a:rPr sz="1500" b="0" i="0" dirty="0" err="1">
                <a:solidFill>
                  <a:srgbClr val="474F67"/>
                </a:solidFill>
                <a:latin typeface="Arial"/>
              </a:rPr>
              <a:t>và</a:t>
            </a:r>
            <a:r>
              <a:rPr sz="1500" b="0" i="0" dirty="0">
                <a:solidFill>
                  <a:srgbClr val="474F67"/>
                </a:solidFill>
                <a:latin typeface="Arial"/>
              </a:rPr>
              <a:t> train </a:t>
            </a:r>
            <a:r>
              <a:rPr sz="1500" b="0" i="0" dirty="0" err="1">
                <a:solidFill>
                  <a:srgbClr val="474F67"/>
                </a:solidFill>
                <a:latin typeface="Arial"/>
              </a:rPr>
              <a:t>chậm</a:t>
            </a:r>
            <a:r>
              <a:rPr sz="1500" b="0" i="0" dirty="0">
                <a:solidFill>
                  <a:srgbClr val="474F67"/>
                </a:solidFill>
                <a:latin typeface="Arial"/>
              </a:rPr>
              <a:t> </a:t>
            </a:r>
            <a:r>
              <a:rPr sz="1500" b="0" i="0" dirty="0" err="1">
                <a:solidFill>
                  <a:srgbClr val="474F67"/>
                </a:solidFill>
                <a:latin typeface="Arial"/>
              </a:rPr>
              <a:t>hơn</a:t>
            </a:r>
            <a:r>
              <a:rPr sz="1500" b="0" i="0" dirty="0">
                <a:solidFill>
                  <a:srgbClr val="474F67"/>
                </a:solidFill>
                <a:latin typeface="Arial"/>
              </a:rPr>
              <a:t> </a:t>
            </a:r>
            <a:r>
              <a:rPr sz="1500" b="0" i="0" dirty="0" err="1">
                <a:solidFill>
                  <a:srgbClr val="474F67"/>
                </a:solidFill>
                <a:latin typeface="Arial"/>
              </a:rPr>
              <a:t>mà</a:t>
            </a:r>
            <a:r>
              <a:rPr sz="1500" b="0" i="0" dirty="0">
                <a:solidFill>
                  <a:srgbClr val="474F67"/>
                </a:solidFill>
                <a:latin typeface="Arial"/>
              </a:rPr>
              <a:t> </a:t>
            </a:r>
            <a:r>
              <a:rPr sz="1500" b="0" i="0" dirty="0" err="1">
                <a:solidFill>
                  <a:srgbClr val="474F67"/>
                </a:solidFill>
                <a:latin typeface="Arial"/>
              </a:rPr>
              <a:t>không</a:t>
            </a:r>
            <a:r>
              <a:rPr sz="1500" b="0" i="0" dirty="0">
                <a:solidFill>
                  <a:srgbClr val="474F67"/>
                </a:solidFill>
                <a:latin typeface="Arial"/>
              </a:rPr>
              <a:t> </a:t>
            </a:r>
            <a:r>
              <a:rPr sz="1500" b="0" i="0" dirty="0" err="1">
                <a:solidFill>
                  <a:srgbClr val="474F67"/>
                </a:solidFill>
                <a:latin typeface="Arial"/>
              </a:rPr>
              <a:t>thêm</a:t>
            </a:r>
            <a:r>
              <a:rPr sz="1500" b="0" i="0" dirty="0">
                <a:solidFill>
                  <a:srgbClr val="474F67"/>
                </a:solidFill>
                <a:latin typeface="Arial"/>
              </a:rPr>
              <a:t> </a:t>
            </a:r>
            <a:r>
              <a:rPr sz="1500" b="0" i="0" dirty="0" err="1">
                <a:solidFill>
                  <a:srgbClr val="474F67"/>
                </a:solidFill>
                <a:latin typeface="Arial"/>
              </a:rPr>
              <a:t>thông</a:t>
            </a:r>
            <a:r>
              <a:rPr sz="1500" b="0" i="0" dirty="0">
                <a:solidFill>
                  <a:srgbClr val="474F67"/>
                </a:solidFill>
                <a:latin typeface="Arial"/>
              </a:rPr>
              <a:t> tin.</a:t>
            </a:r>
          </a:p>
          <a:p>
            <a:pPr marL="256032" indent="-201168" algn="l">
              <a:spcAft>
                <a:spcPts val="700"/>
              </a:spcAft>
              <a:buChar char="•"/>
            </a:pPr>
            <a:r>
              <a:rPr sz="1500" b="1" i="0" dirty="0">
                <a:solidFill>
                  <a:srgbClr val="1D2939"/>
                </a:solidFill>
                <a:latin typeface="Arial"/>
              </a:rPr>
              <a:t>Augmentation: </a:t>
            </a:r>
            <a:r>
              <a:rPr sz="1500" b="0" i="0" dirty="0" err="1">
                <a:solidFill>
                  <a:srgbClr val="474F67"/>
                </a:solidFill>
                <a:latin typeface="Arial"/>
              </a:rPr>
              <a:t>cắt</a:t>
            </a:r>
            <a:r>
              <a:rPr sz="1500" b="0" i="0" dirty="0">
                <a:solidFill>
                  <a:srgbClr val="474F67"/>
                </a:solidFill>
                <a:latin typeface="Arial"/>
              </a:rPr>
              <a:t> </a:t>
            </a:r>
            <a:r>
              <a:rPr sz="1500" b="0" i="0" dirty="0" err="1">
                <a:solidFill>
                  <a:srgbClr val="474F67"/>
                </a:solidFill>
                <a:latin typeface="Arial"/>
              </a:rPr>
              <a:t>ngẫu</a:t>
            </a:r>
            <a:r>
              <a:rPr sz="1500" b="0" i="0" dirty="0">
                <a:solidFill>
                  <a:srgbClr val="474F67"/>
                </a:solidFill>
                <a:latin typeface="Arial"/>
              </a:rPr>
              <a:t> </a:t>
            </a:r>
            <a:r>
              <a:rPr sz="1500" b="0" i="0" dirty="0" err="1">
                <a:solidFill>
                  <a:srgbClr val="474F67"/>
                </a:solidFill>
                <a:latin typeface="Arial"/>
              </a:rPr>
              <a:t>nhiên</a:t>
            </a:r>
            <a:r>
              <a:rPr sz="1500" b="0" i="0" dirty="0">
                <a:solidFill>
                  <a:srgbClr val="474F67"/>
                </a:solidFill>
                <a:latin typeface="Arial"/>
              </a:rPr>
              <a:t>, </a:t>
            </a:r>
            <a:r>
              <a:rPr sz="1500" b="0" i="0" dirty="0" err="1">
                <a:solidFill>
                  <a:srgbClr val="474F67"/>
                </a:solidFill>
                <a:latin typeface="Arial"/>
              </a:rPr>
              <a:t>xoay</a:t>
            </a:r>
            <a:r>
              <a:rPr sz="1500" b="0" i="0" dirty="0">
                <a:solidFill>
                  <a:srgbClr val="474F67"/>
                </a:solidFill>
                <a:latin typeface="Arial"/>
              </a:rPr>
              <a:t> ±8°, </a:t>
            </a:r>
            <a:r>
              <a:rPr sz="1500" b="0" i="0" dirty="0" err="1">
                <a:solidFill>
                  <a:srgbClr val="474F67"/>
                </a:solidFill>
                <a:latin typeface="Arial"/>
              </a:rPr>
              <a:t>đổi</a:t>
            </a:r>
            <a:r>
              <a:rPr sz="1500" b="0" i="0" dirty="0">
                <a:solidFill>
                  <a:srgbClr val="474F67"/>
                </a:solidFill>
                <a:latin typeface="Arial"/>
              </a:rPr>
              <a:t> </a:t>
            </a:r>
            <a:r>
              <a:rPr sz="1500" b="0" i="0" dirty="0" err="1">
                <a:solidFill>
                  <a:srgbClr val="474F67"/>
                </a:solidFill>
                <a:latin typeface="Arial"/>
              </a:rPr>
              <a:t>sáng</a:t>
            </a:r>
            <a:r>
              <a:rPr sz="1500" b="0" i="0" dirty="0">
                <a:solidFill>
                  <a:srgbClr val="474F67"/>
                </a:solidFill>
                <a:latin typeface="Arial"/>
              </a:rPr>
              <a:t>/</a:t>
            </a:r>
            <a:r>
              <a:rPr sz="1500" b="0" i="0" dirty="0" err="1">
                <a:solidFill>
                  <a:srgbClr val="474F67"/>
                </a:solidFill>
                <a:latin typeface="Arial"/>
              </a:rPr>
              <a:t>màu</a:t>
            </a:r>
            <a:r>
              <a:rPr lang="vi-VN" sz="1500" b="0" i="0" dirty="0">
                <a:solidFill>
                  <a:srgbClr val="474F67"/>
                </a:solidFill>
                <a:latin typeface="Arial"/>
              </a:rPr>
              <a:t>. </a:t>
            </a:r>
            <a:endParaRPr sz="1500" b="0" i="0" dirty="0">
              <a:solidFill>
                <a:srgbClr val="474F67"/>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dirty="0">
                <a:solidFill>
                  <a:srgbClr val="FFFFFF"/>
                </a:solidFill>
                <a:latin typeface="Arial"/>
              </a:rPr>
              <a:t>Giao </a:t>
            </a:r>
            <a:r>
              <a:rPr sz="2400" b="1" dirty="0" err="1">
                <a:solidFill>
                  <a:srgbClr val="FFFFFF"/>
                </a:solidFill>
                <a:latin typeface="Arial"/>
              </a:rPr>
              <a:t>thức</a:t>
            </a:r>
            <a:r>
              <a:rPr sz="2400" b="1" dirty="0">
                <a:solidFill>
                  <a:srgbClr val="FFFFFF"/>
                </a:solidFill>
                <a:latin typeface="Arial"/>
              </a:rPr>
              <a:t> </a:t>
            </a:r>
            <a:r>
              <a:rPr sz="2400" b="1" dirty="0" err="1">
                <a:solidFill>
                  <a:srgbClr val="FFFFFF"/>
                </a:solidFill>
                <a:latin typeface="Arial"/>
              </a:rPr>
              <a:t>thí</a:t>
            </a:r>
            <a:r>
              <a:rPr sz="2400" b="1" dirty="0">
                <a:solidFill>
                  <a:srgbClr val="FFFFFF"/>
                </a:solidFill>
                <a:latin typeface="Arial"/>
              </a:rPr>
              <a:t> </a:t>
            </a:r>
            <a:r>
              <a:rPr sz="2400" b="1" dirty="0" err="1">
                <a:solidFill>
                  <a:srgbClr val="FFFFFF"/>
                </a:solidFill>
                <a:latin typeface="Arial"/>
              </a:rPr>
              <a:t>nghiệm</a:t>
            </a:r>
            <a:endParaRPr sz="2400" b="1" dirty="0">
              <a:solidFill>
                <a:srgbClr val="FFFFFF"/>
              </a:solidFill>
              <a:latin typeface="Arial"/>
            </a:endParaRP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5</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4069292101"/>
              </p:ext>
            </p:extLst>
          </p:nvPr>
        </p:nvGraphicFramePr>
        <p:xfrm>
          <a:off x="576072" y="960120"/>
          <a:ext cx="6766560" cy="4389120"/>
        </p:xfrm>
        <a:graphic>
          <a:graphicData uri="http://schemas.openxmlformats.org/drawingml/2006/table">
            <a:tbl>
              <a:tblPr firstRow="1" bandRow="1">
                <a:tableStyleId>{5940675A-B579-460E-94D1-54222C63F5DA}</a:tableStyleId>
              </a:tblPr>
              <a:tblGrid>
                <a:gridCol w="210312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tblGrid>
              <a:tr h="548640">
                <a:tc>
                  <a:txBody>
                    <a:bodyPr/>
                    <a:lstStyle/>
                    <a:p>
                      <a:pPr algn="l"/>
                      <a:r>
                        <a:rPr sz="1600" b="1">
                          <a:solidFill>
                            <a:srgbClr val="FFFFFF"/>
                          </a:solidFill>
                          <a:latin typeface="Arial"/>
                        </a:rPr>
                        <a:t>Thành phần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tc>
                  <a:txBody>
                    <a:bodyPr/>
                    <a:lstStyle/>
                    <a:p>
                      <a:pPr algn="l"/>
                      <a:r>
                        <a:rPr sz="1600" b="1">
                          <a:solidFill>
                            <a:srgbClr val="FFFFFF"/>
                          </a:solidFill>
                          <a:latin typeface="Arial"/>
                        </a:rPr>
                        <a:t>Cấu hình cố định</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00A95C"/>
                    </a:solidFill>
                  </a:tcPr>
                </a:tc>
                <a:extLst>
                  <a:ext uri="{0D108BD9-81ED-4DB2-BD59-A6C34878D82A}">
                    <a16:rowId xmlns:a16="http://schemas.microsoft.com/office/drawing/2014/main" val="10000"/>
                  </a:ext>
                </a:extLst>
              </a:tr>
              <a:tr h="548640">
                <a:tc>
                  <a:txBody>
                    <a:bodyPr/>
                    <a:lstStyle/>
                    <a:p>
                      <a:pPr algn="l"/>
                      <a:r>
                        <a:rPr sz="1600" b="1">
                          <a:solidFill>
                            <a:srgbClr val="1D2939"/>
                          </a:solidFill>
                          <a:latin typeface="Arial"/>
                        </a:rPr>
                        <a:t>Khởi tạo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Pretrained ImageNet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1"/>
                  </a:ext>
                </a:extLst>
              </a:tr>
              <a:tr h="548640">
                <a:tc>
                  <a:txBody>
                    <a:bodyPr/>
                    <a:lstStyle/>
                    <a:p>
                      <a:pPr algn="l"/>
                      <a:r>
                        <a:rPr sz="1600" b="1">
                          <a:solidFill>
                            <a:srgbClr val="1D2939"/>
                          </a:solidFill>
                          <a:latin typeface="Arial"/>
                        </a:rPr>
                        <a:t>Optimizer</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err="1">
                          <a:solidFill>
                            <a:srgbClr val="1D2939"/>
                          </a:solidFill>
                          <a:latin typeface="Arial"/>
                        </a:rPr>
                        <a:t>AdamW</a:t>
                      </a:r>
                      <a:r>
                        <a:rPr sz="1600" b="0" dirty="0">
                          <a:solidFill>
                            <a:srgbClr val="1D2939"/>
                          </a:solidFill>
                          <a:latin typeface="Arial"/>
                        </a:rPr>
                        <a:t>, </a:t>
                      </a:r>
                      <a:r>
                        <a:rPr sz="1600" b="0" dirty="0" err="1">
                          <a:solidFill>
                            <a:srgbClr val="1D2939"/>
                          </a:solidFill>
                          <a:latin typeface="Arial"/>
                        </a:rPr>
                        <a:t>lr</a:t>
                      </a:r>
                      <a:r>
                        <a:rPr sz="1600" b="0" dirty="0">
                          <a:solidFill>
                            <a:srgbClr val="1D2939"/>
                          </a:solidFill>
                          <a:latin typeface="Arial"/>
                        </a:rPr>
                        <a:t> </a:t>
                      </a:r>
                      <a:r>
                        <a:rPr lang="en-US" sz="1600" b="0" dirty="0">
                          <a:solidFill>
                            <a:srgbClr val="1D2939"/>
                          </a:solidFill>
                          <a:latin typeface="Arial"/>
                        </a:rPr>
                        <a:t>0.001</a:t>
                      </a:r>
                      <a:r>
                        <a:rPr sz="1600" b="0" dirty="0">
                          <a:solidFill>
                            <a:srgbClr val="1D2939"/>
                          </a:solidFill>
                          <a:latin typeface="Arial"/>
                        </a:rPr>
                        <a:t>, weight decay 1e-4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2"/>
                  </a:ext>
                </a:extLst>
              </a:tr>
              <a:tr h="548640">
                <a:tc>
                  <a:txBody>
                    <a:bodyPr/>
                    <a:lstStyle/>
                    <a:p>
                      <a:pPr algn="l"/>
                      <a:r>
                        <a:rPr sz="1600" b="1" dirty="0" err="1">
                          <a:solidFill>
                            <a:srgbClr val="1D2939"/>
                          </a:solidFill>
                          <a:latin typeface="Arial"/>
                        </a:rPr>
                        <a:t>Lịch</a:t>
                      </a:r>
                      <a:r>
                        <a:rPr sz="1600" b="1" dirty="0">
                          <a:solidFill>
                            <a:srgbClr val="1D2939"/>
                          </a:solidFill>
                          <a:latin typeface="Arial"/>
                        </a:rPr>
                        <a:t> </a:t>
                      </a:r>
                      <a:r>
                        <a:rPr sz="1600" b="1" dirty="0" err="1">
                          <a:solidFill>
                            <a:srgbClr val="1D2939"/>
                          </a:solidFill>
                          <a:latin typeface="Arial"/>
                        </a:rPr>
                        <a:t>học</a:t>
                      </a:r>
                      <a:endParaRPr sz="1600" b="1"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Cosine annealing, 10 epoch, batch 64</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3"/>
                  </a:ext>
                </a:extLst>
              </a:tr>
              <a:tr h="548640">
                <a:tc>
                  <a:txBody>
                    <a:bodyPr/>
                    <a:lstStyle/>
                    <a:p>
                      <a:pPr algn="l"/>
                      <a:r>
                        <a:rPr sz="1600" b="1">
                          <a:solidFill>
                            <a:srgbClr val="1D2939"/>
                          </a:solidFill>
                          <a:latin typeface="Arial"/>
                        </a:rPr>
                        <a:t>Hàm mất mát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a:solidFill>
                            <a:srgbClr val="1D2939"/>
                          </a:solidFill>
                          <a:latin typeface="Arial"/>
                        </a:rPr>
                        <a:t>Cross-entropy, label smoothing 0,1</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4"/>
                  </a:ext>
                </a:extLst>
              </a:tr>
              <a:tr h="548640">
                <a:tc>
                  <a:txBody>
                    <a:bodyPr/>
                    <a:lstStyle/>
                    <a:p>
                      <a:pPr algn="l"/>
                      <a:r>
                        <a:rPr sz="1600" b="1">
                          <a:solidFill>
                            <a:srgbClr val="1D2939"/>
                          </a:solidFill>
                          <a:latin typeface="Arial"/>
                        </a:rPr>
                        <a:t>Ảnh vào</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224×224, augmentation</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5"/>
                  </a:ext>
                </a:extLst>
              </a:tr>
              <a:tr h="548640">
                <a:tc>
                  <a:txBody>
                    <a:bodyPr/>
                    <a:lstStyle/>
                    <a:p>
                      <a:pPr algn="l"/>
                      <a:r>
                        <a:rPr sz="1600" b="1">
                          <a:solidFill>
                            <a:srgbClr val="1D2939"/>
                          </a:solidFill>
                          <a:latin typeface="Arial"/>
                        </a:rPr>
                        <a:t>Chọn checkpoint</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tc>
                  <a:txBody>
                    <a:bodyPr/>
                    <a:lstStyle/>
                    <a:p>
                      <a:pPr algn="l"/>
                      <a:r>
                        <a:rPr sz="1600" b="0" dirty="0">
                          <a:solidFill>
                            <a:srgbClr val="1D2939"/>
                          </a:solidFill>
                          <a:latin typeface="Arial"/>
                        </a:rPr>
                        <a:t>Epoch </a:t>
                      </a:r>
                      <a:r>
                        <a:rPr sz="1600" b="0" dirty="0" err="1">
                          <a:solidFill>
                            <a:srgbClr val="1D2939"/>
                          </a:solidFill>
                          <a:latin typeface="Arial"/>
                        </a:rPr>
                        <a:t>có</a:t>
                      </a:r>
                      <a:r>
                        <a:rPr sz="1600" b="0" dirty="0">
                          <a:solidFill>
                            <a:srgbClr val="1D2939"/>
                          </a:solidFill>
                          <a:latin typeface="Arial"/>
                        </a:rPr>
                        <a:t> </a:t>
                      </a:r>
                      <a:r>
                        <a:rPr sz="1600" b="0" dirty="0" err="1">
                          <a:solidFill>
                            <a:srgbClr val="1D2939"/>
                          </a:solidFill>
                          <a:latin typeface="Arial"/>
                        </a:rPr>
                        <a:t>val</a:t>
                      </a:r>
                      <a:r>
                        <a:rPr sz="1600" b="0" dirty="0">
                          <a:solidFill>
                            <a:srgbClr val="1D2939"/>
                          </a:solidFill>
                          <a:latin typeface="Arial"/>
                        </a:rPr>
                        <a:t> macro-F1 </a:t>
                      </a:r>
                      <a:r>
                        <a:rPr sz="1600" b="0" dirty="0" err="1">
                          <a:solidFill>
                            <a:srgbClr val="1D2939"/>
                          </a:solidFill>
                          <a:latin typeface="Arial"/>
                        </a:rPr>
                        <a:t>cao</a:t>
                      </a:r>
                      <a:r>
                        <a:rPr sz="1600" b="0" dirty="0">
                          <a:solidFill>
                            <a:srgbClr val="1D2939"/>
                          </a:solidFill>
                          <a:latin typeface="Arial"/>
                        </a:rPr>
                        <a:t> </a:t>
                      </a:r>
                      <a:r>
                        <a:rPr sz="1600" b="0" dirty="0" err="1">
                          <a:solidFill>
                            <a:srgbClr val="1D2939"/>
                          </a:solidFill>
                          <a:latin typeface="Arial"/>
                        </a:rPr>
                        <a:t>nhất</a:t>
                      </a:r>
                      <a:endParaRPr sz="1600" b="0" dirty="0">
                        <a:solidFill>
                          <a:srgbClr val="1D2939"/>
                        </a:solidFill>
                        <a:latin typeface="Arial"/>
                      </a:endParaRP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1F3F6"/>
                    </a:solidFill>
                  </a:tcPr>
                </a:tc>
                <a:extLst>
                  <a:ext uri="{0D108BD9-81ED-4DB2-BD59-A6C34878D82A}">
                    <a16:rowId xmlns:a16="http://schemas.microsoft.com/office/drawing/2014/main" val="10006"/>
                  </a:ext>
                </a:extLst>
              </a:tr>
              <a:tr h="548640">
                <a:tc>
                  <a:txBody>
                    <a:bodyPr/>
                    <a:lstStyle/>
                    <a:p>
                      <a:pPr algn="l"/>
                      <a:r>
                        <a:rPr sz="1600" b="1">
                          <a:solidFill>
                            <a:srgbClr val="1D2939"/>
                          </a:solidFill>
                          <a:latin typeface="Arial"/>
                        </a:rPr>
                        <a:t>Đánh giá</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tc>
                  <a:txBody>
                    <a:bodyPr/>
                    <a:lstStyle/>
                    <a:p>
                      <a:pPr algn="l"/>
                      <a:r>
                        <a:rPr sz="1600" b="0" dirty="0">
                          <a:solidFill>
                            <a:srgbClr val="1D2939"/>
                          </a:solidFill>
                          <a:latin typeface="Arial"/>
                        </a:rPr>
                        <a:t>Test </a:t>
                      </a:r>
                      <a:r>
                        <a:rPr sz="1600" b="0" dirty="0" err="1">
                          <a:solidFill>
                            <a:srgbClr val="1D2939"/>
                          </a:solidFill>
                          <a:latin typeface="Arial"/>
                        </a:rPr>
                        <a:t>báo</a:t>
                      </a:r>
                      <a:r>
                        <a:rPr sz="1600" b="0" dirty="0">
                          <a:solidFill>
                            <a:srgbClr val="1D2939"/>
                          </a:solidFill>
                          <a:latin typeface="Arial"/>
                        </a:rPr>
                        <a:t> </a:t>
                      </a:r>
                      <a:r>
                        <a:rPr sz="1600" b="0" dirty="0" err="1">
                          <a:solidFill>
                            <a:srgbClr val="1D2939"/>
                          </a:solidFill>
                          <a:latin typeface="Arial"/>
                        </a:rPr>
                        <a:t>cáo</a:t>
                      </a:r>
                      <a:r>
                        <a:rPr sz="1600" b="0" dirty="0">
                          <a:solidFill>
                            <a:srgbClr val="1D2939"/>
                          </a:solidFill>
                          <a:latin typeface="Arial"/>
                        </a:rPr>
                        <a:t> </a:t>
                      </a:r>
                      <a:r>
                        <a:rPr sz="1600" b="0" dirty="0" err="1">
                          <a:solidFill>
                            <a:srgbClr val="1D2939"/>
                          </a:solidFill>
                          <a:latin typeface="Arial"/>
                        </a:rPr>
                        <a:t>một</a:t>
                      </a:r>
                      <a:r>
                        <a:rPr sz="1600" b="0" dirty="0">
                          <a:solidFill>
                            <a:srgbClr val="1D2939"/>
                          </a:solidFill>
                          <a:latin typeface="Arial"/>
                        </a:rPr>
                        <a:t> </a:t>
                      </a:r>
                      <a:r>
                        <a:rPr sz="1600" b="0" dirty="0" err="1">
                          <a:solidFill>
                            <a:srgbClr val="1D2939"/>
                          </a:solidFill>
                          <a:latin typeface="Arial"/>
                        </a:rPr>
                        <a:t>lần</a:t>
                      </a:r>
                      <a:r>
                        <a:rPr sz="1600" b="0" dirty="0">
                          <a:solidFill>
                            <a:srgbClr val="1D2939"/>
                          </a:solidFill>
                          <a:latin typeface="Arial"/>
                        </a:rPr>
                        <a:t>, seed 42</a:t>
                      </a:r>
                    </a:p>
                  </a:txBody>
                  <a:tcPr marT="27432" marB="27432" anchor="ctr">
                    <a:lnL w="9525">
                      <a:solidFill>
                        <a:srgbClr val="D3D7DD"/>
                      </a:solidFill>
                    </a:lnL>
                    <a:lnR w="9525">
                      <a:solidFill>
                        <a:srgbClr val="D3D7DD"/>
                      </a:solidFill>
                    </a:lnR>
                    <a:lnT w="9525">
                      <a:solidFill>
                        <a:srgbClr val="D3D7DD"/>
                      </a:solidFill>
                    </a:lnT>
                    <a:lnB w="9525">
                      <a:solidFill>
                        <a:srgbClr val="D3D7DD"/>
                      </a:solidFill>
                    </a:lnB>
                    <a:solidFill>
                      <a:srgbClr val="FFFFFF"/>
                    </a:solidFill>
                  </a:tcPr>
                </a:tc>
                <a:extLst>
                  <a:ext uri="{0D108BD9-81ED-4DB2-BD59-A6C34878D82A}">
                    <a16:rowId xmlns:a16="http://schemas.microsoft.com/office/drawing/2014/main" val="10007"/>
                  </a:ext>
                </a:extLst>
              </a:tr>
            </a:tbl>
          </a:graphicData>
        </a:graphic>
      </p:graphicFrame>
      <p:sp>
        <p:nvSpPr>
          <p:cNvPr id="8" name="Rounded Rectangle 7"/>
          <p:cNvSpPr/>
          <p:nvPr/>
        </p:nvSpPr>
        <p:spPr>
          <a:xfrm>
            <a:off x="7680960" y="960120"/>
            <a:ext cx="3959352" cy="4389120"/>
          </a:xfrm>
          <a:prstGeom prst="roundRect">
            <a:avLst>
              <a:gd name="adj" fmla="val 8083"/>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616952" y="1115568"/>
            <a:ext cx="91440" cy="407822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60" y="1097280"/>
            <a:ext cx="3611880" cy="553998"/>
          </a:xfrm>
          <a:prstGeom prst="rect">
            <a:avLst/>
          </a:prstGeom>
          <a:noFill/>
        </p:spPr>
        <p:txBody>
          <a:bodyPr wrap="square" lIns="0" tIns="0" rIns="0" bIns="0" anchor="t">
            <a:spAutoFit/>
          </a:bodyPr>
          <a:lstStyle/>
          <a:p>
            <a:pPr algn="l">
              <a:spcAft>
                <a:spcPts val="1000"/>
              </a:spcAft>
            </a:pPr>
            <a:r>
              <a:rPr lang="en-US" sz="1800" b="1" i="0" dirty="0">
                <a:solidFill>
                  <a:srgbClr val="1D2939"/>
                </a:solidFill>
                <a:latin typeface="Arial"/>
              </a:rPr>
              <a:t>Score </a:t>
            </a:r>
            <a:r>
              <a:rPr lang="en-US" sz="1800" b="1" i="0" dirty="0" err="1">
                <a:solidFill>
                  <a:srgbClr val="1D2939"/>
                </a:solidFill>
                <a:latin typeface="Arial"/>
              </a:rPr>
              <a:t>chính</a:t>
            </a:r>
            <a:r>
              <a:rPr sz="1800" b="1" i="0" dirty="0">
                <a:solidFill>
                  <a:srgbClr val="1D2939"/>
                </a:solidFill>
                <a:latin typeface="Arial"/>
              </a:rPr>
              <a:t>: macro-F1</a:t>
            </a:r>
            <a:r>
              <a:rPr lang="en-US" sz="1800" b="1" i="0" dirty="0">
                <a:solidFill>
                  <a:srgbClr val="1D2939"/>
                </a:solidFill>
                <a:latin typeface="Arial"/>
              </a:rPr>
              <a:t>(</a:t>
            </a:r>
            <a:r>
              <a:rPr lang="en-US" sz="1800" b="1" i="0" dirty="0" err="1">
                <a:solidFill>
                  <a:srgbClr val="1D2939"/>
                </a:solidFill>
                <a:latin typeface="Arial"/>
              </a:rPr>
              <a:t>điểm</a:t>
            </a:r>
            <a:r>
              <a:rPr lang="en-US" sz="1800" b="1" i="0" dirty="0">
                <a:solidFill>
                  <a:srgbClr val="1D2939"/>
                </a:solidFill>
                <a:latin typeface="Arial"/>
              </a:rPr>
              <a:t> </a:t>
            </a:r>
            <a:r>
              <a:rPr lang="en-US" sz="1800" b="1" i="0" dirty="0" err="1">
                <a:solidFill>
                  <a:srgbClr val="1D2939"/>
                </a:solidFill>
                <a:latin typeface="Arial"/>
              </a:rPr>
              <a:t>trung</a:t>
            </a:r>
            <a:r>
              <a:rPr lang="en-US" sz="1800" b="1" i="0" dirty="0">
                <a:solidFill>
                  <a:srgbClr val="1D2939"/>
                </a:solidFill>
                <a:latin typeface="Arial"/>
              </a:rPr>
              <a:t> </a:t>
            </a:r>
            <a:r>
              <a:rPr lang="en-US" sz="1800" b="1" i="0" dirty="0" err="1">
                <a:solidFill>
                  <a:srgbClr val="1D2939"/>
                </a:solidFill>
                <a:latin typeface="Arial"/>
              </a:rPr>
              <a:t>bình</a:t>
            </a:r>
            <a:r>
              <a:rPr lang="en-US" sz="1800" b="1" i="0" dirty="0">
                <a:solidFill>
                  <a:srgbClr val="1D2939"/>
                </a:solidFill>
                <a:latin typeface="Arial"/>
              </a:rPr>
              <a:t> 6 </a:t>
            </a:r>
            <a:r>
              <a:rPr lang="en-US" sz="1800" b="1" i="0" dirty="0" err="1">
                <a:solidFill>
                  <a:srgbClr val="1D2939"/>
                </a:solidFill>
                <a:latin typeface="Arial"/>
              </a:rPr>
              <a:t>hành</a:t>
            </a:r>
            <a:r>
              <a:rPr lang="en-US" sz="1800" b="1" i="0" dirty="0">
                <a:solidFill>
                  <a:srgbClr val="1D2939"/>
                </a:solidFill>
                <a:latin typeface="Arial"/>
              </a:rPr>
              <a:t> vi)</a:t>
            </a:r>
            <a:endParaRPr sz="1800" b="1" i="0" dirty="0">
              <a:solidFill>
                <a:srgbClr val="1D2939"/>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Các mô hình so sánh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6</a:t>
            </a:fld>
            <a:endParaRPr lang="en-US"/>
          </a:p>
        </p:txBody>
      </p:sp>
      <p:sp>
        <p:nvSpPr>
          <p:cNvPr id="7" name="Rounded Rectangle 6"/>
          <p:cNvSpPr/>
          <p:nvPr/>
        </p:nvSpPr>
        <p:spPr>
          <a:xfrm>
            <a:off x="57607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MobileNetV3-Small</a:t>
            </a:r>
          </a:p>
        </p:txBody>
      </p:sp>
      <p:sp>
        <p:nvSpPr>
          <p:cNvPr id="10" name="Rounded Rectangle 9"/>
          <p:cNvSpPr/>
          <p:nvPr/>
        </p:nvSpPr>
        <p:spPr>
          <a:xfrm>
            <a:off x="80467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Ứng</a:t>
            </a:r>
            <a:r>
              <a:rPr sz="1200" b="1" dirty="0">
                <a:solidFill>
                  <a:srgbClr val="FFFFFF"/>
                </a:solidFill>
                <a:latin typeface="Arial"/>
              </a:rPr>
              <a:t> </a:t>
            </a:r>
            <a:r>
              <a:rPr sz="1200" b="1" dirty="0" err="1">
                <a:solidFill>
                  <a:srgbClr val="FFFFFF"/>
                </a:solidFill>
                <a:latin typeface="Arial"/>
              </a:rPr>
              <a:t>viên</a:t>
            </a:r>
            <a:r>
              <a:rPr sz="1200" b="1" dirty="0">
                <a:solidFill>
                  <a:srgbClr val="FFFFFF"/>
                </a:solidFill>
                <a:latin typeface="Arial"/>
              </a:rPr>
              <a:t> edge (</a:t>
            </a:r>
            <a:r>
              <a:rPr lang="vi-VN" sz="1200" b="1" dirty="0">
                <a:solidFill>
                  <a:srgbClr val="FFFFFF"/>
                </a:solidFill>
                <a:latin typeface="Arial"/>
              </a:rPr>
              <a:t>m</a:t>
            </a:r>
            <a:r>
              <a:rPr sz="1200" b="1" dirty="0" err="1">
                <a:solidFill>
                  <a:srgbClr val="FFFFFF"/>
                </a:solidFill>
                <a:latin typeface="Arial"/>
              </a:rPr>
              <a:t>ục</a:t>
            </a:r>
            <a:r>
              <a:rPr sz="1200" b="1" dirty="0">
                <a:solidFill>
                  <a:srgbClr val="FFFFFF"/>
                </a:solidFill>
                <a:latin typeface="Arial"/>
              </a:rPr>
              <a:t> </a:t>
            </a:r>
            <a:r>
              <a:rPr sz="1200" b="1" dirty="0" err="1">
                <a:solidFill>
                  <a:srgbClr val="FFFFFF"/>
                </a:solidFill>
                <a:latin typeface="Arial"/>
              </a:rPr>
              <a:t>tiêu</a:t>
            </a:r>
            <a:r>
              <a:rPr sz="1200" b="1" dirty="0">
                <a:solidFill>
                  <a:srgbClr val="FFFFFF"/>
                </a:solidFill>
                <a:latin typeface="Arial"/>
              </a:rPr>
              <a:t>)</a:t>
            </a:r>
          </a:p>
        </p:txBody>
      </p:sp>
      <p:sp>
        <p:nvSpPr>
          <p:cNvPr id="11" name="TextBox 10"/>
          <p:cNvSpPr txBox="1"/>
          <p:nvPr/>
        </p:nvSpPr>
        <p:spPr>
          <a:xfrm>
            <a:off x="80467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1,52 M</a:t>
            </a:r>
          </a:p>
        </p:txBody>
      </p:sp>
      <p:sp>
        <p:nvSpPr>
          <p:cNvPr id="12" name="TextBox 11"/>
          <p:cNvSpPr txBox="1"/>
          <p:nvPr/>
        </p:nvSpPr>
        <p:spPr>
          <a:xfrm>
            <a:off x="80467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13" name="TextBox 12"/>
          <p:cNvSpPr txBox="1"/>
          <p:nvPr/>
        </p:nvSpPr>
        <p:spPr>
          <a:xfrm>
            <a:off x="80467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55 M</a:t>
            </a:r>
          </a:p>
        </p:txBody>
      </p:sp>
      <p:sp>
        <p:nvSpPr>
          <p:cNvPr id="14" name="TextBox 13"/>
          <p:cNvSpPr txBox="1"/>
          <p:nvPr/>
        </p:nvSpPr>
        <p:spPr>
          <a:xfrm>
            <a:off x="80467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15" name="Rounded Rectangle 14"/>
          <p:cNvSpPr/>
          <p:nvPr/>
        </p:nvSpPr>
        <p:spPr>
          <a:xfrm>
            <a:off x="341071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46704" y="1115568"/>
            <a:ext cx="91440" cy="35295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3931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EfficientNet-Lite0</a:t>
            </a:r>
          </a:p>
        </p:txBody>
      </p:sp>
      <p:sp>
        <p:nvSpPr>
          <p:cNvPr id="18" name="Rounded Rectangle 17"/>
          <p:cNvSpPr/>
          <p:nvPr/>
        </p:nvSpPr>
        <p:spPr>
          <a:xfrm>
            <a:off x="3639312" y="1627632"/>
            <a:ext cx="2148840" cy="347472"/>
          </a:xfrm>
          <a:prstGeom prst="roundRect">
            <a:avLst>
              <a:gd name="adj" fmla="val 50000"/>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Ứng</a:t>
            </a:r>
            <a:r>
              <a:rPr sz="1200" b="1" dirty="0">
                <a:solidFill>
                  <a:srgbClr val="FFFFFF"/>
                </a:solidFill>
                <a:latin typeface="Arial"/>
              </a:rPr>
              <a:t> </a:t>
            </a:r>
            <a:r>
              <a:rPr sz="1200" b="1" dirty="0" err="1">
                <a:solidFill>
                  <a:srgbClr val="FFFFFF"/>
                </a:solidFill>
                <a:latin typeface="Arial"/>
              </a:rPr>
              <a:t>viên</a:t>
            </a:r>
            <a:r>
              <a:rPr sz="1200" b="1" dirty="0">
                <a:solidFill>
                  <a:srgbClr val="FFFFFF"/>
                </a:solidFill>
                <a:latin typeface="Arial"/>
              </a:rPr>
              <a:t> edge</a:t>
            </a:r>
          </a:p>
        </p:txBody>
      </p:sp>
      <p:sp>
        <p:nvSpPr>
          <p:cNvPr id="19" name="TextBox 18"/>
          <p:cNvSpPr txBox="1"/>
          <p:nvPr/>
        </p:nvSpPr>
        <p:spPr>
          <a:xfrm>
            <a:off x="3639312" y="224028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3,38 M</a:t>
            </a:r>
          </a:p>
        </p:txBody>
      </p:sp>
      <p:sp>
        <p:nvSpPr>
          <p:cNvPr id="20" name="TextBox 19"/>
          <p:cNvSpPr txBox="1"/>
          <p:nvPr/>
        </p:nvSpPr>
        <p:spPr>
          <a:xfrm>
            <a:off x="363931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1" name="TextBox 20"/>
          <p:cNvSpPr txBox="1"/>
          <p:nvPr/>
        </p:nvSpPr>
        <p:spPr>
          <a:xfrm>
            <a:off x="3639312" y="3291840"/>
            <a:ext cx="2240280" cy="594360"/>
          </a:xfrm>
          <a:prstGeom prst="rect">
            <a:avLst/>
          </a:prstGeom>
          <a:noFill/>
        </p:spPr>
        <p:txBody>
          <a:bodyPr wrap="square" lIns="0" tIns="0" rIns="0" bIns="0" anchor="t">
            <a:spAutoFit/>
          </a:bodyPr>
          <a:lstStyle/>
          <a:p>
            <a:pPr algn="l">
              <a:spcAft>
                <a:spcPts val="600"/>
              </a:spcAft>
            </a:pPr>
            <a:r>
              <a:rPr sz="3200" b="1" i="0">
                <a:solidFill>
                  <a:srgbClr val="00A95C"/>
                </a:solidFill>
                <a:latin typeface="Arial"/>
              </a:rPr>
              <a:t>384 M</a:t>
            </a:r>
          </a:p>
        </p:txBody>
      </p:sp>
      <p:sp>
        <p:nvSpPr>
          <p:cNvPr id="22" name="TextBox 21"/>
          <p:cNvSpPr txBox="1"/>
          <p:nvPr/>
        </p:nvSpPr>
        <p:spPr>
          <a:xfrm>
            <a:off x="363931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23" name="Rounded Rectangle 22"/>
          <p:cNvSpPr/>
          <p:nvPr/>
        </p:nvSpPr>
        <p:spPr>
          <a:xfrm>
            <a:off x="624535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81344" y="1115568"/>
            <a:ext cx="91440" cy="35295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73952" y="1115568"/>
            <a:ext cx="2240280" cy="45720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ResNet18</a:t>
            </a:r>
          </a:p>
        </p:txBody>
      </p:sp>
      <p:sp>
        <p:nvSpPr>
          <p:cNvPr id="26" name="Rounded Rectangle 25"/>
          <p:cNvSpPr/>
          <p:nvPr/>
        </p:nvSpPr>
        <p:spPr>
          <a:xfrm>
            <a:off x="6473952" y="1627632"/>
            <a:ext cx="2148840" cy="347472"/>
          </a:xfrm>
          <a:prstGeom prst="roundRect">
            <a:avLst>
              <a:gd name="adj" fmla="val 50000"/>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Mốc</a:t>
            </a:r>
            <a:r>
              <a:rPr sz="1200" b="1" dirty="0">
                <a:solidFill>
                  <a:srgbClr val="FFFFFF"/>
                </a:solidFill>
                <a:latin typeface="Arial"/>
              </a:rPr>
              <a:t> </a:t>
            </a:r>
            <a:r>
              <a:rPr lang="vi-VN" sz="1200" b="1" dirty="0">
                <a:solidFill>
                  <a:srgbClr val="FFFFFF"/>
                </a:solidFill>
                <a:latin typeface="Arial"/>
              </a:rPr>
              <a:t>n</a:t>
            </a:r>
            <a:r>
              <a:rPr sz="1200" b="1" dirty="0" err="1">
                <a:solidFill>
                  <a:srgbClr val="FFFFFF"/>
                </a:solidFill>
                <a:latin typeface="Arial"/>
              </a:rPr>
              <a:t>ặng</a:t>
            </a:r>
            <a:r>
              <a:rPr sz="1200" b="1" dirty="0">
                <a:solidFill>
                  <a:srgbClr val="FFFFFF"/>
                </a:solidFill>
                <a:latin typeface="Arial"/>
              </a:rPr>
              <a:t> </a:t>
            </a:r>
            <a:r>
              <a:rPr sz="1200" b="1" dirty="0" err="1">
                <a:solidFill>
                  <a:srgbClr val="FFFFFF"/>
                </a:solidFill>
                <a:latin typeface="Arial"/>
              </a:rPr>
              <a:t>vừa</a:t>
            </a:r>
            <a:endParaRPr sz="1200" b="1" dirty="0">
              <a:solidFill>
                <a:srgbClr val="FFFFFF"/>
              </a:solidFill>
              <a:latin typeface="Arial"/>
            </a:endParaRPr>
          </a:p>
        </p:txBody>
      </p:sp>
      <p:sp>
        <p:nvSpPr>
          <p:cNvPr id="27" name="TextBox 26"/>
          <p:cNvSpPr txBox="1"/>
          <p:nvPr/>
        </p:nvSpPr>
        <p:spPr>
          <a:xfrm>
            <a:off x="6473952" y="2240280"/>
            <a:ext cx="2240280" cy="594360"/>
          </a:xfrm>
          <a:prstGeom prst="rect">
            <a:avLst/>
          </a:prstGeom>
          <a:noFill/>
        </p:spPr>
        <p:txBody>
          <a:bodyPr wrap="square" lIns="0" tIns="0" rIns="0" bIns="0" anchor="t">
            <a:spAutoFit/>
          </a:bodyPr>
          <a:lstStyle/>
          <a:p>
            <a:pPr algn="l">
              <a:spcAft>
                <a:spcPts val="600"/>
              </a:spcAft>
            </a:pPr>
            <a:r>
              <a:rPr sz="3200" b="1" i="0" dirty="0">
                <a:solidFill>
                  <a:srgbClr val="F58643"/>
                </a:solidFill>
                <a:latin typeface="Arial"/>
              </a:rPr>
              <a:t>11,18 M</a:t>
            </a:r>
          </a:p>
        </p:txBody>
      </p:sp>
      <p:sp>
        <p:nvSpPr>
          <p:cNvPr id="28" name="TextBox 27"/>
          <p:cNvSpPr txBox="1"/>
          <p:nvPr/>
        </p:nvSpPr>
        <p:spPr>
          <a:xfrm>
            <a:off x="647395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29" name="TextBox 28"/>
          <p:cNvSpPr txBox="1"/>
          <p:nvPr/>
        </p:nvSpPr>
        <p:spPr>
          <a:xfrm>
            <a:off x="6473952" y="3291840"/>
            <a:ext cx="2240280" cy="594360"/>
          </a:xfrm>
          <a:prstGeom prst="rect">
            <a:avLst/>
          </a:prstGeom>
          <a:noFill/>
        </p:spPr>
        <p:txBody>
          <a:bodyPr wrap="square" lIns="0" tIns="0" rIns="0" bIns="0" anchor="t">
            <a:spAutoFit/>
          </a:bodyPr>
          <a:lstStyle/>
          <a:p>
            <a:pPr algn="l">
              <a:spcAft>
                <a:spcPts val="600"/>
              </a:spcAft>
            </a:pPr>
            <a:r>
              <a:rPr sz="3200" b="1" i="0">
                <a:solidFill>
                  <a:srgbClr val="F58643"/>
                </a:solidFill>
                <a:latin typeface="Arial"/>
              </a:rPr>
              <a:t>1,81 G</a:t>
            </a:r>
          </a:p>
        </p:txBody>
      </p:sp>
      <p:sp>
        <p:nvSpPr>
          <p:cNvPr id="30" name="TextBox 29"/>
          <p:cNvSpPr txBox="1"/>
          <p:nvPr/>
        </p:nvSpPr>
        <p:spPr>
          <a:xfrm>
            <a:off x="6473952" y="3886200"/>
            <a:ext cx="2240280" cy="548640"/>
          </a:xfrm>
          <a:prstGeom prst="rect">
            <a:avLst/>
          </a:prstGeom>
          <a:noFill/>
        </p:spPr>
        <p:txBody>
          <a:bodyPr wrap="square" lIns="0" tIns="0" rIns="0" bIns="0" anchor="t">
            <a:spAutoFit/>
          </a:bodyPr>
          <a:lstStyle/>
          <a:p>
            <a:pPr algn="l">
              <a:spcAft>
                <a:spcPts val="600"/>
              </a:spcAft>
            </a:pPr>
            <a:r>
              <a:rPr sz="1400" b="0" i="0" dirty="0">
                <a:solidFill>
                  <a:srgbClr val="474F67"/>
                </a:solidFill>
                <a:latin typeface="Arial"/>
              </a:rPr>
              <a:t>MACs </a:t>
            </a:r>
            <a:r>
              <a:rPr sz="1400" b="0" i="0" dirty="0" err="1">
                <a:solidFill>
                  <a:srgbClr val="474F67"/>
                </a:solidFill>
                <a:latin typeface="Arial"/>
              </a:rPr>
              <a:t>cho</a:t>
            </a:r>
            <a:r>
              <a:rPr sz="1400" b="0" i="0" dirty="0">
                <a:solidFill>
                  <a:srgbClr val="474F67"/>
                </a:solidFill>
                <a:latin typeface="Arial"/>
              </a:rPr>
              <a:t> </a:t>
            </a:r>
            <a:r>
              <a:rPr sz="1400" b="0" i="0" dirty="0" err="1">
                <a:solidFill>
                  <a:srgbClr val="474F67"/>
                </a:solidFill>
                <a:latin typeface="Arial"/>
              </a:rPr>
              <a:t>một</a:t>
            </a:r>
            <a:r>
              <a:rPr sz="1400" b="0" i="0" dirty="0">
                <a:solidFill>
                  <a:srgbClr val="474F67"/>
                </a:solidFill>
                <a:latin typeface="Arial"/>
              </a:rPr>
              <a:t> </a:t>
            </a:r>
            <a:r>
              <a:rPr sz="1400" b="0" i="0" dirty="0" err="1">
                <a:solidFill>
                  <a:srgbClr val="474F67"/>
                </a:solidFill>
                <a:latin typeface="Arial"/>
              </a:rPr>
              <a:t>ảnh</a:t>
            </a:r>
            <a:r>
              <a:rPr sz="1400" b="0" i="0" dirty="0">
                <a:solidFill>
                  <a:srgbClr val="474F67"/>
                </a:solidFill>
                <a:latin typeface="Arial"/>
              </a:rPr>
              <a:t> 224×224</a:t>
            </a:r>
          </a:p>
        </p:txBody>
      </p:sp>
      <p:sp>
        <p:nvSpPr>
          <p:cNvPr id="31" name="Rounded Rectangle 30"/>
          <p:cNvSpPr/>
          <p:nvPr/>
        </p:nvSpPr>
        <p:spPr>
          <a:xfrm>
            <a:off x="9079992" y="960120"/>
            <a:ext cx="2606040" cy="38404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9015984" y="1115568"/>
            <a:ext cx="91440" cy="35295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308592" y="1115568"/>
            <a:ext cx="2240280" cy="457200"/>
          </a:xfrm>
          <a:prstGeom prst="rect">
            <a:avLst/>
          </a:prstGeom>
          <a:noFill/>
        </p:spPr>
        <p:txBody>
          <a:bodyPr wrap="square" lIns="0" tIns="0" rIns="0" bIns="0" anchor="t">
            <a:spAutoFit/>
          </a:bodyPr>
          <a:lstStyle/>
          <a:p>
            <a:pPr algn="l">
              <a:spcAft>
                <a:spcPts val="600"/>
              </a:spcAft>
            </a:pPr>
            <a:r>
              <a:rPr sz="1800" b="1" i="0" dirty="0">
                <a:solidFill>
                  <a:srgbClr val="1D2939"/>
                </a:solidFill>
                <a:latin typeface="Arial"/>
              </a:rPr>
              <a:t>ResNet50</a:t>
            </a:r>
          </a:p>
        </p:txBody>
      </p:sp>
      <p:sp>
        <p:nvSpPr>
          <p:cNvPr id="34" name="Rounded Rectangle 33"/>
          <p:cNvSpPr/>
          <p:nvPr/>
        </p:nvSpPr>
        <p:spPr>
          <a:xfrm>
            <a:off x="9308592" y="1627632"/>
            <a:ext cx="2148840" cy="347472"/>
          </a:xfrm>
          <a:prstGeom prst="roundRect">
            <a:avLst>
              <a:gd name="adj" fmla="val 50000"/>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dirty="0" err="1">
                <a:solidFill>
                  <a:srgbClr val="FFFFFF"/>
                </a:solidFill>
                <a:latin typeface="Arial"/>
              </a:rPr>
              <a:t>Mốc</a:t>
            </a:r>
            <a:r>
              <a:rPr sz="1200" b="1" dirty="0">
                <a:solidFill>
                  <a:srgbClr val="FFFFFF"/>
                </a:solidFill>
                <a:latin typeface="Arial"/>
              </a:rPr>
              <a:t> </a:t>
            </a:r>
            <a:r>
              <a:rPr sz="1200" b="1" dirty="0" err="1">
                <a:solidFill>
                  <a:srgbClr val="FFFFFF"/>
                </a:solidFill>
                <a:latin typeface="Arial"/>
              </a:rPr>
              <a:t>nặng</a:t>
            </a:r>
            <a:endParaRPr sz="1200" b="1" dirty="0">
              <a:solidFill>
                <a:srgbClr val="FFFFFF"/>
              </a:solidFill>
              <a:latin typeface="Arial"/>
            </a:endParaRPr>
          </a:p>
        </p:txBody>
      </p:sp>
      <p:sp>
        <p:nvSpPr>
          <p:cNvPr id="35" name="TextBox 34"/>
          <p:cNvSpPr txBox="1"/>
          <p:nvPr/>
        </p:nvSpPr>
        <p:spPr>
          <a:xfrm>
            <a:off x="9308592" y="2240280"/>
            <a:ext cx="2240280" cy="594360"/>
          </a:xfrm>
          <a:prstGeom prst="rect">
            <a:avLst/>
          </a:prstGeom>
          <a:noFill/>
        </p:spPr>
        <p:txBody>
          <a:bodyPr wrap="square" lIns="0" tIns="0" rIns="0" bIns="0" anchor="t">
            <a:spAutoFit/>
          </a:bodyPr>
          <a:lstStyle/>
          <a:p>
            <a:pPr algn="l">
              <a:spcAft>
                <a:spcPts val="600"/>
              </a:spcAft>
            </a:pPr>
            <a:r>
              <a:rPr sz="3200" b="1" i="0">
                <a:solidFill>
                  <a:srgbClr val="F56776"/>
                </a:solidFill>
                <a:latin typeface="Arial"/>
              </a:rPr>
              <a:t>23,52 M</a:t>
            </a:r>
          </a:p>
        </p:txBody>
      </p:sp>
      <p:sp>
        <p:nvSpPr>
          <p:cNvPr id="36" name="TextBox 35"/>
          <p:cNvSpPr txBox="1"/>
          <p:nvPr/>
        </p:nvSpPr>
        <p:spPr>
          <a:xfrm>
            <a:off x="9308592" y="2834640"/>
            <a:ext cx="2240280" cy="3200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tham số</a:t>
            </a:r>
          </a:p>
        </p:txBody>
      </p:sp>
      <p:sp>
        <p:nvSpPr>
          <p:cNvPr id="37" name="TextBox 36"/>
          <p:cNvSpPr txBox="1"/>
          <p:nvPr/>
        </p:nvSpPr>
        <p:spPr>
          <a:xfrm>
            <a:off x="9308592" y="3291840"/>
            <a:ext cx="2240280" cy="594360"/>
          </a:xfrm>
          <a:prstGeom prst="rect">
            <a:avLst/>
          </a:prstGeom>
          <a:noFill/>
        </p:spPr>
        <p:txBody>
          <a:bodyPr wrap="square" lIns="0" tIns="0" rIns="0" bIns="0" anchor="t">
            <a:spAutoFit/>
          </a:bodyPr>
          <a:lstStyle/>
          <a:p>
            <a:pPr algn="l">
              <a:spcAft>
                <a:spcPts val="600"/>
              </a:spcAft>
            </a:pPr>
            <a:r>
              <a:rPr sz="3200" b="1" i="0" dirty="0">
                <a:solidFill>
                  <a:srgbClr val="F56776"/>
                </a:solidFill>
                <a:latin typeface="Arial"/>
              </a:rPr>
              <a:t>4,09 G</a:t>
            </a:r>
          </a:p>
        </p:txBody>
      </p:sp>
      <p:sp>
        <p:nvSpPr>
          <p:cNvPr id="38" name="TextBox 37"/>
          <p:cNvSpPr txBox="1"/>
          <p:nvPr/>
        </p:nvSpPr>
        <p:spPr>
          <a:xfrm>
            <a:off x="9308592" y="3886200"/>
            <a:ext cx="2240280" cy="54864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MACs cho một ảnh 224×224</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Kết quả: test macro-F1 của các mô hình</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7</a:t>
            </a:fld>
            <a:endParaRPr lang="en-US"/>
          </a:p>
        </p:txBody>
      </p:sp>
      <p:graphicFrame>
        <p:nvGraphicFramePr>
          <p:cNvPr id="7" name="Chart 6"/>
          <p:cNvGraphicFramePr>
            <a:graphicFrameLocks noGrp="1"/>
          </p:cNvGraphicFramePr>
          <p:nvPr>
            <p:extLst>
              <p:ext uri="{D42A27DB-BD31-4B8C-83A1-F6EECF244321}">
                <p14:modId xmlns:p14="http://schemas.microsoft.com/office/powerpoint/2010/main" val="4077247524"/>
              </p:ext>
            </p:extLst>
          </p:nvPr>
        </p:nvGraphicFramePr>
        <p:xfrm>
          <a:off x="576071" y="914399"/>
          <a:ext cx="10776291" cy="537425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Từ mô hình huấn luyện đến mô hình edge</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8</a:t>
            </a:fld>
            <a:endParaRPr lang="en-US"/>
          </a:p>
        </p:txBody>
      </p:sp>
      <p:sp>
        <p:nvSpPr>
          <p:cNvPr id="7" name="Rounded Rectangle 6"/>
          <p:cNvSpPr/>
          <p:nvPr/>
        </p:nvSpPr>
        <p:spPr>
          <a:xfrm>
            <a:off x="576072"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12064" y="1207007"/>
            <a:ext cx="91440" cy="26151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Mô hình huấn luyện</a:t>
            </a:r>
          </a:p>
        </p:txBody>
      </p:sp>
      <p:sp>
        <p:nvSpPr>
          <p:cNvPr id="10" name="TextBox 9"/>
          <p:cNvSpPr txBox="1"/>
          <p:nvPr/>
        </p:nvSpPr>
        <p:spPr>
          <a:xfrm>
            <a:off x="777240"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thực 32 bit (FP32), chạy trên GPU</a:t>
            </a:r>
          </a:p>
        </p:txBody>
      </p:sp>
      <p:sp>
        <p:nvSpPr>
          <p:cNvPr id="12" name="Right Arrow 11"/>
          <p:cNvSpPr/>
          <p:nvPr/>
        </p:nvSpPr>
        <p:spPr>
          <a:xfrm>
            <a:off x="3136391"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438144"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374136"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639312"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Chọn mô hình nhỏ</a:t>
            </a:r>
          </a:p>
        </p:txBody>
      </p:sp>
      <p:sp>
        <p:nvSpPr>
          <p:cNvPr id="16" name="TextBox 15"/>
          <p:cNvSpPr txBox="1"/>
          <p:nvPr/>
        </p:nvSpPr>
        <p:spPr>
          <a:xfrm>
            <a:off x="3639312"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Ít tham số, ít phép tính</a:t>
            </a:r>
          </a:p>
        </p:txBody>
      </p:sp>
      <p:sp>
        <p:nvSpPr>
          <p:cNvPr id="18" name="Right Arrow 17"/>
          <p:cNvSpPr/>
          <p:nvPr/>
        </p:nvSpPr>
        <p:spPr>
          <a:xfrm>
            <a:off x="5998464"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300216"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6207" y="1207007"/>
            <a:ext cx="91440" cy="2615184"/>
          </a:xfrm>
          <a:prstGeom prst="rect">
            <a:avLst/>
          </a:prstGeom>
          <a:solidFill>
            <a:srgbClr val="F586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01383"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Lượng tử hoá INT8</a:t>
            </a:r>
          </a:p>
        </p:txBody>
      </p:sp>
      <p:sp>
        <p:nvSpPr>
          <p:cNvPr id="22" name="TextBox 21"/>
          <p:cNvSpPr txBox="1"/>
          <p:nvPr/>
        </p:nvSpPr>
        <p:spPr>
          <a:xfrm>
            <a:off x="6501383"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Số nguyên 8 bit: nhỏ hơn khoảng 4 lần</a:t>
            </a:r>
          </a:p>
        </p:txBody>
      </p:sp>
      <p:sp>
        <p:nvSpPr>
          <p:cNvPr id="24" name="Right Arrow 23"/>
          <p:cNvSpPr/>
          <p:nvPr/>
        </p:nvSpPr>
        <p:spPr>
          <a:xfrm>
            <a:off x="8860536" y="2286000"/>
            <a:ext cx="274320" cy="365760"/>
          </a:xfrm>
          <a:prstGeom prst="rightArrow">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162288" y="1051560"/>
            <a:ext cx="2542032" cy="2926080"/>
          </a:xfrm>
          <a:prstGeom prst="roundRect">
            <a:avLst>
              <a:gd name="adj" fmla="val 120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098280" y="1207007"/>
            <a:ext cx="91440" cy="261518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363456" y="1188720"/>
            <a:ext cx="2194560" cy="640080"/>
          </a:xfrm>
          <a:prstGeom prst="rect">
            <a:avLst/>
          </a:prstGeom>
          <a:noFill/>
        </p:spPr>
        <p:txBody>
          <a:bodyPr wrap="square" lIns="0" tIns="0" rIns="0" bIns="0" anchor="t">
            <a:spAutoFit/>
          </a:bodyPr>
          <a:lstStyle/>
          <a:p>
            <a:pPr algn="l">
              <a:spcAft>
                <a:spcPts val="600"/>
              </a:spcAft>
            </a:pPr>
            <a:r>
              <a:rPr sz="1700" b="1" i="0">
                <a:solidFill>
                  <a:srgbClr val="1D2939"/>
                </a:solidFill>
                <a:latin typeface="Arial"/>
              </a:rPr>
              <a:t>Chạy trên chip edge</a:t>
            </a:r>
          </a:p>
        </p:txBody>
      </p:sp>
      <p:sp>
        <p:nvSpPr>
          <p:cNvPr id="28" name="TextBox 27"/>
          <p:cNvSpPr txBox="1"/>
          <p:nvPr/>
        </p:nvSpPr>
        <p:spPr>
          <a:xfrm>
            <a:off x="9363456" y="1920240"/>
            <a:ext cx="2194560" cy="822960"/>
          </a:xfrm>
          <a:prstGeom prst="rect">
            <a:avLst/>
          </a:prstGeom>
          <a:noFill/>
        </p:spPr>
        <p:txBody>
          <a:bodyPr wrap="square" lIns="0" tIns="0" rIns="0" bIns="0" anchor="t">
            <a:spAutoFit/>
          </a:bodyPr>
          <a:lstStyle/>
          <a:p>
            <a:pPr algn="l">
              <a:spcAft>
                <a:spcPts val="600"/>
              </a:spcAft>
            </a:pPr>
            <a:r>
              <a:rPr sz="1400" b="0" i="0">
                <a:solidFill>
                  <a:srgbClr val="474F67"/>
                </a:solidFill>
                <a:latin typeface="Arial"/>
              </a:rPr>
              <a:t>Phép toán và kích thước ảnh bị giới hạn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Kết quả INT8: không phải mô hình nào cũng chịu được</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9</a:t>
            </a:fld>
            <a:endParaRPr lang="en-US"/>
          </a:p>
        </p:txBody>
      </p:sp>
      <p:sp>
        <p:nvSpPr>
          <p:cNvPr id="8" name="Rounded Rectangle 7"/>
          <p:cNvSpPr/>
          <p:nvPr/>
        </p:nvSpPr>
        <p:spPr>
          <a:xfrm>
            <a:off x="7589520" y="960120"/>
            <a:ext cx="4050791" cy="4572000"/>
          </a:xfrm>
          <a:prstGeom prst="roundRect">
            <a:avLst>
              <a:gd name="adj" fmla="val 7900"/>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525512" y="1115568"/>
            <a:ext cx="91440" cy="4261104"/>
          </a:xfrm>
          <a:prstGeom prst="rect">
            <a:avLst/>
          </a:prstGeom>
          <a:solidFill>
            <a:srgbClr val="F567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2" name="Chart 11"/>
          <p:cNvGraphicFramePr>
            <a:graphicFrameLocks noGrp="1"/>
          </p:cNvGraphicFramePr>
          <p:nvPr/>
        </p:nvGraphicFramePr>
        <p:xfrm>
          <a:off x="576072" y="91440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2"/>
          <p:cNvSpPr txBox="1"/>
          <p:nvPr/>
        </p:nvSpPr>
        <p:spPr>
          <a:xfrm>
            <a:off x="7818120" y="1097280"/>
            <a:ext cx="3657600" cy="4389120"/>
          </a:xfrm>
          <a:prstGeom prst="rect">
            <a:avLst/>
          </a:prstGeom>
          <a:noFill/>
        </p:spPr>
        <p:txBody>
          <a:bodyPr wrap="square" lIns="0" tIns="0" rIns="0" bIns="0" anchor="t">
            <a:spAutoFit/>
          </a:bodyPr>
          <a:lstStyle/>
          <a:p>
            <a:pPr algn="l">
              <a:spcAft>
                <a:spcPts val="500"/>
              </a:spcAft>
            </a:pPr>
            <a:r>
              <a:rPr sz="1800" b="1" i="0">
                <a:solidFill>
                  <a:srgbClr val="1D2939"/>
                </a:solidFill>
                <a:latin typeface="Arial"/>
              </a:rPr>
              <a:t>Sau INT8 (test macro-F1)</a:t>
            </a:r>
          </a:p>
          <a:p>
            <a:pPr algn="l">
              <a:spcAft>
                <a:spcPts val="500"/>
              </a:spcAft>
            </a:pPr>
            <a:r>
              <a:rPr sz="1600" b="1" i="0">
                <a:solidFill>
                  <a:srgbClr val="00A95C"/>
                </a:solidFill>
                <a:latin typeface="Arial"/>
              </a:rPr>
              <a:t>EfficientNet-Lite0</a:t>
            </a:r>
          </a:p>
          <a:p>
            <a:pPr algn="l">
              <a:spcAft>
                <a:spcPts val="500"/>
              </a:spcAft>
            </a:pPr>
            <a:r>
              <a:rPr sz="1400" b="0" i="0">
                <a:solidFill>
                  <a:srgbClr val="474F67"/>
                </a:solidFill>
                <a:latin typeface="Arial"/>
              </a:rPr>
              <a:t>nhỏ hơn 3,5×, nhanh hơn 1,6×, F1 giữ nguyên</a:t>
            </a:r>
          </a:p>
          <a:p>
            <a:pPr algn="l">
              <a:spcAft>
                <a:spcPts val="500"/>
              </a:spcAft>
            </a:pPr>
            <a:r>
              <a:rPr sz="1600" b="1" i="0">
                <a:solidFill>
                  <a:srgbClr val="00A95C"/>
                </a:solidFill>
                <a:latin typeface="Arial"/>
              </a:rPr>
              <a:t>ResNet18</a:t>
            </a:r>
          </a:p>
          <a:p>
            <a:pPr algn="l">
              <a:spcAft>
                <a:spcPts val="500"/>
              </a:spcAft>
            </a:pPr>
            <a:r>
              <a:rPr sz="1400" b="0" i="0">
                <a:solidFill>
                  <a:srgbClr val="474F67"/>
                </a:solidFill>
                <a:latin typeface="Arial"/>
              </a:rPr>
              <a:t>nhỏ hơn 4×, nhanh hơn 3,1×, F1 giữ nguyên</a:t>
            </a:r>
          </a:p>
          <a:p>
            <a:pPr algn="l">
              <a:spcAft>
                <a:spcPts val="500"/>
              </a:spcAft>
            </a:pPr>
            <a:r>
              <a:rPr sz="1600" b="1" i="0">
                <a:solidFill>
                  <a:srgbClr val="F56776"/>
                </a:solidFill>
                <a:latin typeface="Arial"/>
              </a:rPr>
              <a:t>MobileNetV3-Small</a:t>
            </a:r>
          </a:p>
          <a:p>
            <a:pPr algn="l">
              <a:spcAft>
                <a:spcPts val="500"/>
              </a:spcAft>
            </a:pPr>
            <a:r>
              <a:rPr sz="1400" b="0" i="0">
                <a:solidFill>
                  <a:srgbClr val="474F67"/>
                </a:solidFill>
                <a:latin typeface="Arial"/>
              </a:rPr>
              <a:t>F1 sập từ 0,744 xuống 0,144 (các cách khác: 0,06 đến 0,27)</a:t>
            </a:r>
          </a:p>
        </p:txBody>
      </p:sp>
      <p:sp>
        <p:nvSpPr>
          <p:cNvPr id="14" name="TextBox 13"/>
          <p:cNvSpPr txBox="1"/>
          <p:nvPr/>
        </p:nvSpPr>
        <p:spPr>
          <a:xfrm>
            <a:off x="576072" y="5669280"/>
            <a:ext cx="11064240" cy="365760"/>
          </a:xfrm>
          <a:prstGeom prst="rect">
            <a:avLst/>
          </a:prstGeom>
          <a:noFill/>
        </p:spPr>
        <p:txBody>
          <a:bodyPr wrap="square" lIns="0" tIns="0" rIns="0" bIns="0" anchor="t">
            <a:spAutoFit/>
          </a:bodyPr>
          <a:lstStyle/>
          <a:p>
            <a:pPr algn="l">
              <a:spcAft>
                <a:spcPts val="600"/>
              </a:spcAft>
            </a:pPr>
            <a:r>
              <a:rPr sz="1200" b="0" i="1">
                <a:solidFill>
                  <a:srgbClr val="8A93A6"/>
                </a:solidFill>
                <a:latin typeface="Arial"/>
              </a:rPr>
              <a:t>Test 2.581 ảnh, ONNX Runtime, CPU máy tính 1 luồng. MobileNetV3-S đo trên run mnv3_lr3e-3.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6072" y="9144"/>
            <a:ext cx="9144000" cy="676656"/>
          </a:xfrm>
        </p:spPr>
        <p:txBody>
          <a:bodyPr anchor="ctr"/>
          <a:lstStyle/>
          <a:p>
            <a:r>
              <a:rPr sz="2400" b="1">
                <a:solidFill>
                  <a:srgbClr val="FFFFFF"/>
                </a:solidFill>
                <a:latin typeface="Arial"/>
              </a:rPr>
              <a:t>Chọn mô hình cho edge: chính xác theo tốc độ</a:t>
            </a:r>
          </a:p>
        </p:txBody>
      </p:sp>
      <p:sp>
        <p:nvSpPr>
          <p:cNvPr id="6" name="Slide Number Placeholder 5"/>
          <p:cNvSpPr>
            <a:spLocks noGrp="1"/>
          </p:cNvSpPr>
          <p:nvPr>
            <p:ph type="sldNum" sz="quarter" idx="12"/>
          </p:nvPr>
        </p:nvSpPr>
        <p:spPr>
          <a:xfrm>
            <a:off x="9338569" y="6414022"/>
            <a:ext cx="2743200" cy="365125"/>
          </a:xfrm>
        </p:spPr>
        <p:txBody>
          <a:bodyPr/>
          <a:lstStyle>
            <a:lvl1pPr>
              <a:defRPr>
                <a:latin typeface="Times New Roman" panose="02020603050405020304" pitchFamily="18" charset="0"/>
                <a:cs typeface="Times New Roman" panose="02020603050405020304" pitchFamily="18" charset="0"/>
              </a:defRPr>
            </a:lvl1pPr>
          </a:lstStyle>
          <a:p>
            <a:fld id="{61747C95-3AE6-4FC3-BEF5-3AF60B1E4490}" type="slidenum">
              <a:rPr lang="en-US" sz="1400">
                <a:solidFill>
                  <a:srgbClr val="000000"/>
                </a:solidFill>
                <a:latin typeface="Arial"/>
              </a:rPr>
              <a:t>10</a:t>
            </a:fld>
            <a:endParaRPr lang="en-US"/>
          </a:p>
        </p:txBody>
      </p:sp>
      <p:graphicFrame>
        <p:nvGraphicFramePr>
          <p:cNvPr id="7" name="Chart 6"/>
          <p:cNvGraphicFramePr>
            <a:graphicFrameLocks noGrp="1"/>
          </p:cNvGraphicFramePr>
          <p:nvPr/>
        </p:nvGraphicFramePr>
        <p:xfrm>
          <a:off x="576072" y="914400"/>
          <a:ext cx="73152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8" name="Rounded Rectangle 7"/>
          <p:cNvSpPr/>
          <p:nvPr/>
        </p:nvSpPr>
        <p:spPr>
          <a:xfrm>
            <a:off x="8183879" y="914400"/>
            <a:ext cx="3456432" cy="4754880"/>
          </a:xfrm>
          <a:prstGeom prst="roundRect">
            <a:avLst>
              <a:gd name="adj" fmla="val 9259"/>
            </a:avLst>
          </a:prstGeom>
          <a:solidFill>
            <a:srgbClr val="FFFFFF"/>
          </a:solidFill>
          <a:ln w="15875">
            <a:solidFill>
              <a:srgbClr val="D3D7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119871" y="1069848"/>
            <a:ext cx="91440" cy="4443984"/>
          </a:xfrm>
          <a:prstGeom prst="rect">
            <a:avLst/>
          </a:prstGeom>
          <a:solidFill>
            <a:srgbClr val="00A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051560"/>
            <a:ext cx="3108960" cy="4526280"/>
          </a:xfrm>
          <a:prstGeom prst="rect">
            <a:avLst/>
          </a:prstGeom>
          <a:noFill/>
        </p:spPr>
        <p:txBody>
          <a:bodyPr wrap="square" lIns="0" tIns="0" rIns="0" bIns="0" anchor="t">
            <a:spAutoFit/>
          </a:bodyPr>
          <a:lstStyle/>
          <a:p>
            <a:pPr algn="l">
              <a:spcAft>
                <a:spcPts val="600"/>
              </a:spcAft>
            </a:pPr>
            <a:r>
              <a:rPr sz="1800" b="1" i="0">
                <a:solidFill>
                  <a:srgbClr val="1D2939"/>
                </a:solidFill>
                <a:latin typeface="Arial"/>
              </a:rPr>
              <a:t>INT8 trên CPU</a:t>
            </a:r>
          </a:p>
          <a:p>
            <a:pPr algn="l">
              <a:spcAft>
                <a:spcPts val="600"/>
              </a:spcAft>
            </a:pPr>
            <a:r>
              <a:rPr sz="1500" b="1" i="0">
                <a:solidFill>
                  <a:srgbClr val="00A95C"/>
                </a:solidFill>
                <a:latin typeface="Arial"/>
              </a:rPr>
              <a:t>EfficientNet-Lite0</a:t>
            </a:r>
          </a:p>
          <a:p>
            <a:pPr algn="l">
              <a:spcAft>
                <a:spcPts val="600"/>
              </a:spcAft>
            </a:pPr>
            <a:r>
              <a:rPr sz="1400" b="0" i="0">
                <a:solidFill>
                  <a:srgbClr val="474F67"/>
                </a:solidFill>
                <a:latin typeface="Arial"/>
              </a:rPr>
              <a:t>195 FPS, 3,8 MB, F1 0,814</a:t>
            </a:r>
          </a:p>
          <a:p>
            <a:pPr algn="l">
              <a:spcAft>
                <a:spcPts val="600"/>
              </a:spcAft>
            </a:pPr>
            <a:r>
              <a:rPr sz="1500" b="1" i="0">
                <a:solidFill>
                  <a:srgbClr val="00A95C"/>
                </a:solidFill>
                <a:latin typeface="Arial"/>
              </a:rPr>
              <a:t>ResNet18</a:t>
            </a:r>
          </a:p>
          <a:p>
            <a:pPr algn="l">
              <a:spcAft>
                <a:spcPts val="600"/>
              </a:spcAft>
            </a:pPr>
            <a:r>
              <a:rPr sz="1400" b="0" i="0">
                <a:solidFill>
                  <a:srgbClr val="474F67"/>
                </a:solidFill>
                <a:latin typeface="Arial"/>
              </a:rPr>
              <a:t>108 FPS, 11,3 MB, F1 0,772</a:t>
            </a:r>
          </a:p>
          <a:p>
            <a:pPr algn="l">
              <a:spcAft>
                <a:spcPts val="600"/>
              </a:spcAft>
            </a:pPr>
            <a:r>
              <a:rPr sz="1500" b="1" i="0">
                <a:solidFill>
                  <a:srgbClr val="F56776"/>
                </a:solidFill>
                <a:latin typeface="Arial"/>
              </a:rPr>
              <a:t>MobileNetV3-Small</a:t>
            </a:r>
          </a:p>
          <a:p>
            <a:pPr algn="l">
              <a:spcAft>
                <a:spcPts val="600"/>
              </a:spcAft>
            </a:pPr>
            <a:r>
              <a:rPr sz="1400" b="0" i="0">
                <a:solidFill>
                  <a:srgbClr val="474F67"/>
                </a:solidFill>
                <a:latin typeface="Arial"/>
              </a:rPr>
              <a:t>435 FPS nhưng F1 0,144: không dùng được</a:t>
            </a:r>
          </a:p>
          <a:p>
            <a:pPr algn="l">
              <a:spcAft>
                <a:spcPts val="600"/>
              </a:spcAft>
            </a:pPr>
            <a:r>
              <a:rPr sz="1300" b="0" i="1">
                <a:solidFill>
                  <a:srgbClr val="8A93A6"/>
                </a:solidFill>
                <a:latin typeface="Arial"/>
              </a:rPr>
              <a:t>Góc trên bên trái là tốt nhất.</a:t>
            </a:r>
          </a:p>
        </p:txBody>
      </p:sp>
      <p:sp>
        <p:nvSpPr>
          <p:cNvPr id="11" name="TextBox 10"/>
          <p:cNvSpPr txBox="1"/>
          <p:nvPr/>
        </p:nvSpPr>
        <p:spPr>
          <a:xfrm>
            <a:off x="576072" y="5760720"/>
            <a:ext cx="11064240" cy="365760"/>
          </a:xfrm>
          <a:prstGeom prst="rect">
            <a:avLst/>
          </a:prstGeom>
          <a:noFill/>
        </p:spPr>
        <p:txBody>
          <a:bodyPr wrap="square" lIns="0" tIns="0" rIns="0" bIns="0" anchor="t">
            <a:spAutoFit/>
          </a:bodyPr>
          <a:lstStyle/>
          <a:p>
            <a:pPr algn="l">
              <a:spcAft>
                <a:spcPts val="600"/>
              </a:spcAft>
            </a:pPr>
            <a:r>
              <a:rPr sz="1200" b="0" i="1">
                <a:solidFill>
                  <a:srgbClr val="8A93A6"/>
                </a:solidFill>
                <a:latin typeface="Arial"/>
              </a:rPr>
              <a:t>FPS = 1000 / độ trễ. Đo trên CPU máy tính, chỉ để so sánh tương đối; FPS thật phải đo trên chip 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5438</TotalTime>
  <Words>1338</Words>
  <Application>Microsoft Office PowerPoint</Application>
  <PresentationFormat>Widescreen</PresentationFormat>
  <Paragraphs>132</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Calibri</vt:lpstr>
      <vt:lpstr>Times New Roman</vt:lpstr>
      <vt:lpstr>Office Theme</vt:lpstr>
      <vt:lpstr>PowerPoint Presentation</vt:lpstr>
      <vt:lpstr>Bài toán </vt:lpstr>
      <vt:lpstr>Dữ liệu: State Farm Distracted Driver</vt:lpstr>
      <vt:lpstr>Xử lý dữ liệu</vt:lpstr>
      <vt:lpstr>Giao thức thí nghiệm</vt:lpstr>
      <vt:lpstr>Các mô hình so sánh</vt:lpstr>
      <vt:lpstr>Kết quả: test macro-F1 của các mô hình</vt:lpstr>
      <vt:lpstr>Từ mô hình huấn luyện đến mô hình edge</vt:lpstr>
      <vt:lpstr>Kết quả INT8: không phải mô hình nào cũng chịu được</vt:lpstr>
      <vt:lpstr>Chọn mô hình cho edge: chính xác theo tốc độ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Gia Ba</dc:creator>
  <cp:lastModifiedBy>ADMIN-PC</cp:lastModifiedBy>
  <cp:revision>274</cp:revision>
  <cp:lastPrinted>2023-12-27T01:57:00Z</cp:lastPrinted>
  <dcterms:created xsi:type="dcterms:W3CDTF">2023-08-08T03:48:00Z</dcterms:created>
  <dcterms:modified xsi:type="dcterms:W3CDTF">2026-10-13T03:55:18Z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2023-08-08T11:43:03Z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036899f8-ac9f-429d-84d0-69e9dd6bdae5</vt:lpwstr>
  </property>
  <property fmtid="{D5CDD505-2E9C-101B-9397-08002B2CF9AE}" pid="7" name="MSIP_Label_defa4170-0d19-0005-0004-bc88714345d2_ActionId">
    <vt:lpwstr>ee72a353-f99c-4256-a44c-0f8ac51b33fe</vt:lpwstr>
  </property>
  <property fmtid="{D5CDD505-2E9C-101B-9397-08002B2CF9AE}" pid="8" name="MSIP_Label_defa4170-0d19-0005-0004-bc88714345d2_ContentBits">
    <vt:lpwstr>0</vt:lpwstr>
  </property>
  <property fmtid="{D5CDD505-2E9C-101B-9397-08002B2CF9AE}" pid="9" name="ICV">
    <vt:lpwstr>3249E10EE9B044FEAC96AF5C948BAE9E_12</vt:lpwstr>
  </property>
  <property fmtid="{D5CDD505-2E9C-101B-9397-08002B2CF9AE}" pid="10" name="KSOProductBuildVer">
    <vt:lpwstr>1033-12.2.0.22549</vt:lpwstr>
  </property>
</Properties>
</file>